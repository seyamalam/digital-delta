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This is not another cloud dashboard. The field mission lives on the phones. The projector only observes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https://rapid.ddm.gov.bd/risk/riskinfo ; https://bangladesh.un.org/en/188010-flash-floods-humanitarian-response-plan-2022-united-nations-bangladesh-coordinated-appeal ; https://bangladesh.un.org/sites/default/files/2024-10/Bangladesh-HCTT-Humanitarian%20Response%20Plan-Cyclone%20and%20Monsoon%20Floods%202024-29-09-2024%20%28June%202024%20to%20March%202025%29.pdf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evidence: README.md and docs/ARCHITECTURE.md. JSON is used only at the browser observer boundary, never on the mesh.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capability: all eight module paths are implemented. Simulation labels remain visible for environmental inputs and vehicle movement.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sequence: show the seeded truck route, inject simulated E3 failure, show boat E6 and E7, show P0 slowdown breach, then require coordinator confirmation before changing the P2 assignment.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docs/TESTING.md and artifacts/reports/load/2026-09-04-go-10000.md. The 10,000-stream run proves connection capacity under recorded laptop conditions, not district radio throughput. QR camera and three-phone evidence remain open.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https://sahanafoundation.org/products/eden/ ; https://support.kobotoolbox.org/data_collection_kobocollect.html ; https://briarproject.org/manual/ ; https://meshtastic.org/docs/ ; Bangladesh 2024 to 2025 humanitarian response plan. Commercialization is deployment preparation, integration, training, offline map packaging, exercise support, and maintained releases.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fair build proves the hard software boundary. The ask is not national deployment. It is one controlled exercise that can turn emulator evidence into measured field evidence. Inclusion and ethics gates are explicit in docs/PHYSICAL_DEVICE_TEST.md and docs/FINAL_REPORT.md.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1A27"/>
        </a:solidFill>
        <a:effectLst/>
      </p:bgPr>
    </p:bg>
    <p:spTree>
      <p:nvGrpSpPr>
        <p:cNvPr id="1" name=""/>
        <p:cNvGrpSpPr/>
        <p:nvPr/>
      </p:nvGrpSpPr>
      <p:grpSpPr/>
      <p:pic>
        <p:nvPicPr>
          <p:cNvPr id="2" name="Picture 1" descr="English headquarters overview with the live Sylhet map and operations panels" title="English headquarters overview with the live Sylhet map and operations panels"/>
          <p:cNvPicPr>
            <a:picLocks noChangeAspect="1"/>
          </p:cNvPicPr>
          <p:nvPr/>
        </p:nvPicPr>
        <p:blipFill>
          <a:blip r:embed="rId2"/>
          <a:srcRect l="25501" r="25501"/>
          <a:stretch>
            <a:fillRect/>
          </a:stretch>
        </p:blipFill>
        <p:spPr>
          <a:xfrm>
            <a:off x="6217920" y="0"/>
            <a:ext cx="5973775" cy="6858000"/>
          </a:xfrm>
          <a:prstGeom prst="rect">
            <a:avLst/>
          </a:prstGeom>
        </p:spPr>
      </p:pic>
      <p:sp>
        <p:nvSpPr>
          <p:cNvPr id="3" name="Rectangle 2"/>
          <p:cNvSpPr/>
          <p:nvPr/>
        </p:nvSpPr>
        <p:spPr>
          <a:xfrm>
            <a:off x="5760720" y="0"/>
            <a:ext cx="1463040" cy="6858000"/>
          </a:xfrm>
          <a:prstGeom prst="rect">
            <a:avLst/>
          </a:prstGeom>
          <a:solidFill>
            <a:srgbClr val="061A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585216"/>
            <a:ext cx="1060704" cy="73152"/>
          </a:xfrm>
          <a:prstGeom prst="rect">
            <a:avLst/>
          </a:prstGeom>
          <a:solidFill>
            <a:srgbClr val="1EB8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777240"/>
            <a:ext cx="5257800" cy="320040"/>
          </a:xfrm>
          <a:prstGeom prst="rect">
            <a:avLst/>
          </a:prstGeom>
          <a:noFill/>
        </p:spPr>
        <p:txBody>
          <a:bodyPr wrap="square" lIns="0" rIns="0" tIns="0" bIns="0" anchor="t">
            <a:spAutoFit/>
          </a:bodyPr>
          <a:lstStyle/>
          <a:p>
            <a:pPr algn="l">
              <a:spcAft>
                <a:spcPts val="0"/>
              </a:spcAft>
            </a:pPr>
            <a:r>
              <a:rPr sz="1050" b="1" i="0">
                <a:solidFill>
                  <a:srgbClr val="1EB8BC"/>
                </a:solidFill>
                <a:latin typeface="Aptos"/>
              </a:rPr>
              <a:t>BANGLADESH INNOVATION FAIR 2026  •  INNOVATION EXHIBITOR</a:t>
            </a:r>
          </a:p>
        </p:txBody>
      </p:sp>
      <p:sp>
        <p:nvSpPr>
          <p:cNvPr id="6" name="TextBox 5"/>
          <p:cNvSpPr txBox="1"/>
          <p:nvPr/>
        </p:nvSpPr>
        <p:spPr>
          <a:xfrm>
            <a:off x="566928" y="1298448"/>
            <a:ext cx="5166360" cy="1325880"/>
          </a:xfrm>
          <a:prstGeom prst="rect">
            <a:avLst/>
          </a:prstGeom>
          <a:noFill/>
        </p:spPr>
        <p:txBody>
          <a:bodyPr wrap="square" lIns="0" rIns="0" tIns="0" bIns="0" anchor="t">
            <a:spAutoFit/>
          </a:bodyPr>
          <a:lstStyle/>
          <a:p>
            <a:pPr algn="l">
              <a:spcAft>
                <a:spcPts val="0"/>
              </a:spcAft>
            </a:pPr>
            <a:r>
              <a:rPr sz="4500" b="1" i="0">
                <a:solidFill>
                  <a:srgbClr val="FFFFFF"/>
                </a:solidFill>
                <a:latin typeface="Aptos"/>
              </a:rPr>
              <a:t>Digital
Delta</a:t>
            </a:r>
          </a:p>
        </p:txBody>
      </p:sp>
      <p:sp>
        <p:nvSpPr>
          <p:cNvPr id="7" name="TextBox 6"/>
          <p:cNvSpPr txBox="1"/>
          <p:nvPr/>
        </p:nvSpPr>
        <p:spPr>
          <a:xfrm>
            <a:off x="566928" y="2798064"/>
            <a:ext cx="5074920" cy="960120"/>
          </a:xfrm>
          <a:prstGeom prst="rect">
            <a:avLst/>
          </a:prstGeom>
          <a:noFill/>
        </p:spPr>
        <p:txBody>
          <a:bodyPr wrap="square" lIns="0" rIns="0" tIns="0" bIns="0" anchor="t">
            <a:spAutoFit/>
          </a:bodyPr>
          <a:lstStyle/>
          <a:p>
            <a:pPr algn="l">
              <a:spcAft>
                <a:spcPts val="0"/>
              </a:spcAft>
            </a:pPr>
            <a:r>
              <a:rPr sz="2300" b="0" i="0">
                <a:solidFill>
                  <a:srgbClr val="D5E7ED"/>
                </a:solidFill>
                <a:latin typeface="Aptos"/>
              </a:rPr>
              <a:t>Relief logistics that keep working when the internet and power do not</a:t>
            </a:r>
          </a:p>
        </p:txBody>
      </p:sp>
      <p:sp>
        <p:nvSpPr>
          <p:cNvPr id="8" name="Rounded Rectangle 7"/>
          <p:cNvSpPr/>
          <p:nvPr/>
        </p:nvSpPr>
        <p:spPr>
          <a:xfrm>
            <a:off x="566928" y="4160520"/>
            <a:ext cx="5074920" cy="1152144"/>
          </a:xfrm>
          <a:prstGeom prst="roundRect">
            <a:avLst/>
          </a:prstGeom>
          <a:solidFill>
            <a:srgbClr val="0C3448"/>
          </a:solidFill>
          <a:ln w="12700">
            <a:solidFill>
              <a:srgbClr val="244E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453128"/>
            <a:ext cx="4572000" cy="530352"/>
          </a:xfrm>
          <a:prstGeom prst="rect">
            <a:avLst/>
          </a:prstGeom>
          <a:noFill/>
        </p:spPr>
        <p:txBody>
          <a:bodyPr wrap="square" lIns="0" rIns="0" tIns="0" bIns="0" anchor="t">
            <a:spAutoFit/>
          </a:bodyPr>
          <a:lstStyle/>
          <a:p>
            <a:pPr>
              <a:spcAft>
                <a:spcPts val="0"/>
              </a:spcAft>
            </a:pPr>
            <a:r>
              <a:rPr sz="1100" b="1">
                <a:solidFill>
                  <a:srgbClr val="1EB8BC"/>
                </a:solidFill>
                <a:latin typeface="Aptos"/>
              </a:rPr>
              <a:t>FIELD FIRST  </a:t>
            </a:r>
            <a:r>
              <a:rPr sz="1400" b="1">
                <a:solidFill>
                  <a:srgbClr val="FFFFFF"/>
                </a:solidFill>
                <a:latin typeface="Aptos"/>
              </a:rPr>
              <a:t>Bangla + English  •  Android  •  Protobuf  •  Signed custody</a:t>
            </a:r>
          </a:p>
        </p:txBody>
      </p:sp>
      <p:sp>
        <p:nvSpPr>
          <p:cNvPr id="10" name="TextBox 9"/>
          <p:cNvSpPr txBox="1"/>
          <p:nvPr/>
        </p:nvSpPr>
        <p:spPr>
          <a:xfrm>
            <a:off x="566928" y="6071616"/>
            <a:ext cx="5303520" cy="256032"/>
          </a:xfrm>
          <a:prstGeom prst="rect">
            <a:avLst/>
          </a:prstGeom>
          <a:noFill/>
        </p:spPr>
        <p:txBody>
          <a:bodyPr wrap="square" lIns="0" rIns="0" tIns="0" bIns="0" anchor="t">
            <a:spAutoFit/>
          </a:bodyPr>
          <a:lstStyle/>
          <a:p>
            <a:pPr algn="l">
              <a:spcAft>
                <a:spcPts val="0"/>
              </a:spcAft>
            </a:pPr>
            <a:r>
              <a:rPr sz="1050" b="0" i="0">
                <a:solidFill>
                  <a:srgbClr val="9FB7C2"/>
                </a:solidFill>
                <a:latin typeface="Aptos"/>
              </a:rPr>
              <a:t>Touhidul Alam Seyam  •  BGC Trust University Bangladesh</a:t>
            </a:r>
          </a:p>
        </p:txBody>
      </p:sp>
      <p:sp>
        <p:nvSpPr>
          <p:cNvPr id="11" name="TextBox 10"/>
          <p:cNvSpPr txBox="1"/>
          <p:nvPr/>
        </p:nvSpPr>
        <p:spPr>
          <a:xfrm>
            <a:off x="530352" y="6519672"/>
            <a:ext cx="2011680" cy="182880"/>
          </a:xfrm>
          <a:prstGeom prst="rect">
            <a:avLst/>
          </a:prstGeom>
          <a:noFill/>
        </p:spPr>
        <p:txBody>
          <a:bodyPr wrap="square" lIns="0" rIns="0" tIns="0" bIns="0" anchor="t">
            <a:spAutoFit/>
          </a:bodyPr>
          <a:lstStyle/>
          <a:p>
            <a:pPr algn="l">
              <a:spcAft>
                <a:spcPts val="0"/>
              </a:spcAft>
            </a:pPr>
            <a:r>
              <a:rPr sz="800" b="1" i="0">
                <a:solidFill>
                  <a:srgbClr val="8CA4AF"/>
                </a:solidFill>
                <a:latin typeface="Aptos"/>
              </a:rPr>
              <a:t>DIGITAL DELTA</a:t>
            </a:r>
          </a:p>
        </p:txBody>
      </p:sp>
      <p:sp>
        <p:nvSpPr>
          <p:cNvPr id="12" name="TextBox 11"/>
          <p:cNvSpPr txBox="1"/>
          <p:nvPr/>
        </p:nvSpPr>
        <p:spPr>
          <a:xfrm>
            <a:off x="11210544" y="6501384"/>
            <a:ext cx="411480" cy="201168"/>
          </a:xfrm>
          <a:prstGeom prst="rect">
            <a:avLst/>
          </a:prstGeom>
          <a:noFill/>
        </p:spPr>
        <p:txBody>
          <a:bodyPr wrap="square" lIns="0" rIns="0" tIns="0" bIns="0" anchor="t">
            <a:spAutoFit/>
          </a:bodyPr>
          <a:lstStyle/>
          <a:p>
            <a:pPr algn="r">
              <a:spcAft>
                <a:spcPts val="0"/>
              </a:spcAft>
            </a:pPr>
            <a:r>
              <a:rPr sz="900" b="1" i="0">
                <a:solidFill>
                  <a:srgbClr val="8CA4AF"/>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310896"/>
            <a:ext cx="475488" cy="310896"/>
          </a:xfrm>
          <a:prstGeom prst="rect">
            <a:avLst/>
          </a:prstGeom>
          <a:noFill/>
        </p:spPr>
        <p:txBody>
          <a:bodyPr wrap="square" lIns="0" rIns="0" tIns="0" bIns="0" anchor="t">
            <a:spAutoFit/>
          </a:bodyPr>
          <a:lstStyle/>
          <a:p>
            <a:pPr algn="l">
              <a:spcAft>
                <a:spcPts val="0"/>
              </a:spcAft>
            </a:pPr>
            <a:r>
              <a:rPr sz="1200" b="1" i="0">
                <a:solidFill>
                  <a:srgbClr val="087F8C"/>
                </a:solidFill>
                <a:latin typeface="Aptos"/>
              </a:rPr>
              <a:t>02</a:t>
            </a:r>
          </a:p>
        </p:txBody>
      </p:sp>
      <p:sp>
        <p:nvSpPr>
          <p:cNvPr id="3" name="TextBox 2"/>
          <p:cNvSpPr txBox="1"/>
          <p:nvPr/>
        </p:nvSpPr>
        <p:spPr>
          <a:xfrm>
            <a:off x="1024128" y="210312"/>
            <a:ext cx="10378440" cy="502920"/>
          </a:xfrm>
          <a:prstGeom prst="rect">
            <a:avLst/>
          </a:prstGeom>
          <a:noFill/>
        </p:spPr>
        <p:txBody>
          <a:bodyPr wrap="square" lIns="0" rIns="0" tIns="0" bIns="0" anchor="t">
            <a:spAutoFit/>
          </a:bodyPr>
          <a:lstStyle/>
          <a:p>
            <a:pPr algn="l">
              <a:spcAft>
                <a:spcPts val="0"/>
              </a:spcAft>
            </a:pPr>
            <a:r>
              <a:rPr sz="2700" b="1" i="0">
                <a:solidFill>
                  <a:srgbClr val="0A2638"/>
                </a:solidFill>
                <a:latin typeface="Aptos"/>
              </a:rPr>
              <a:t>One flood can break every dependency at once</a:t>
            </a:r>
          </a:p>
        </p:txBody>
      </p:sp>
      <p:sp>
        <p:nvSpPr>
          <p:cNvPr id="4" name="Rectangle 3"/>
          <p:cNvSpPr/>
          <p:nvPr/>
        </p:nvSpPr>
        <p:spPr>
          <a:xfrm>
            <a:off x="530352" y="841248"/>
            <a:ext cx="6217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8448" y="749808"/>
            <a:ext cx="9784080" cy="347472"/>
          </a:xfrm>
          <a:prstGeom prst="rect">
            <a:avLst/>
          </a:prstGeom>
          <a:noFill/>
        </p:spPr>
        <p:txBody>
          <a:bodyPr wrap="square" lIns="0" rIns="0" tIns="0" bIns="0" anchor="t">
            <a:spAutoFit/>
          </a:bodyPr>
          <a:lstStyle/>
          <a:p>
            <a:pPr algn="l">
              <a:spcAft>
                <a:spcPts val="0"/>
              </a:spcAft>
            </a:pPr>
            <a:r>
              <a:rPr sz="1200" b="0" i="0">
                <a:solidFill>
                  <a:srgbClr val="597181"/>
                </a:solidFill>
                <a:latin typeface="Aptos"/>
              </a:rPr>
              <a:t>The continuity gap is local, not abstract</a:t>
            </a:r>
          </a:p>
        </p:txBody>
      </p:sp>
      <p:sp>
        <p:nvSpPr>
          <p:cNvPr id="6" name="Rounded Rectangle 5"/>
          <p:cNvSpPr/>
          <p:nvPr/>
        </p:nvSpPr>
        <p:spPr>
          <a:xfrm>
            <a:off x="594360" y="1234440"/>
            <a:ext cx="2148840" cy="932688"/>
          </a:xfrm>
          <a:prstGeom prst="roundRect">
            <a:avLst/>
          </a:prstGeom>
          <a:solidFill>
            <a:srgbClr val="EAF1F6"/>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1335024"/>
            <a:ext cx="1856232" cy="393192"/>
          </a:xfrm>
          <a:prstGeom prst="rect">
            <a:avLst/>
          </a:prstGeom>
          <a:noFill/>
        </p:spPr>
        <p:txBody>
          <a:bodyPr wrap="square" lIns="0" rIns="0" tIns="0" bIns="0" anchor="t">
            <a:spAutoFit/>
          </a:bodyPr>
          <a:lstStyle/>
          <a:p>
            <a:pPr algn="l">
              <a:spcAft>
                <a:spcPts val="0"/>
              </a:spcAft>
            </a:pPr>
            <a:r>
              <a:rPr sz="2400" b="1" i="0">
                <a:solidFill>
                  <a:srgbClr val="EF5B5B"/>
                </a:solidFill>
                <a:latin typeface="Aptos"/>
              </a:rPr>
              <a:t>7.2M</a:t>
            </a:r>
          </a:p>
        </p:txBody>
      </p:sp>
      <p:sp>
        <p:nvSpPr>
          <p:cNvPr id="8" name="TextBox 7"/>
          <p:cNvSpPr txBox="1"/>
          <p:nvPr/>
        </p:nvSpPr>
        <p:spPr>
          <a:xfrm>
            <a:off x="740664" y="1773936"/>
            <a:ext cx="1856232" cy="228600"/>
          </a:xfrm>
          <a:prstGeom prst="rect">
            <a:avLst/>
          </a:prstGeom>
          <a:noFill/>
        </p:spPr>
        <p:txBody>
          <a:bodyPr wrap="square" lIns="0" rIns="0" tIns="0" bIns="0" anchor="t">
            <a:spAutoFit/>
          </a:bodyPr>
          <a:lstStyle/>
          <a:p>
            <a:pPr algn="l">
              <a:spcAft>
                <a:spcPts val="0"/>
              </a:spcAft>
            </a:pPr>
            <a:r>
              <a:rPr sz="1050" b="1" i="0">
                <a:solidFill>
                  <a:srgbClr val="597181"/>
                </a:solidFill>
                <a:latin typeface="Aptos"/>
              </a:rPr>
              <a:t>people affected in the 2022 northeast floods</a:t>
            </a:r>
          </a:p>
        </p:txBody>
      </p:sp>
      <p:sp>
        <p:nvSpPr>
          <p:cNvPr id="9" name="Rounded Rectangle 8"/>
          <p:cNvSpPr/>
          <p:nvPr/>
        </p:nvSpPr>
        <p:spPr>
          <a:xfrm>
            <a:off x="2889504" y="1234440"/>
            <a:ext cx="2148840" cy="932688"/>
          </a:xfrm>
          <a:prstGeom prst="roundRect">
            <a:avLst/>
          </a:prstGeom>
          <a:solidFill>
            <a:srgbClr val="EAF1F6"/>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35808" y="1335024"/>
            <a:ext cx="1856232" cy="393192"/>
          </a:xfrm>
          <a:prstGeom prst="rect">
            <a:avLst/>
          </a:prstGeom>
          <a:noFill/>
        </p:spPr>
        <p:txBody>
          <a:bodyPr wrap="square" lIns="0" rIns="0" tIns="0" bIns="0" anchor="t">
            <a:spAutoFit/>
          </a:bodyPr>
          <a:lstStyle/>
          <a:p>
            <a:pPr algn="l">
              <a:spcAft>
                <a:spcPts val="0"/>
              </a:spcAft>
            </a:pPr>
            <a:r>
              <a:rPr sz="2400" b="1" i="0">
                <a:solidFill>
                  <a:srgbClr val="EF5B5B"/>
                </a:solidFill>
                <a:latin typeface="Aptos"/>
              </a:rPr>
              <a:t>3.74M</a:t>
            </a:r>
          </a:p>
        </p:txBody>
      </p:sp>
      <p:sp>
        <p:nvSpPr>
          <p:cNvPr id="11" name="TextBox 10"/>
          <p:cNvSpPr txBox="1"/>
          <p:nvPr/>
        </p:nvSpPr>
        <p:spPr>
          <a:xfrm>
            <a:off x="3035808" y="1773936"/>
            <a:ext cx="1856232" cy="228600"/>
          </a:xfrm>
          <a:prstGeom prst="rect">
            <a:avLst/>
          </a:prstGeom>
          <a:noFill/>
        </p:spPr>
        <p:txBody>
          <a:bodyPr wrap="square" lIns="0" rIns="0" tIns="0" bIns="0" anchor="t">
            <a:spAutoFit/>
          </a:bodyPr>
          <a:lstStyle/>
          <a:p>
            <a:pPr algn="l">
              <a:spcAft>
                <a:spcPts val="0"/>
              </a:spcAft>
            </a:pPr>
            <a:r>
              <a:rPr sz="1050" b="1" i="0">
                <a:solidFill>
                  <a:srgbClr val="597181"/>
                </a:solidFill>
                <a:latin typeface="Aptos"/>
              </a:rPr>
              <a:t>people affected across six districts in 2024</a:t>
            </a:r>
          </a:p>
        </p:txBody>
      </p:sp>
      <p:sp>
        <p:nvSpPr>
          <p:cNvPr id="12" name="Rounded Rectangle 11"/>
          <p:cNvSpPr/>
          <p:nvPr/>
        </p:nvSpPr>
        <p:spPr>
          <a:xfrm>
            <a:off x="5184648" y="1234440"/>
            <a:ext cx="2148840" cy="932688"/>
          </a:xfrm>
          <a:prstGeom prst="roundRect">
            <a:avLst/>
          </a:prstGeom>
          <a:solidFill>
            <a:srgbClr val="EAF1F6"/>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0952" y="1335024"/>
            <a:ext cx="1856232" cy="393192"/>
          </a:xfrm>
          <a:prstGeom prst="rect">
            <a:avLst/>
          </a:prstGeom>
          <a:noFill/>
        </p:spPr>
        <p:txBody>
          <a:bodyPr wrap="square" lIns="0" rIns="0" tIns="0" bIns="0" anchor="t">
            <a:spAutoFit/>
          </a:bodyPr>
          <a:lstStyle/>
          <a:p>
            <a:pPr algn="l">
              <a:spcAft>
                <a:spcPts val="0"/>
              </a:spcAft>
            </a:pPr>
            <a:r>
              <a:rPr sz="2400" b="1" i="0">
                <a:solidFill>
                  <a:srgbClr val="EF5B5B"/>
                </a:solidFill>
                <a:latin typeface="Aptos"/>
              </a:rPr>
              <a:t>1.4M</a:t>
            </a:r>
          </a:p>
        </p:txBody>
      </p:sp>
      <p:sp>
        <p:nvSpPr>
          <p:cNvPr id="14" name="TextBox 13"/>
          <p:cNvSpPr txBox="1"/>
          <p:nvPr/>
        </p:nvSpPr>
        <p:spPr>
          <a:xfrm>
            <a:off x="5330952" y="1773936"/>
            <a:ext cx="1856232" cy="228600"/>
          </a:xfrm>
          <a:prstGeom prst="rect">
            <a:avLst/>
          </a:prstGeom>
          <a:noFill/>
        </p:spPr>
        <p:txBody>
          <a:bodyPr wrap="square" lIns="0" rIns="0" tIns="0" bIns="0" anchor="t">
            <a:spAutoFit/>
          </a:bodyPr>
          <a:lstStyle/>
          <a:p>
            <a:pPr algn="l">
              <a:spcAft>
                <a:spcPts val="0"/>
              </a:spcAft>
            </a:pPr>
            <a:r>
              <a:rPr sz="1050" b="1" i="0">
                <a:solidFill>
                  <a:srgbClr val="597181"/>
                </a:solidFill>
                <a:latin typeface="Aptos"/>
              </a:rPr>
              <a:t>needed urgent assistance in the 2024 plan</a:t>
            </a:r>
          </a:p>
        </p:txBody>
      </p:sp>
      <p:sp>
        <p:nvSpPr>
          <p:cNvPr id="15" name="Rounded Rectangle 14"/>
          <p:cNvSpPr/>
          <p:nvPr/>
        </p:nvSpPr>
        <p:spPr>
          <a:xfrm>
            <a:off x="594360" y="2487168"/>
            <a:ext cx="6739128" cy="3255264"/>
          </a:xfrm>
          <a:prstGeom prst="roundRect">
            <a:avLst/>
          </a:prstGeom>
          <a:solidFill>
            <a:srgbClr val="F4F8F9"/>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734056"/>
            <a:ext cx="2788920" cy="365760"/>
          </a:xfrm>
          <a:prstGeom prst="rect">
            <a:avLst/>
          </a:prstGeom>
          <a:noFill/>
        </p:spPr>
        <p:txBody>
          <a:bodyPr wrap="square" lIns="0" rIns="0" tIns="0" bIns="0" anchor="t">
            <a:spAutoFit/>
          </a:bodyPr>
          <a:lstStyle/>
          <a:p>
            <a:pPr algn="l">
              <a:spcAft>
                <a:spcPts val="0"/>
              </a:spcAft>
            </a:pPr>
            <a:r>
              <a:rPr sz="1800" b="1" i="0">
                <a:solidFill>
                  <a:srgbClr val="0A2638"/>
                </a:solidFill>
                <a:latin typeface="Aptos"/>
              </a:rPr>
              <a:t>When the flood arrives</a:t>
            </a:r>
          </a:p>
        </p:txBody>
      </p:sp>
      <p:sp>
        <p:nvSpPr>
          <p:cNvPr id="17" name="TextBox 16"/>
          <p:cNvSpPr txBox="1"/>
          <p:nvPr/>
        </p:nvSpPr>
        <p:spPr>
          <a:xfrm>
            <a:off x="868680" y="3227832"/>
            <a:ext cx="5989320" cy="2148840"/>
          </a:xfrm>
          <a:prstGeom prst="rect">
            <a:avLst/>
          </a:prstGeom>
          <a:noFill/>
        </p:spPr>
        <p:txBody>
          <a:bodyPr wrap="square" lIns="0" rIns="0" tIns="0" bIns="0">
            <a:spAutoFit/>
          </a:bodyPr>
          <a:lstStyle/>
          <a:p>
            <a:pPr>
              <a:spcAft>
                <a:spcPts val="1300"/>
              </a:spcAft>
            </a:pPr>
            <a:r>
              <a:rPr sz="1600">
                <a:solidFill>
                  <a:srgbClr val="0A2638"/>
                </a:solidFill>
                <a:latin typeface="Aptos"/>
              </a:rPr>
              <a:t>•  Electricity may be shut down for safety.</a:t>
            </a:r>
          </a:p>
          <a:p>
            <a:pPr>
              <a:spcAft>
                <a:spcPts val="1300"/>
              </a:spcAft>
            </a:pPr>
            <a:r>
              <a:rPr sz="1600">
                <a:solidFill>
                  <a:srgbClr val="0A2638"/>
                </a:solidFill>
                <a:latin typeface="Aptos"/>
              </a:rPr>
              <a:t>•  Mobile communication becomes difficult.</a:t>
            </a:r>
          </a:p>
          <a:p>
            <a:pPr>
              <a:spcAft>
                <a:spcPts val="1300"/>
              </a:spcAft>
            </a:pPr>
            <a:r>
              <a:rPr sz="1600">
                <a:solidFill>
                  <a:srgbClr val="0A2638"/>
                </a:solidFill>
                <a:latin typeface="Aptos"/>
              </a:rPr>
              <a:t>•  Roads, storage, and airport access can fail together.</a:t>
            </a:r>
          </a:p>
          <a:p>
            <a:pPr>
              <a:spcAft>
                <a:spcPts val="1300"/>
              </a:spcAft>
            </a:pPr>
            <a:r>
              <a:rPr sz="1600">
                <a:solidFill>
                  <a:srgbClr val="0A2638"/>
                </a:solidFill>
                <a:latin typeface="Aptos"/>
              </a:rPr>
              <a:t>•  The request, route, and handoff record still have to move.</a:t>
            </a:r>
          </a:p>
        </p:txBody>
      </p:sp>
      <p:sp>
        <p:nvSpPr>
          <p:cNvPr id="18" name="Rounded Rectangle 17"/>
          <p:cNvSpPr/>
          <p:nvPr/>
        </p:nvSpPr>
        <p:spPr>
          <a:xfrm>
            <a:off x="7635240" y="1234440"/>
            <a:ext cx="3931920" cy="4507992"/>
          </a:xfrm>
          <a:prstGeom prst="roundRect">
            <a:avLst/>
          </a:prstGeom>
          <a:solidFill>
            <a:srgbClr val="061A27"/>
          </a:solidFill>
          <a:ln w="12700">
            <a:solidFill>
              <a:srgbClr val="061A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73568" y="1581912"/>
            <a:ext cx="3255264" cy="274320"/>
          </a:xfrm>
          <a:prstGeom prst="rect">
            <a:avLst/>
          </a:prstGeom>
          <a:noFill/>
        </p:spPr>
        <p:txBody>
          <a:bodyPr wrap="square" lIns="0" rIns="0" tIns="0" bIns="0" anchor="t">
            <a:spAutoFit/>
          </a:bodyPr>
          <a:lstStyle/>
          <a:p>
            <a:pPr algn="l">
              <a:spcAft>
                <a:spcPts val="0"/>
              </a:spcAft>
            </a:pPr>
            <a:r>
              <a:rPr sz="1100" b="1" i="0">
                <a:solidFill>
                  <a:srgbClr val="1EB8BC"/>
                </a:solidFill>
                <a:latin typeface="Aptos"/>
              </a:rPr>
              <a:t>THE GAP</a:t>
            </a:r>
          </a:p>
        </p:txBody>
      </p:sp>
      <p:sp>
        <p:nvSpPr>
          <p:cNvPr id="20" name="TextBox 19"/>
          <p:cNvSpPr txBox="1"/>
          <p:nvPr/>
        </p:nvSpPr>
        <p:spPr>
          <a:xfrm>
            <a:off x="7973568" y="1956816"/>
            <a:ext cx="3200400" cy="1078992"/>
          </a:xfrm>
          <a:prstGeom prst="rect">
            <a:avLst/>
          </a:prstGeom>
          <a:noFill/>
        </p:spPr>
        <p:txBody>
          <a:bodyPr wrap="square" lIns="0" rIns="0" tIns="0" bIns="0" anchor="t">
            <a:spAutoFit/>
          </a:bodyPr>
          <a:lstStyle/>
          <a:p>
            <a:pPr algn="l">
              <a:spcAft>
                <a:spcPts val="0"/>
              </a:spcAft>
            </a:pPr>
            <a:r>
              <a:rPr sz="2400" b="1" i="0">
                <a:solidFill>
                  <a:srgbClr val="FFFFFF"/>
                </a:solidFill>
                <a:latin typeface="Aptos"/>
              </a:rPr>
              <a:t>Central systems can be excellent and still be unreachable.</a:t>
            </a:r>
          </a:p>
        </p:txBody>
      </p:sp>
      <p:sp>
        <p:nvSpPr>
          <p:cNvPr id="21" name="TextBox 20"/>
          <p:cNvSpPr txBox="1"/>
          <p:nvPr/>
        </p:nvSpPr>
        <p:spPr>
          <a:xfrm>
            <a:off x="7973568" y="3346704"/>
            <a:ext cx="3154680" cy="1307592"/>
          </a:xfrm>
          <a:prstGeom prst="rect">
            <a:avLst/>
          </a:prstGeom>
          <a:noFill/>
        </p:spPr>
        <p:txBody>
          <a:bodyPr wrap="square" lIns="0" rIns="0" tIns="0" bIns="0" anchor="t">
            <a:spAutoFit/>
          </a:bodyPr>
          <a:lstStyle/>
          <a:p>
            <a:pPr algn="l">
              <a:spcAft>
                <a:spcPts val="0"/>
              </a:spcAft>
            </a:pPr>
            <a:r>
              <a:rPr sz="1600" b="0" i="0">
                <a:solidFill>
                  <a:srgbClr val="C6D9E1"/>
                </a:solidFill>
                <a:latin typeface="Aptos"/>
              </a:rPr>
              <a:t>Field teams need continuity beside existing radio, phone, and paper procedures, not a replacement for them.</a:t>
            </a:r>
          </a:p>
        </p:txBody>
      </p:sp>
      <p:sp>
        <p:nvSpPr>
          <p:cNvPr id="22" name="TextBox 21"/>
          <p:cNvSpPr txBox="1"/>
          <p:nvPr/>
        </p:nvSpPr>
        <p:spPr>
          <a:xfrm>
            <a:off x="7973568" y="5093208"/>
            <a:ext cx="3063240" cy="310896"/>
          </a:xfrm>
          <a:prstGeom prst="rect">
            <a:avLst/>
          </a:prstGeom>
          <a:noFill/>
        </p:spPr>
        <p:txBody>
          <a:bodyPr wrap="square" lIns="0" rIns="0" tIns="0" bIns="0" anchor="t">
            <a:spAutoFit/>
          </a:bodyPr>
          <a:lstStyle/>
          <a:p>
            <a:pPr algn="l">
              <a:spcAft>
                <a:spcPts val="0"/>
              </a:spcAft>
            </a:pPr>
            <a:r>
              <a:rPr sz="1000" b="1" i="0">
                <a:solidFill>
                  <a:srgbClr val="86A9B8"/>
                </a:solidFill>
                <a:latin typeface="Aptos"/>
              </a:rPr>
              <a:t>Problem evidence from DDM and UN Bangladesh</a:t>
            </a:r>
          </a:p>
        </p:txBody>
      </p:sp>
      <p:sp>
        <p:nvSpPr>
          <p:cNvPr id="23" name="TextBox 22"/>
          <p:cNvSpPr txBox="1"/>
          <p:nvPr/>
        </p:nvSpPr>
        <p:spPr>
          <a:xfrm>
            <a:off x="530352" y="6519672"/>
            <a:ext cx="2011680" cy="182880"/>
          </a:xfrm>
          <a:prstGeom prst="rect">
            <a:avLst/>
          </a:prstGeom>
          <a:noFill/>
        </p:spPr>
        <p:txBody>
          <a:bodyPr wrap="square" lIns="0" rIns="0" tIns="0" bIns="0" anchor="t">
            <a:spAutoFit/>
          </a:bodyPr>
          <a:lstStyle/>
          <a:p>
            <a:pPr algn="l">
              <a:spcAft>
                <a:spcPts val="0"/>
              </a:spcAft>
            </a:pPr>
            <a:r>
              <a:rPr sz="800" b="1" i="0">
                <a:solidFill>
                  <a:srgbClr val="597181"/>
                </a:solidFill>
                <a:latin typeface="Aptos"/>
              </a:rPr>
              <a:t>DIGITAL DELTA</a:t>
            </a:r>
          </a:p>
        </p:txBody>
      </p:sp>
      <p:sp>
        <p:nvSpPr>
          <p:cNvPr id="24" name="TextBox 23"/>
          <p:cNvSpPr txBox="1"/>
          <p:nvPr/>
        </p:nvSpPr>
        <p:spPr>
          <a:xfrm>
            <a:off x="11210544" y="6501384"/>
            <a:ext cx="411480" cy="201168"/>
          </a:xfrm>
          <a:prstGeom prst="rect">
            <a:avLst/>
          </a:prstGeom>
          <a:noFill/>
        </p:spPr>
        <p:txBody>
          <a:bodyPr wrap="square" lIns="0" rIns="0" tIns="0" bIns="0" anchor="t">
            <a:spAutoFit/>
          </a:bodyPr>
          <a:lstStyle/>
          <a:p>
            <a:pPr algn="r">
              <a:spcAft>
                <a:spcPts val="0"/>
              </a:spcAft>
            </a:pPr>
            <a:r>
              <a:rPr sz="900" b="1" i="0">
                <a:solidFill>
                  <a:srgbClr val="597181"/>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310896"/>
            <a:ext cx="475488" cy="310896"/>
          </a:xfrm>
          <a:prstGeom prst="rect">
            <a:avLst/>
          </a:prstGeom>
          <a:noFill/>
        </p:spPr>
        <p:txBody>
          <a:bodyPr wrap="square" lIns="0" rIns="0" tIns="0" bIns="0" anchor="t">
            <a:spAutoFit/>
          </a:bodyPr>
          <a:lstStyle/>
          <a:p>
            <a:pPr algn="l">
              <a:spcAft>
                <a:spcPts val="0"/>
              </a:spcAft>
            </a:pPr>
            <a:r>
              <a:rPr sz="1200" b="1" i="0">
                <a:solidFill>
                  <a:srgbClr val="087F8C"/>
                </a:solidFill>
                <a:latin typeface="Aptos"/>
              </a:rPr>
              <a:t>03</a:t>
            </a:r>
          </a:p>
        </p:txBody>
      </p:sp>
      <p:sp>
        <p:nvSpPr>
          <p:cNvPr id="3" name="TextBox 2"/>
          <p:cNvSpPr txBox="1"/>
          <p:nvPr/>
        </p:nvSpPr>
        <p:spPr>
          <a:xfrm>
            <a:off x="1024128" y="210312"/>
            <a:ext cx="10378440" cy="502920"/>
          </a:xfrm>
          <a:prstGeom prst="rect">
            <a:avLst/>
          </a:prstGeom>
          <a:noFill/>
        </p:spPr>
        <p:txBody>
          <a:bodyPr wrap="square" lIns="0" rIns="0" tIns="0" bIns="0" anchor="t">
            <a:spAutoFit/>
          </a:bodyPr>
          <a:lstStyle/>
          <a:p>
            <a:pPr algn="l">
              <a:spcAft>
                <a:spcPts val="0"/>
              </a:spcAft>
            </a:pPr>
            <a:r>
              <a:rPr sz="2700" b="1" i="0">
                <a:solidFill>
                  <a:srgbClr val="0A2638"/>
                </a:solidFill>
                <a:latin typeface="Aptos"/>
              </a:rPr>
              <a:t>The mission lives on the phones</a:t>
            </a:r>
          </a:p>
        </p:txBody>
      </p:sp>
      <p:sp>
        <p:nvSpPr>
          <p:cNvPr id="4" name="Rectangle 3"/>
          <p:cNvSpPr/>
          <p:nvPr/>
        </p:nvSpPr>
        <p:spPr>
          <a:xfrm>
            <a:off x="530352" y="841248"/>
            <a:ext cx="6217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8448" y="749808"/>
            <a:ext cx="9784080" cy="347472"/>
          </a:xfrm>
          <a:prstGeom prst="rect">
            <a:avLst/>
          </a:prstGeom>
          <a:noFill/>
        </p:spPr>
        <p:txBody>
          <a:bodyPr wrap="square" lIns="0" rIns="0" tIns="0" bIns="0" anchor="t">
            <a:spAutoFit/>
          </a:bodyPr>
          <a:lstStyle/>
          <a:p>
            <a:pPr algn="l">
              <a:spcAft>
                <a:spcPts val="0"/>
              </a:spcAft>
            </a:pPr>
            <a:r>
              <a:rPr sz="1200" b="0" i="0">
                <a:solidFill>
                  <a:srgbClr val="597181"/>
                </a:solidFill>
                <a:latin typeface="Aptos"/>
              </a:rPr>
              <a:t>The observer can disappear without stopping field work</a:t>
            </a:r>
          </a:p>
        </p:txBody>
      </p:sp>
      <p:sp>
        <p:nvSpPr>
          <p:cNvPr id="6" name="Rounded Rectangle 5"/>
          <p:cNvSpPr/>
          <p:nvPr/>
        </p:nvSpPr>
        <p:spPr>
          <a:xfrm>
            <a:off x="594360" y="1325880"/>
            <a:ext cx="1874519" cy="1216152"/>
          </a:xfrm>
          <a:prstGeom prst="roundRect">
            <a:avLst/>
          </a:prstGeom>
          <a:solidFill>
            <a:srgbClr val="FFFFFF"/>
          </a:solidFill>
          <a:ln w="12700">
            <a:solidFill>
              <a:srgbClr val="EF5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1527048"/>
            <a:ext cx="1572768" cy="256032"/>
          </a:xfrm>
          <a:prstGeom prst="rect">
            <a:avLst/>
          </a:prstGeom>
          <a:noFill/>
        </p:spPr>
        <p:txBody>
          <a:bodyPr wrap="square" lIns="0" rIns="0" tIns="0" bIns="0" anchor="t">
            <a:spAutoFit/>
          </a:bodyPr>
          <a:lstStyle/>
          <a:p>
            <a:pPr algn="ctr">
              <a:spcAft>
                <a:spcPts val="0"/>
              </a:spcAft>
            </a:pPr>
            <a:r>
              <a:rPr sz="1200" b="1" i="0">
                <a:solidFill>
                  <a:srgbClr val="EF5B5B"/>
                </a:solidFill>
                <a:latin typeface="Aptos"/>
              </a:rPr>
              <a:t>CLINIC</a:t>
            </a:r>
          </a:p>
        </p:txBody>
      </p:sp>
      <p:sp>
        <p:nvSpPr>
          <p:cNvPr id="8" name="TextBox 7"/>
          <p:cNvSpPr txBox="1"/>
          <p:nvPr/>
        </p:nvSpPr>
        <p:spPr>
          <a:xfrm>
            <a:off x="740664" y="1901952"/>
            <a:ext cx="1572768" cy="301752"/>
          </a:xfrm>
          <a:prstGeom prst="rect">
            <a:avLst/>
          </a:prstGeom>
          <a:noFill/>
        </p:spPr>
        <p:txBody>
          <a:bodyPr wrap="square" lIns="0" rIns="0" tIns="0" bIns="0" anchor="t">
            <a:spAutoFit/>
          </a:bodyPr>
          <a:lstStyle/>
          <a:p>
            <a:pPr algn="ctr">
              <a:spcAft>
                <a:spcPts val="0"/>
              </a:spcAft>
            </a:pPr>
            <a:r>
              <a:rPr sz="1300" b="1" i="0">
                <a:solidFill>
                  <a:srgbClr val="0A2638"/>
                </a:solidFill>
                <a:latin typeface="Aptos"/>
              </a:rPr>
              <a:t>Create P0 request</a:t>
            </a:r>
          </a:p>
        </p:txBody>
      </p:sp>
      <p:sp>
        <p:nvSpPr>
          <p:cNvPr id="9" name="Rounded Rectangle 8"/>
          <p:cNvSpPr/>
          <p:nvPr/>
        </p:nvSpPr>
        <p:spPr>
          <a:xfrm>
            <a:off x="2944368" y="1325880"/>
            <a:ext cx="1874519" cy="1216152"/>
          </a:xfrm>
          <a:prstGeom prst="roundRect">
            <a:avLst/>
          </a:prstGeom>
          <a:solidFill>
            <a:srgbClr val="FFFFFF"/>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90672" y="1527048"/>
            <a:ext cx="1572768" cy="256032"/>
          </a:xfrm>
          <a:prstGeom prst="rect">
            <a:avLst/>
          </a:prstGeom>
          <a:noFill/>
        </p:spPr>
        <p:txBody>
          <a:bodyPr wrap="square" lIns="0" rIns="0" tIns="0" bIns="0" anchor="t">
            <a:spAutoFit/>
          </a:bodyPr>
          <a:lstStyle/>
          <a:p>
            <a:pPr algn="ctr">
              <a:spcAft>
                <a:spcPts val="0"/>
              </a:spcAft>
            </a:pPr>
            <a:r>
              <a:rPr sz="1200" b="1" i="0">
                <a:solidFill>
                  <a:srgbClr val="087F8C"/>
                </a:solidFill>
                <a:latin typeface="Aptos"/>
              </a:rPr>
              <a:t>RELAY</a:t>
            </a:r>
          </a:p>
        </p:txBody>
      </p:sp>
      <p:sp>
        <p:nvSpPr>
          <p:cNvPr id="11" name="TextBox 10"/>
          <p:cNvSpPr txBox="1"/>
          <p:nvPr/>
        </p:nvSpPr>
        <p:spPr>
          <a:xfrm>
            <a:off x="3090672" y="1901952"/>
            <a:ext cx="1572768" cy="301752"/>
          </a:xfrm>
          <a:prstGeom prst="rect">
            <a:avLst/>
          </a:prstGeom>
          <a:noFill/>
        </p:spPr>
        <p:txBody>
          <a:bodyPr wrap="square" lIns="0" rIns="0" tIns="0" bIns="0" anchor="t">
            <a:spAutoFit/>
          </a:bodyPr>
          <a:lstStyle/>
          <a:p>
            <a:pPr algn="ctr">
              <a:spcAft>
                <a:spcPts val="0"/>
              </a:spcAft>
            </a:pPr>
            <a:r>
              <a:rPr sz="1300" b="1" i="0">
                <a:solidFill>
                  <a:srgbClr val="0A2638"/>
                </a:solidFill>
                <a:latin typeface="Aptos"/>
              </a:rPr>
              <a:t>Store before ack</a:t>
            </a:r>
          </a:p>
        </p:txBody>
      </p:sp>
      <p:sp>
        <p:nvSpPr>
          <p:cNvPr id="12" name="Rounded Rectangle 11"/>
          <p:cNvSpPr/>
          <p:nvPr/>
        </p:nvSpPr>
        <p:spPr>
          <a:xfrm>
            <a:off x="5294376" y="1325880"/>
            <a:ext cx="1874519" cy="1216152"/>
          </a:xfrm>
          <a:prstGeom prst="roundRect">
            <a:avLst/>
          </a:prstGeom>
          <a:solidFill>
            <a:srgbClr val="FFFFFF"/>
          </a:solidFill>
          <a:ln w="12700">
            <a:solidFill>
              <a:srgbClr val="2E9D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40680" y="1527048"/>
            <a:ext cx="1572768" cy="256032"/>
          </a:xfrm>
          <a:prstGeom prst="rect">
            <a:avLst/>
          </a:prstGeom>
          <a:noFill/>
        </p:spPr>
        <p:txBody>
          <a:bodyPr wrap="square" lIns="0" rIns="0" tIns="0" bIns="0" anchor="t">
            <a:spAutoFit/>
          </a:bodyPr>
          <a:lstStyle/>
          <a:p>
            <a:pPr algn="ctr">
              <a:spcAft>
                <a:spcPts val="0"/>
              </a:spcAft>
            </a:pPr>
            <a:r>
              <a:rPr sz="1200" b="1" i="0">
                <a:solidFill>
                  <a:srgbClr val="2E9D72"/>
                </a:solidFill>
                <a:latin typeface="Aptos"/>
              </a:rPr>
              <a:t>HOSPITAL</a:t>
            </a:r>
          </a:p>
        </p:txBody>
      </p:sp>
      <p:sp>
        <p:nvSpPr>
          <p:cNvPr id="14" name="TextBox 13"/>
          <p:cNvSpPr txBox="1"/>
          <p:nvPr/>
        </p:nvSpPr>
        <p:spPr>
          <a:xfrm>
            <a:off x="5440680" y="1901952"/>
            <a:ext cx="1572768" cy="301752"/>
          </a:xfrm>
          <a:prstGeom prst="rect">
            <a:avLst/>
          </a:prstGeom>
          <a:noFill/>
        </p:spPr>
        <p:txBody>
          <a:bodyPr wrap="square" lIns="0" rIns="0" tIns="0" bIns="0" anchor="t">
            <a:spAutoFit/>
          </a:bodyPr>
          <a:lstStyle/>
          <a:p>
            <a:pPr algn="ctr">
              <a:spcAft>
                <a:spcPts val="0"/>
              </a:spcAft>
            </a:pPr>
            <a:r>
              <a:rPr sz="1300" b="1" i="0">
                <a:solidFill>
                  <a:srgbClr val="0A2638"/>
                </a:solidFill>
                <a:latin typeface="Aptos"/>
              </a:rPr>
              <a:t>Decrypt + decide</a:t>
            </a:r>
          </a:p>
        </p:txBody>
      </p:sp>
      <p:cxnSp>
        <p:nvCxnSpPr>
          <p:cNvPr id="15" name="Connector 14"/>
          <p:cNvCxnSpPr/>
          <p:nvPr/>
        </p:nvCxnSpPr>
        <p:spPr>
          <a:xfrm>
            <a:off x="2496312" y="1938528"/>
            <a:ext cx="356616" cy="0"/>
          </a:xfrm>
          <a:prstGeom prst="line">
            <a:avLst/>
          </a:prstGeom>
          <a:ln w="317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846320" y="1938528"/>
            <a:ext cx="356616" cy="0"/>
          </a:xfrm>
          <a:prstGeom prst="line">
            <a:avLst/>
          </a:prstGeom>
          <a:ln w="31750">
            <a:solidFill>
              <a:srgbClr val="087F8C"/>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115568" y="2788920"/>
            <a:ext cx="5559552" cy="310896"/>
          </a:xfrm>
          <a:prstGeom prst="rect">
            <a:avLst/>
          </a:prstGeom>
          <a:noFill/>
        </p:spPr>
        <p:txBody>
          <a:bodyPr wrap="square" lIns="0" rIns="0" tIns="0" bIns="0" anchor="t">
            <a:spAutoFit/>
          </a:bodyPr>
          <a:lstStyle/>
          <a:p>
            <a:pPr algn="ctr">
              <a:spcAft>
                <a:spcPts val="0"/>
              </a:spcAft>
            </a:pPr>
            <a:r>
              <a:rPr sz="1300" b="1" i="0">
                <a:solidFill>
                  <a:srgbClr val="087F8C"/>
                </a:solidFill>
                <a:latin typeface="Aptos"/>
              </a:rPr>
              <a:t>AES-256-GCM payload  •  RSA-OAEP key wrap  •  Protobuf envelope</a:t>
            </a:r>
          </a:p>
        </p:txBody>
      </p:sp>
      <p:sp>
        <p:nvSpPr>
          <p:cNvPr id="18" name="Rounded Rectangle 17"/>
          <p:cNvSpPr/>
          <p:nvPr/>
        </p:nvSpPr>
        <p:spPr>
          <a:xfrm>
            <a:off x="7726679" y="1325880"/>
            <a:ext cx="3794760" cy="3401568"/>
          </a:xfrm>
          <a:prstGeom prst="roundRect">
            <a:avLst/>
          </a:prstGeom>
          <a:solidFill>
            <a:srgbClr val="EAF1F6"/>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28431" y="1572768"/>
            <a:ext cx="3182112" cy="256032"/>
          </a:xfrm>
          <a:prstGeom prst="rect">
            <a:avLst/>
          </a:prstGeom>
          <a:noFill/>
        </p:spPr>
        <p:txBody>
          <a:bodyPr wrap="square" lIns="0" rIns="0" tIns="0" bIns="0" anchor="t">
            <a:spAutoFit/>
          </a:bodyPr>
          <a:lstStyle/>
          <a:p>
            <a:pPr algn="l">
              <a:spcAft>
                <a:spcPts val="0"/>
              </a:spcAft>
            </a:pPr>
            <a:r>
              <a:rPr sz="1100" b="1" i="0">
                <a:solidFill>
                  <a:srgbClr val="597181"/>
                </a:solidFill>
                <a:latin typeface="Aptos"/>
              </a:rPr>
              <a:t>OPTIONAL OBSERVER PATH</a:t>
            </a:r>
          </a:p>
        </p:txBody>
      </p:sp>
      <p:sp>
        <p:nvSpPr>
          <p:cNvPr id="20" name="TextBox 19"/>
          <p:cNvSpPr txBox="1"/>
          <p:nvPr/>
        </p:nvSpPr>
        <p:spPr>
          <a:xfrm>
            <a:off x="8028431" y="1956816"/>
            <a:ext cx="1143000" cy="320040"/>
          </a:xfrm>
          <a:prstGeom prst="rect">
            <a:avLst/>
          </a:prstGeom>
          <a:noFill/>
        </p:spPr>
        <p:txBody>
          <a:bodyPr wrap="square" lIns="0" rIns="0" tIns="0" bIns="0" anchor="t">
            <a:spAutoFit/>
          </a:bodyPr>
          <a:lstStyle/>
          <a:p>
            <a:pPr algn="l">
              <a:spcAft>
                <a:spcPts val="0"/>
              </a:spcAft>
            </a:pPr>
            <a:r>
              <a:rPr sz="1600" b="1" i="0">
                <a:solidFill>
                  <a:srgbClr val="0A2638"/>
                </a:solidFill>
                <a:latin typeface="Aptos"/>
              </a:rPr>
              <a:t>Go observer</a:t>
            </a:r>
          </a:p>
        </p:txBody>
      </p:sp>
      <p:sp>
        <p:nvSpPr>
          <p:cNvPr id="21" name="TextBox 20"/>
          <p:cNvSpPr txBox="1"/>
          <p:nvPr/>
        </p:nvSpPr>
        <p:spPr>
          <a:xfrm>
            <a:off x="9308592" y="1984248"/>
            <a:ext cx="1847088" cy="274320"/>
          </a:xfrm>
          <a:prstGeom prst="rect">
            <a:avLst/>
          </a:prstGeom>
          <a:noFill/>
        </p:spPr>
        <p:txBody>
          <a:bodyPr wrap="square" lIns="0" rIns="0" tIns="0" bIns="0" anchor="t">
            <a:spAutoFit/>
          </a:bodyPr>
          <a:lstStyle/>
          <a:p>
            <a:pPr algn="l">
              <a:spcAft>
                <a:spcPts val="0"/>
              </a:spcAft>
            </a:pPr>
            <a:r>
              <a:rPr sz="1200" b="0" i="0">
                <a:solidFill>
                  <a:srgbClr val="597181"/>
                </a:solidFill>
                <a:latin typeface="Aptos"/>
              </a:rPr>
              <a:t>ordered, sanitized events</a:t>
            </a:r>
          </a:p>
        </p:txBody>
      </p:sp>
      <p:cxnSp>
        <p:nvCxnSpPr>
          <p:cNvPr id="22" name="Connector 21"/>
          <p:cNvCxnSpPr/>
          <p:nvPr/>
        </p:nvCxnSpPr>
        <p:spPr>
          <a:xfrm>
            <a:off x="8540496" y="2542032"/>
            <a:ext cx="0" cy="429768"/>
          </a:xfrm>
          <a:prstGeom prst="line">
            <a:avLst/>
          </a:prstGeom>
          <a:ln w="31750">
            <a:solidFill>
              <a:srgbClr val="087F8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028431" y="3099816"/>
            <a:ext cx="2148840" cy="320040"/>
          </a:xfrm>
          <a:prstGeom prst="rect">
            <a:avLst/>
          </a:prstGeom>
          <a:noFill/>
        </p:spPr>
        <p:txBody>
          <a:bodyPr wrap="square" lIns="0" rIns="0" tIns="0" bIns="0" anchor="t">
            <a:spAutoFit/>
          </a:bodyPr>
          <a:lstStyle/>
          <a:p>
            <a:pPr algn="l">
              <a:spcAft>
                <a:spcPts val="0"/>
              </a:spcAft>
            </a:pPr>
            <a:r>
              <a:rPr sz="1600" b="1" i="0">
                <a:solidFill>
                  <a:srgbClr val="0A2638"/>
                </a:solidFill>
                <a:latin typeface="Aptos"/>
              </a:rPr>
              <a:t>Next.js headquarters</a:t>
            </a:r>
          </a:p>
        </p:txBody>
      </p:sp>
      <p:sp>
        <p:nvSpPr>
          <p:cNvPr id="24" name="TextBox 23"/>
          <p:cNvSpPr txBox="1"/>
          <p:nvPr/>
        </p:nvSpPr>
        <p:spPr>
          <a:xfrm>
            <a:off x="8028431" y="3502152"/>
            <a:ext cx="2670048" cy="274320"/>
          </a:xfrm>
          <a:prstGeom prst="rect">
            <a:avLst/>
          </a:prstGeom>
          <a:noFill/>
        </p:spPr>
        <p:txBody>
          <a:bodyPr wrap="square" lIns="0" rIns="0" tIns="0" bIns="0" anchor="t">
            <a:spAutoFit/>
          </a:bodyPr>
          <a:lstStyle/>
          <a:p>
            <a:pPr algn="l">
              <a:spcAft>
                <a:spcPts val="0"/>
              </a:spcAft>
            </a:pPr>
            <a:r>
              <a:rPr sz="1200" b="0" i="0">
                <a:solidFill>
                  <a:srgbClr val="597181"/>
                </a:solidFill>
                <a:latin typeface="Aptos"/>
              </a:rPr>
              <a:t>local SSE + offline map</a:t>
            </a:r>
          </a:p>
        </p:txBody>
      </p:sp>
      <p:sp>
        <p:nvSpPr>
          <p:cNvPr id="25" name="TextBox 24"/>
          <p:cNvSpPr txBox="1"/>
          <p:nvPr/>
        </p:nvSpPr>
        <p:spPr>
          <a:xfrm>
            <a:off x="8028431" y="4069080"/>
            <a:ext cx="1417320" cy="274320"/>
          </a:xfrm>
          <a:prstGeom prst="rect">
            <a:avLst/>
          </a:prstGeom>
          <a:noFill/>
        </p:spPr>
        <p:txBody>
          <a:bodyPr wrap="square" lIns="0" rIns="0" tIns="0" bIns="0" anchor="t">
            <a:spAutoFit/>
          </a:bodyPr>
          <a:lstStyle/>
          <a:p>
            <a:pPr algn="l">
              <a:spcAft>
                <a:spcPts val="0"/>
              </a:spcAft>
            </a:pPr>
            <a:r>
              <a:rPr sz="1300" b="1" i="0">
                <a:solidFill>
                  <a:srgbClr val="0A2638"/>
                </a:solidFill>
                <a:latin typeface="Aptos"/>
              </a:rPr>
              <a:t>Vercel + D1</a:t>
            </a:r>
          </a:p>
        </p:txBody>
      </p:sp>
      <p:sp>
        <p:nvSpPr>
          <p:cNvPr id="26" name="TextBox 25"/>
          <p:cNvSpPr txBox="1"/>
          <p:nvPr/>
        </p:nvSpPr>
        <p:spPr>
          <a:xfrm>
            <a:off x="9326880" y="4078224"/>
            <a:ext cx="1810512" cy="274320"/>
          </a:xfrm>
          <a:prstGeom prst="rect">
            <a:avLst/>
          </a:prstGeom>
          <a:noFill/>
        </p:spPr>
        <p:txBody>
          <a:bodyPr wrap="square" lIns="0" rIns="0" tIns="0" bIns="0" anchor="t">
            <a:spAutoFit/>
          </a:bodyPr>
          <a:lstStyle/>
          <a:p>
            <a:pPr algn="l">
              <a:spcAft>
                <a:spcPts val="0"/>
              </a:spcAft>
            </a:pPr>
            <a:r>
              <a:rPr sz="1150" b="0" i="0">
                <a:solidFill>
                  <a:srgbClr val="597181"/>
                </a:solidFill>
                <a:latin typeface="Aptos"/>
              </a:rPr>
              <a:t>reviewer convenience only</a:t>
            </a:r>
          </a:p>
        </p:txBody>
      </p:sp>
      <p:sp>
        <p:nvSpPr>
          <p:cNvPr id="27" name="Rounded Rectangle 26"/>
          <p:cNvSpPr/>
          <p:nvPr/>
        </p:nvSpPr>
        <p:spPr>
          <a:xfrm>
            <a:off x="594360" y="3675887"/>
            <a:ext cx="6739128" cy="1051560"/>
          </a:xfrm>
          <a:prstGeom prst="roundRect">
            <a:avLst/>
          </a:prstGeom>
          <a:solidFill>
            <a:srgbClr val="E5F1F2"/>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 y="3977639"/>
            <a:ext cx="6199632" cy="457200"/>
          </a:xfrm>
          <a:prstGeom prst="rect">
            <a:avLst/>
          </a:prstGeom>
          <a:noFill/>
        </p:spPr>
        <p:txBody>
          <a:bodyPr wrap="square" lIns="0" rIns="0" tIns="0" bIns="0" anchor="t">
            <a:spAutoFit/>
          </a:bodyPr>
          <a:lstStyle/>
          <a:p>
            <a:pPr>
              <a:spcAft>
                <a:spcPts val="0"/>
              </a:spcAft>
            </a:pPr>
            <a:r>
              <a:rPr sz="1300" b="1">
                <a:solidFill>
                  <a:srgbClr val="087F8C"/>
                </a:solidFill>
                <a:latin typeface="Aptos"/>
              </a:rPr>
              <a:t>DISCONNECT THE LAPTOP  </a:t>
            </a:r>
            <a:r>
              <a:rPr sz="1700" b="1">
                <a:solidFill>
                  <a:srgbClr val="0A2638"/>
                </a:solidFill>
                <a:latin typeface="Aptos"/>
              </a:rPr>
              <a:t>Requests, relay, routing, triage, and custody continue on Android.</a:t>
            </a:r>
          </a:p>
        </p:txBody>
      </p:sp>
      <p:sp>
        <p:nvSpPr>
          <p:cNvPr id="29" name="TextBox 28"/>
          <p:cNvSpPr txBox="1"/>
          <p:nvPr/>
        </p:nvSpPr>
        <p:spPr>
          <a:xfrm>
            <a:off x="594360" y="5285232"/>
            <a:ext cx="1325880" cy="256032"/>
          </a:xfrm>
          <a:prstGeom prst="rect">
            <a:avLst/>
          </a:prstGeom>
          <a:noFill/>
        </p:spPr>
        <p:txBody>
          <a:bodyPr wrap="square" lIns="0" rIns="0" tIns="0" bIns="0" anchor="t">
            <a:spAutoFit/>
          </a:bodyPr>
          <a:lstStyle/>
          <a:p>
            <a:pPr algn="l">
              <a:spcAft>
                <a:spcPts val="0"/>
              </a:spcAft>
            </a:pPr>
            <a:r>
              <a:rPr sz="1000" b="1" i="0">
                <a:solidFill>
                  <a:srgbClr val="597181"/>
                </a:solidFill>
                <a:latin typeface="Aptos"/>
              </a:rPr>
              <a:t>Field transport</a:t>
            </a:r>
          </a:p>
        </p:txBody>
      </p:sp>
      <p:sp>
        <p:nvSpPr>
          <p:cNvPr id="30" name="TextBox 29"/>
          <p:cNvSpPr txBox="1"/>
          <p:nvPr/>
        </p:nvSpPr>
        <p:spPr>
          <a:xfrm>
            <a:off x="1965960" y="5257800"/>
            <a:ext cx="2103120" cy="274320"/>
          </a:xfrm>
          <a:prstGeom prst="rect">
            <a:avLst/>
          </a:prstGeom>
          <a:noFill/>
        </p:spPr>
        <p:txBody>
          <a:bodyPr wrap="square" lIns="0" rIns="0" tIns="0" bIns="0" anchor="t">
            <a:spAutoFit/>
          </a:bodyPr>
          <a:lstStyle/>
          <a:p>
            <a:pPr algn="l">
              <a:spcAft>
                <a:spcPts val="0"/>
              </a:spcAft>
            </a:pPr>
            <a:r>
              <a:rPr sz="1400" b="1" i="0">
                <a:solidFill>
                  <a:srgbClr val="0A2638"/>
                </a:solidFill>
                <a:latin typeface="Aptos"/>
              </a:rPr>
              <a:t>Nearby framed Protobuf</a:t>
            </a:r>
          </a:p>
        </p:txBody>
      </p:sp>
      <p:sp>
        <p:nvSpPr>
          <p:cNvPr id="31" name="TextBox 30"/>
          <p:cNvSpPr txBox="1"/>
          <p:nvPr/>
        </p:nvSpPr>
        <p:spPr>
          <a:xfrm>
            <a:off x="4572000" y="5285232"/>
            <a:ext cx="1188720" cy="256032"/>
          </a:xfrm>
          <a:prstGeom prst="rect">
            <a:avLst/>
          </a:prstGeom>
          <a:noFill/>
        </p:spPr>
        <p:txBody>
          <a:bodyPr wrap="square" lIns="0" rIns="0" tIns="0" bIns="0" anchor="t">
            <a:spAutoFit/>
          </a:bodyPr>
          <a:lstStyle/>
          <a:p>
            <a:pPr algn="l">
              <a:spcAft>
                <a:spcPts val="0"/>
              </a:spcAft>
            </a:pPr>
            <a:r>
              <a:rPr sz="1000" b="1" i="0">
                <a:solidFill>
                  <a:srgbClr val="597181"/>
                </a:solidFill>
                <a:latin typeface="Aptos"/>
              </a:rPr>
              <a:t>Supported IP link</a:t>
            </a:r>
          </a:p>
        </p:txBody>
      </p:sp>
      <p:sp>
        <p:nvSpPr>
          <p:cNvPr id="32" name="TextBox 31"/>
          <p:cNvSpPr txBox="1"/>
          <p:nvPr/>
        </p:nvSpPr>
        <p:spPr>
          <a:xfrm>
            <a:off x="5833872" y="5257800"/>
            <a:ext cx="1554480" cy="274320"/>
          </a:xfrm>
          <a:prstGeom prst="rect">
            <a:avLst/>
          </a:prstGeom>
          <a:noFill/>
        </p:spPr>
        <p:txBody>
          <a:bodyPr wrap="square" lIns="0" rIns="0" tIns="0" bIns="0" anchor="t">
            <a:spAutoFit/>
          </a:bodyPr>
          <a:lstStyle/>
          <a:p>
            <a:pPr algn="l">
              <a:spcAft>
                <a:spcPts val="0"/>
              </a:spcAft>
            </a:pPr>
            <a:r>
              <a:rPr sz="1400" b="1" i="0">
                <a:solidFill>
                  <a:srgbClr val="0A2638"/>
                </a:solidFill>
                <a:latin typeface="Aptos"/>
              </a:rPr>
              <a:t>gRPC + Protobuf</a:t>
            </a:r>
          </a:p>
        </p:txBody>
      </p:sp>
      <p:sp>
        <p:nvSpPr>
          <p:cNvPr id="33" name="TextBox 32"/>
          <p:cNvSpPr txBox="1"/>
          <p:nvPr/>
        </p:nvSpPr>
        <p:spPr>
          <a:xfrm>
            <a:off x="7726679" y="5285232"/>
            <a:ext cx="1234440" cy="256032"/>
          </a:xfrm>
          <a:prstGeom prst="rect">
            <a:avLst/>
          </a:prstGeom>
          <a:noFill/>
        </p:spPr>
        <p:txBody>
          <a:bodyPr wrap="square" lIns="0" rIns="0" tIns="0" bIns="0" anchor="t">
            <a:spAutoFit/>
          </a:bodyPr>
          <a:lstStyle/>
          <a:p>
            <a:pPr algn="l">
              <a:spcAft>
                <a:spcPts val="0"/>
              </a:spcAft>
            </a:pPr>
            <a:r>
              <a:rPr sz="1000" b="1" i="0">
                <a:solidFill>
                  <a:srgbClr val="597181"/>
                </a:solidFill>
                <a:latin typeface="Aptos"/>
              </a:rPr>
              <a:t>Browser boundary</a:t>
            </a:r>
          </a:p>
        </p:txBody>
      </p:sp>
      <p:sp>
        <p:nvSpPr>
          <p:cNvPr id="34" name="TextBox 33"/>
          <p:cNvSpPr txBox="1"/>
          <p:nvPr/>
        </p:nvSpPr>
        <p:spPr>
          <a:xfrm>
            <a:off x="9070848" y="5257800"/>
            <a:ext cx="2148840" cy="274320"/>
          </a:xfrm>
          <a:prstGeom prst="rect">
            <a:avLst/>
          </a:prstGeom>
          <a:noFill/>
        </p:spPr>
        <p:txBody>
          <a:bodyPr wrap="square" lIns="0" rIns="0" tIns="0" bIns="0" anchor="t">
            <a:spAutoFit/>
          </a:bodyPr>
          <a:lstStyle/>
          <a:p>
            <a:pPr algn="l">
              <a:spcAft>
                <a:spcPts val="0"/>
              </a:spcAft>
            </a:pPr>
            <a:r>
              <a:rPr sz="1400" b="1" i="0">
                <a:solidFill>
                  <a:srgbClr val="0A2638"/>
                </a:solidFill>
                <a:latin typeface="Aptos"/>
              </a:rPr>
              <a:t>Sanitized SSE JSON</a:t>
            </a:r>
          </a:p>
        </p:txBody>
      </p:sp>
      <p:sp>
        <p:nvSpPr>
          <p:cNvPr id="35" name="TextBox 34"/>
          <p:cNvSpPr txBox="1"/>
          <p:nvPr/>
        </p:nvSpPr>
        <p:spPr>
          <a:xfrm>
            <a:off x="530352" y="6519672"/>
            <a:ext cx="2011680" cy="182880"/>
          </a:xfrm>
          <a:prstGeom prst="rect">
            <a:avLst/>
          </a:prstGeom>
          <a:noFill/>
        </p:spPr>
        <p:txBody>
          <a:bodyPr wrap="square" lIns="0" rIns="0" tIns="0" bIns="0" anchor="t">
            <a:spAutoFit/>
          </a:bodyPr>
          <a:lstStyle/>
          <a:p>
            <a:pPr algn="l">
              <a:spcAft>
                <a:spcPts val="0"/>
              </a:spcAft>
            </a:pPr>
            <a:r>
              <a:rPr sz="800" b="1" i="0">
                <a:solidFill>
                  <a:srgbClr val="597181"/>
                </a:solidFill>
                <a:latin typeface="Aptos"/>
              </a:rPr>
              <a:t>DIGITAL DELTA</a:t>
            </a:r>
          </a:p>
        </p:txBody>
      </p:sp>
      <p:sp>
        <p:nvSpPr>
          <p:cNvPr id="36" name="TextBox 35"/>
          <p:cNvSpPr txBox="1"/>
          <p:nvPr/>
        </p:nvSpPr>
        <p:spPr>
          <a:xfrm>
            <a:off x="11210544" y="6501384"/>
            <a:ext cx="411480" cy="201168"/>
          </a:xfrm>
          <a:prstGeom prst="rect">
            <a:avLst/>
          </a:prstGeom>
          <a:noFill/>
        </p:spPr>
        <p:txBody>
          <a:bodyPr wrap="square" lIns="0" rIns="0" tIns="0" bIns="0" anchor="t">
            <a:spAutoFit/>
          </a:bodyPr>
          <a:lstStyle/>
          <a:p>
            <a:pPr algn="r">
              <a:spcAft>
                <a:spcPts val="0"/>
              </a:spcAft>
            </a:pPr>
            <a:r>
              <a:rPr sz="900" b="1" i="0">
                <a:solidFill>
                  <a:srgbClr val="597181"/>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310896"/>
            <a:ext cx="475488" cy="310896"/>
          </a:xfrm>
          <a:prstGeom prst="rect">
            <a:avLst/>
          </a:prstGeom>
          <a:noFill/>
        </p:spPr>
        <p:txBody>
          <a:bodyPr wrap="square" lIns="0" rIns="0" tIns="0" bIns="0" anchor="t">
            <a:spAutoFit/>
          </a:bodyPr>
          <a:lstStyle/>
          <a:p>
            <a:pPr algn="l">
              <a:spcAft>
                <a:spcPts val="0"/>
              </a:spcAft>
            </a:pPr>
            <a:r>
              <a:rPr sz="1200" b="1" i="0">
                <a:solidFill>
                  <a:srgbClr val="087F8C"/>
                </a:solidFill>
                <a:latin typeface="Aptos"/>
              </a:rPr>
              <a:t>04</a:t>
            </a:r>
          </a:p>
        </p:txBody>
      </p:sp>
      <p:sp>
        <p:nvSpPr>
          <p:cNvPr id="3" name="TextBox 2"/>
          <p:cNvSpPr txBox="1"/>
          <p:nvPr/>
        </p:nvSpPr>
        <p:spPr>
          <a:xfrm>
            <a:off x="1024128" y="210312"/>
            <a:ext cx="10378440" cy="502920"/>
          </a:xfrm>
          <a:prstGeom prst="rect">
            <a:avLst/>
          </a:prstGeom>
          <a:noFill/>
        </p:spPr>
        <p:txBody>
          <a:bodyPr wrap="square" lIns="0" rIns="0" tIns="0" bIns="0" anchor="t">
            <a:spAutoFit/>
          </a:bodyPr>
          <a:lstStyle/>
          <a:p>
            <a:pPr algn="l">
              <a:spcAft>
                <a:spcPts val="0"/>
              </a:spcAft>
            </a:pPr>
            <a:r>
              <a:rPr sz="2700" b="1" i="0">
                <a:solidFill>
                  <a:srgbClr val="0A2638"/>
                </a:solidFill>
                <a:latin typeface="Aptos"/>
              </a:rPr>
              <a:t>Eight modules, one continuous mission</a:t>
            </a:r>
          </a:p>
        </p:txBody>
      </p:sp>
      <p:sp>
        <p:nvSpPr>
          <p:cNvPr id="4" name="Rectangle 3"/>
          <p:cNvSpPr/>
          <p:nvPr/>
        </p:nvSpPr>
        <p:spPr>
          <a:xfrm>
            <a:off x="530352" y="841248"/>
            <a:ext cx="6217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8448" y="749808"/>
            <a:ext cx="9784080" cy="347472"/>
          </a:xfrm>
          <a:prstGeom prst="rect">
            <a:avLst/>
          </a:prstGeom>
          <a:noFill/>
        </p:spPr>
        <p:txBody>
          <a:bodyPr wrap="square" lIns="0" rIns="0" tIns="0" bIns="0" anchor="t">
            <a:spAutoFit/>
          </a:bodyPr>
          <a:lstStyle/>
          <a:p>
            <a:pPr algn="l">
              <a:spcAft>
                <a:spcPts val="0"/>
              </a:spcAft>
            </a:pPr>
            <a:r>
              <a:rPr sz="1200" b="0" i="0">
                <a:solidFill>
                  <a:srgbClr val="597181"/>
                </a:solidFill>
                <a:latin typeface="Aptos"/>
              </a:rPr>
              <a:t>Each module changes the same signed and replayable field state</a:t>
            </a:r>
          </a:p>
        </p:txBody>
      </p:sp>
      <p:sp>
        <p:nvSpPr>
          <p:cNvPr id="6" name="Rounded Rectangle 5"/>
          <p:cNvSpPr/>
          <p:nvPr/>
        </p:nvSpPr>
        <p:spPr>
          <a:xfrm>
            <a:off x="594360" y="1298448"/>
            <a:ext cx="2596896" cy="1764792"/>
          </a:xfrm>
          <a:prstGeom prst="roundRect">
            <a:avLst/>
          </a:prstGeom>
          <a:solidFill>
            <a:srgbClr val="FFFFFF"/>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298448"/>
            <a:ext cx="109728" cy="17647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1517904"/>
            <a:ext cx="502920" cy="274320"/>
          </a:xfrm>
          <a:prstGeom prst="rect">
            <a:avLst/>
          </a:prstGeom>
          <a:noFill/>
        </p:spPr>
        <p:txBody>
          <a:bodyPr wrap="square" lIns="0" rIns="0" tIns="0" bIns="0" anchor="t">
            <a:spAutoFit/>
          </a:bodyPr>
          <a:lstStyle/>
          <a:p>
            <a:pPr algn="l">
              <a:spcAft>
                <a:spcPts val="0"/>
              </a:spcAft>
            </a:pPr>
            <a:r>
              <a:rPr sz="1200" b="1" i="0">
                <a:solidFill>
                  <a:srgbClr val="087F8C"/>
                </a:solidFill>
                <a:latin typeface="Aptos"/>
              </a:rPr>
              <a:t>M1</a:t>
            </a:r>
          </a:p>
        </p:txBody>
      </p:sp>
      <p:sp>
        <p:nvSpPr>
          <p:cNvPr id="9" name="TextBox 8"/>
          <p:cNvSpPr txBox="1"/>
          <p:nvPr/>
        </p:nvSpPr>
        <p:spPr>
          <a:xfrm>
            <a:off x="1362456" y="1472184"/>
            <a:ext cx="1536192" cy="365760"/>
          </a:xfrm>
          <a:prstGeom prst="rect">
            <a:avLst/>
          </a:prstGeom>
          <a:noFill/>
        </p:spPr>
        <p:txBody>
          <a:bodyPr wrap="square" lIns="0" rIns="0" tIns="0" bIns="0" anchor="t">
            <a:spAutoFit/>
          </a:bodyPr>
          <a:lstStyle/>
          <a:p>
            <a:pPr algn="l">
              <a:spcAft>
                <a:spcPts val="0"/>
              </a:spcAft>
            </a:pPr>
            <a:r>
              <a:rPr sz="1800" b="1" i="0">
                <a:solidFill>
                  <a:srgbClr val="0A2638"/>
                </a:solidFill>
                <a:latin typeface="Aptos"/>
              </a:rPr>
              <a:t>Identity</a:t>
            </a:r>
          </a:p>
        </p:txBody>
      </p:sp>
      <p:sp>
        <p:nvSpPr>
          <p:cNvPr id="10" name="TextBox 9"/>
          <p:cNvSpPr txBox="1"/>
          <p:nvPr/>
        </p:nvSpPr>
        <p:spPr>
          <a:xfrm>
            <a:off x="850392" y="2057400"/>
            <a:ext cx="2084831" cy="566928"/>
          </a:xfrm>
          <a:prstGeom prst="rect">
            <a:avLst/>
          </a:prstGeom>
          <a:noFill/>
        </p:spPr>
        <p:txBody>
          <a:bodyPr wrap="square" lIns="0" rIns="0" tIns="0" bIns="0" anchor="t">
            <a:spAutoFit/>
          </a:bodyPr>
          <a:lstStyle/>
          <a:p>
            <a:pPr algn="l">
              <a:spcAft>
                <a:spcPts val="0"/>
              </a:spcAft>
            </a:pPr>
            <a:r>
              <a:rPr sz="1400" b="0" i="0">
                <a:solidFill>
                  <a:srgbClr val="597181"/>
                </a:solidFill>
                <a:latin typeface="Aptos"/>
              </a:rPr>
              <a:t>Offline role credential + audit</a:t>
            </a:r>
          </a:p>
        </p:txBody>
      </p:sp>
      <p:sp>
        <p:nvSpPr>
          <p:cNvPr id="11" name="Rounded Rectangle 10"/>
          <p:cNvSpPr/>
          <p:nvPr/>
        </p:nvSpPr>
        <p:spPr>
          <a:xfrm>
            <a:off x="3456432" y="1298448"/>
            <a:ext cx="2596896" cy="1764792"/>
          </a:xfrm>
          <a:prstGeom prst="roundRect">
            <a:avLst/>
          </a:prstGeom>
          <a:solidFill>
            <a:srgbClr val="FFFFFF"/>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56432" y="1298448"/>
            <a:ext cx="109728" cy="1764792"/>
          </a:xfrm>
          <a:prstGeom prst="rect">
            <a:avLst/>
          </a:prstGeom>
          <a:solidFill>
            <a:srgbClr val="1EB8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12463" y="1517904"/>
            <a:ext cx="502920" cy="274320"/>
          </a:xfrm>
          <a:prstGeom prst="rect">
            <a:avLst/>
          </a:prstGeom>
          <a:noFill/>
        </p:spPr>
        <p:txBody>
          <a:bodyPr wrap="square" lIns="0" rIns="0" tIns="0" bIns="0" anchor="t">
            <a:spAutoFit/>
          </a:bodyPr>
          <a:lstStyle/>
          <a:p>
            <a:pPr algn="l">
              <a:spcAft>
                <a:spcPts val="0"/>
              </a:spcAft>
            </a:pPr>
            <a:r>
              <a:rPr sz="1200" b="1" i="0">
                <a:solidFill>
                  <a:srgbClr val="1EB8BC"/>
                </a:solidFill>
                <a:latin typeface="Aptos"/>
              </a:rPr>
              <a:t>M2</a:t>
            </a:r>
          </a:p>
        </p:txBody>
      </p:sp>
      <p:sp>
        <p:nvSpPr>
          <p:cNvPr id="14" name="TextBox 13"/>
          <p:cNvSpPr txBox="1"/>
          <p:nvPr/>
        </p:nvSpPr>
        <p:spPr>
          <a:xfrm>
            <a:off x="4224528" y="1472184"/>
            <a:ext cx="1536192" cy="365760"/>
          </a:xfrm>
          <a:prstGeom prst="rect">
            <a:avLst/>
          </a:prstGeom>
          <a:noFill/>
        </p:spPr>
        <p:txBody>
          <a:bodyPr wrap="square" lIns="0" rIns="0" tIns="0" bIns="0" anchor="t">
            <a:spAutoFit/>
          </a:bodyPr>
          <a:lstStyle/>
          <a:p>
            <a:pPr algn="l">
              <a:spcAft>
                <a:spcPts val="0"/>
              </a:spcAft>
            </a:pPr>
            <a:r>
              <a:rPr sz="1800" b="1" i="0">
                <a:solidFill>
                  <a:srgbClr val="0A2638"/>
                </a:solidFill>
                <a:latin typeface="Aptos"/>
              </a:rPr>
              <a:t>CRDT sync</a:t>
            </a:r>
          </a:p>
        </p:txBody>
      </p:sp>
      <p:sp>
        <p:nvSpPr>
          <p:cNvPr id="15" name="TextBox 14"/>
          <p:cNvSpPr txBox="1"/>
          <p:nvPr/>
        </p:nvSpPr>
        <p:spPr>
          <a:xfrm>
            <a:off x="3712463" y="2057400"/>
            <a:ext cx="2084831" cy="566928"/>
          </a:xfrm>
          <a:prstGeom prst="rect">
            <a:avLst/>
          </a:prstGeom>
          <a:noFill/>
        </p:spPr>
        <p:txBody>
          <a:bodyPr wrap="square" lIns="0" rIns="0" tIns="0" bIns="0" anchor="t">
            <a:spAutoFit/>
          </a:bodyPr>
          <a:lstStyle/>
          <a:p>
            <a:pPr algn="l">
              <a:spcAft>
                <a:spcPts val="0"/>
              </a:spcAft>
            </a:pPr>
            <a:r>
              <a:rPr sz="1400" b="0" i="0">
                <a:solidFill>
                  <a:srgbClr val="597181"/>
                </a:solidFill>
                <a:latin typeface="Aptos"/>
              </a:rPr>
              <a:t>Vector clocks + human conflict</a:t>
            </a:r>
          </a:p>
        </p:txBody>
      </p:sp>
      <p:sp>
        <p:nvSpPr>
          <p:cNvPr id="16" name="Rounded Rectangle 15"/>
          <p:cNvSpPr/>
          <p:nvPr/>
        </p:nvSpPr>
        <p:spPr>
          <a:xfrm>
            <a:off x="6318504" y="1298448"/>
            <a:ext cx="2596896" cy="1764792"/>
          </a:xfrm>
          <a:prstGeom prst="roundRect">
            <a:avLst/>
          </a:prstGeom>
          <a:solidFill>
            <a:srgbClr val="FFFFFF"/>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18504" y="1298448"/>
            <a:ext cx="109728" cy="1764792"/>
          </a:xfrm>
          <a:prstGeom prst="rect">
            <a:avLst/>
          </a:prstGeom>
          <a:solidFill>
            <a:srgbClr val="E9A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4536" y="1517904"/>
            <a:ext cx="502920" cy="274320"/>
          </a:xfrm>
          <a:prstGeom prst="rect">
            <a:avLst/>
          </a:prstGeom>
          <a:noFill/>
        </p:spPr>
        <p:txBody>
          <a:bodyPr wrap="square" lIns="0" rIns="0" tIns="0" bIns="0" anchor="t">
            <a:spAutoFit/>
          </a:bodyPr>
          <a:lstStyle/>
          <a:p>
            <a:pPr algn="l">
              <a:spcAft>
                <a:spcPts val="0"/>
              </a:spcAft>
            </a:pPr>
            <a:r>
              <a:rPr sz="1200" b="1" i="0">
                <a:solidFill>
                  <a:srgbClr val="E9A928"/>
                </a:solidFill>
                <a:latin typeface="Aptos"/>
              </a:rPr>
              <a:t>M3</a:t>
            </a:r>
          </a:p>
        </p:txBody>
      </p:sp>
      <p:sp>
        <p:nvSpPr>
          <p:cNvPr id="19" name="TextBox 18"/>
          <p:cNvSpPr txBox="1"/>
          <p:nvPr/>
        </p:nvSpPr>
        <p:spPr>
          <a:xfrm>
            <a:off x="7086600" y="1472184"/>
            <a:ext cx="1536192" cy="365760"/>
          </a:xfrm>
          <a:prstGeom prst="rect">
            <a:avLst/>
          </a:prstGeom>
          <a:noFill/>
        </p:spPr>
        <p:txBody>
          <a:bodyPr wrap="square" lIns="0" rIns="0" tIns="0" bIns="0" anchor="t">
            <a:spAutoFit/>
          </a:bodyPr>
          <a:lstStyle/>
          <a:p>
            <a:pPr algn="l">
              <a:spcAft>
                <a:spcPts val="0"/>
              </a:spcAft>
            </a:pPr>
            <a:r>
              <a:rPr sz="1800" b="1" i="0">
                <a:solidFill>
                  <a:srgbClr val="0A2638"/>
                </a:solidFill>
                <a:latin typeface="Aptos"/>
              </a:rPr>
              <a:t>Mesh relay</a:t>
            </a:r>
          </a:p>
        </p:txBody>
      </p:sp>
      <p:sp>
        <p:nvSpPr>
          <p:cNvPr id="20" name="TextBox 19"/>
          <p:cNvSpPr txBox="1"/>
          <p:nvPr/>
        </p:nvSpPr>
        <p:spPr>
          <a:xfrm>
            <a:off x="6574536" y="2057400"/>
            <a:ext cx="2084831" cy="566928"/>
          </a:xfrm>
          <a:prstGeom prst="rect">
            <a:avLst/>
          </a:prstGeom>
          <a:noFill/>
        </p:spPr>
        <p:txBody>
          <a:bodyPr wrap="square" lIns="0" rIns="0" tIns="0" bIns="0" anchor="t">
            <a:spAutoFit/>
          </a:bodyPr>
          <a:lstStyle/>
          <a:p>
            <a:pPr algn="l">
              <a:spcAft>
                <a:spcPts val="0"/>
              </a:spcAft>
            </a:pPr>
            <a:r>
              <a:rPr sz="1400" b="0" i="0">
                <a:solidFill>
                  <a:srgbClr val="597181"/>
                </a:solidFill>
                <a:latin typeface="Aptos"/>
              </a:rPr>
              <a:t>Authenticated store and forward</a:t>
            </a:r>
          </a:p>
        </p:txBody>
      </p:sp>
      <p:sp>
        <p:nvSpPr>
          <p:cNvPr id="21" name="Rounded Rectangle 20"/>
          <p:cNvSpPr/>
          <p:nvPr/>
        </p:nvSpPr>
        <p:spPr>
          <a:xfrm>
            <a:off x="9180576" y="1298448"/>
            <a:ext cx="2596896" cy="1764792"/>
          </a:xfrm>
          <a:prstGeom prst="roundRect">
            <a:avLst/>
          </a:prstGeom>
          <a:solidFill>
            <a:srgbClr val="FFFFFF"/>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80576" y="1298448"/>
            <a:ext cx="109728" cy="1764792"/>
          </a:xfrm>
          <a:prstGeom prst="rect">
            <a:avLst/>
          </a:prstGeom>
          <a:solidFill>
            <a:srgbClr val="2E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36608" y="1517904"/>
            <a:ext cx="502920" cy="274320"/>
          </a:xfrm>
          <a:prstGeom prst="rect">
            <a:avLst/>
          </a:prstGeom>
          <a:noFill/>
        </p:spPr>
        <p:txBody>
          <a:bodyPr wrap="square" lIns="0" rIns="0" tIns="0" bIns="0" anchor="t">
            <a:spAutoFit/>
          </a:bodyPr>
          <a:lstStyle/>
          <a:p>
            <a:pPr algn="l">
              <a:spcAft>
                <a:spcPts val="0"/>
              </a:spcAft>
            </a:pPr>
            <a:r>
              <a:rPr sz="1200" b="1" i="0">
                <a:solidFill>
                  <a:srgbClr val="2E9D72"/>
                </a:solidFill>
                <a:latin typeface="Aptos"/>
              </a:rPr>
              <a:t>M4</a:t>
            </a:r>
          </a:p>
        </p:txBody>
      </p:sp>
      <p:sp>
        <p:nvSpPr>
          <p:cNvPr id="24" name="TextBox 23"/>
          <p:cNvSpPr txBox="1"/>
          <p:nvPr/>
        </p:nvSpPr>
        <p:spPr>
          <a:xfrm>
            <a:off x="9948672" y="1472184"/>
            <a:ext cx="1536192" cy="365760"/>
          </a:xfrm>
          <a:prstGeom prst="rect">
            <a:avLst/>
          </a:prstGeom>
          <a:noFill/>
        </p:spPr>
        <p:txBody>
          <a:bodyPr wrap="square" lIns="0" rIns="0" tIns="0" bIns="0" anchor="t">
            <a:spAutoFit/>
          </a:bodyPr>
          <a:lstStyle/>
          <a:p>
            <a:pPr algn="l">
              <a:spcAft>
                <a:spcPts val="0"/>
              </a:spcAft>
            </a:pPr>
            <a:r>
              <a:rPr sz="1800" b="1" i="0">
                <a:solidFill>
                  <a:srgbClr val="0A2638"/>
                </a:solidFill>
                <a:latin typeface="Aptos"/>
              </a:rPr>
              <a:t>Routing</a:t>
            </a:r>
          </a:p>
        </p:txBody>
      </p:sp>
      <p:sp>
        <p:nvSpPr>
          <p:cNvPr id="25" name="TextBox 24"/>
          <p:cNvSpPr txBox="1"/>
          <p:nvPr/>
        </p:nvSpPr>
        <p:spPr>
          <a:xfrm>
            <a:off x="9436608" y="2057400"/>
            <a:ext cx="2084831" cy="566928"/>
          </a:xfrm>
          <a:prstGeom prst="rect">
            <a:avLst/>
          </a:prstGeom>
          <a:noFill/>
        </p:spPr>
        <p:txBody>
          <a:bodyPr wrap="square" lIns="0" rIns="0" tIns="0" bIns="0" anchor="t">
            <a:spAutoFit/>
          </a:bodyPr>
          <a:lstStyle/>
          <a:p>
            <a:pPr algn="l">
              <a:spcAft>
                <a:spcPts val="0"/>
              </a:spcAft>
            </a:pPr>
            <a:r>
              <a:rPr sz="1400" b="0" i="0">
                <a:solidFill>
                  <a:srgbClr val="597181"/>
                </a:solidFill>
                <a:latin typeface="Aptos"/>
              </a:rPr>
              <a:t>Road + water + simulated air</a:t>
            </a:r>
          </a:p>
        </p:txBody>
      </p:sp>
      <p:sp>
        <p:nvSpPr>
          <p:cNvPr id="26" name="Rounded Rectangle 25"/>
          <p:cNvSpPr/>
          <p:nvPr/>
        </p:nvSpPr>
        <p:spPr>
          <a:xfrm>
            <a:off x="594360" y="3438144"/>
            <a:ext cx="2596896" cy="1764792"/>
          </a:xfrm>
          <a:prstGeom prst="roundRect">
            <a:avLst/>
          </a:prstGeom>
          <a:solidFill>
            <a:srgbClr val="FFFFFF"/>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4360" y="3438144"/>
            <a:ext cx="109728" cy="1764792"/>
          </a:xfrm>
          <a:prstGeom prst="rect">
            <a:avLst/>
          </a:prstGeom>
          <a:solidFill>
            <a:srgbClr val="EF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 y="3657600"/>
            <a:ext cx="502920" cy="274320"/>
          </a:xfrm>
          <a:prstGeom prst="rect">
            <a:avLst/>
          </a:prstGeom>
          <a:noFill/>
        </p:spPr>
        <p:txBody>
          <a:bodyPr wrap="square" lIns="0" rIns="0" tIns="0" bIns="0" anchor="t">
            <a:spAutoFit/>
          </a:bodyPr>
          <a:lstStyle/>
          <a:p>
            <a:pPr algn="l">
              <a:spcAft>
                <a:spcPts val="0"/>
              </a:spcAft>
            </a:pPr>
            <a:r>
              <a:rPr sz="1200" b="1" i="0">
                <a:solidFill>
                  <a:srgbClr val="EF5B5B"/>
                </a:solidFill>
                <a:latin typeface="Aptos"/>
              </a:rPr>
              <a:t>M5</a:t>
            </a:r>
          </a:p>
        </p:txBody>
      </p:sp>
      <p:sp>
        <p:nvSpPr>
          <p:cNvPr id="29" name="TextBox 28"/>
          <p:cNvSpPr txBox="1"/>
          <p:nvPr/>
        </p:nvSpPr>
        <p:spPr>
          <a:xfrm>
            <a:off x="1362456" y="3611879"/>
            <a:ext cx="1536192" cy="365760"/>
          </a:xfrm>
          <a:prstGeom prst="rect">
            <a:avLst/>
          </a:prstGeom>
          <a:noFill/>
        </p:spPr>
        <p:txBody>
          <a:bodyPr wrap="square" lIns="0" rIns="0" tIns="0" bIns="0" anchor="t">
            <a:spAutoFit/>
          </a:bodyPr>
          <a:lstStyle/>
          <a:p>
            <a:pPr algn="l">
              <a:spcAft>
                <a:spcPts val="0"/>
              </a:spcAft>
            </a:pPr>
            <a:r>
              <a:rPr sz="1800" b="1" i="0">
                <a:solidFill>
                  <a:srgbClr val="0A2638"/>
                </a:solidFill>
                <a:latin typeface="Aptos"/>
              </a:rPr>
              <a:t>Custody</a:t>
            </a:r>
          </a:p>
        </p:txBody>
      </p:sp>
      <p:sp>
        <p:nvSpPr>
          <p:cNvPr id="30" name="TextBox 29"/>
          <p:cNvSpPr txBox="1"/>
          <p:nvPr/>
        </p:nvSpPr>
        <p:spPr>
          <a:xfrm>
            <a:off x="850392" y="4197096"/>
            <a:ext cx="2084831" cy="566928"/>
          </a:xfrm>
          <a:prstGeom prst="rect">
            <a:avLst/>
          </a:prstGeom>
          <a:noFill/>
        </p:spPr>
        <p:txBody>
          <a:bodyPr wrap="square" lIns="0" rIns="0" tIns="0" bIns="0" anchor="t">
            <a:spAutoFit/>
          </a:bodyPr>
          <a:lstStyle/>
          <a:p>
            <a:pPr algn="l">
              <a:spcAft>
                <a:spcPts val="0"/>
              </a:spcAft>
            </a:pPr>
            <a:r>
              <a:rPr sz="1400" b="0" i="0">
                <a:solidFill>
                  <a:srgbClr val="597181"/>
                </a:solidFill>
                <a:latin typeface="Aptos"/>
              </a:rPr>
              <a:t>Signed QR + replay rejection</a:t>
            </a:r>
          </a:p>
        </p:txBody>
      </p:sp>
      <p:sp>
        <p:nvSpPr>
          <p:cNvPr id="31" name="Rounded Rectangle 30"/>
          <p:cNvSpPr/>
          <p:nvPr/>
        </p:nvSpPr>
        <p:spPr>
          <a:xfrm>
            <a:off x="3456432" y="3438144"/>
            <a:ext cx="2596896" cy="1764792"/>
          </a:xfrm>
          <a:prstGeom prst="roundRect">
            <a:avLst/>
          </a:prstGeom>
          <a:solidFill>
            <a:srgbClr val="FFFFFF"/>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456432" y="3438144"/>
            <a:ext cx="109728" cy="17647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12463" y="3657600"/>
            <a:ext cx="502920" cy="274320"/>
          </a:xfrm>
          <a:prstGeom prst="rect">
            <a:avLst/>
          </a:prstGeom>
          <a:noFill/>
        </p:spPr>
        <p:txBody>
          <a:bodyPr wrap="square" lIns="0" rIns="0" tIns="0" bIns="0" anchor="t">
            <a:spAutoFit/>
          </a:bodyPr>
          <a:lstStyle/>
          <a:p>
            <a:pPr algn="l">
              <a:spcAft>
                <a:spcPts val="0"/>
              </a:spcAft>
            </a:pPr>
            <a:r>
              <a:rPr sz="1200" b="1" i="0">
                <a:solidFill>
                  <a:srgbClr val="087F8C"/>
                </a:solidFill>
                <a:latin typeface="Aptos"/>
              </a:rPr>
              <a:t>M6</a:t>
            </a:r>
          </a:p>
        </p:txBody>
      </p:sp>
      <p:sp>
        <p:nvSpPr>
          <p:cNvPr id="34" name="TextBox 33"/>
          <p:cNvSpPr txBox="1"/>
          <p:nvPr/>
        </p:nvSpPr>
        <p:spPr>
          <a:xfrm>
            <a:off x="4224528" y="3611879"/>
            <a:ext cx="1536192" cy="365760"/>
          </a:xfrm>
          <a:prstGeom prst="rect">
            <a:avLst/>
          </a:prstGeom>
          <a:noFill/>
        </p:spPr>
        <p:txBody>
          <a:bodyPr wrap="square" lIns="0" rIns="0" tIns="0" bIns="0" anchor="t">
            <a:spAutoFit/>
          </a:bodyPr>
          <a:lstStyle/>
          <a:p>
            <a:pPr algn="l">
              <a:spcAft>
                <a:spcPts val="0"/>
              </a:spcAft>
            </a:pPr>
            <a:r>
              <a:rPr sz="1800" b="1" i="0">
                <a:solidFill>
                  <a:srgbClr val="0A2638"/>
                </a:solidFill>
                <a:latin typeface="Aptos"/>
              </a:rPr>
              <a:t>Triage</a:t>
            </a:r>
          </a:p>
        </p:txBody>
      </p:sp>
      <p:sp>
        <p:nvSpPr>
          <p:cNvPr id="35" name="TextBox 34"/>
          <p:cNvSpPr txBox="1"/>
          <p:nvPr/>
        </p:nvSpPr>
        <p:spPr>
          <a:xfrm>
            <a:off x="3712463" y="4197096"/>
            <a:ext cx="2084831" cy="566928"/>
          </a:xfrm>
          <a:prstGeom prst="rect">
            <a:avLst/>
          </a:prstGeom>
          <a:noFill/>
        </p:spPr>
        <p:txBody>
          <a:bodyPr wrap="square" lIns="0" rIns="0" tIns="0" bIns="0" anchor="t">
            <a:spAutoFit/>
          </a:bodyPr>
          <a:lstStyle/>
          <a:p>
            <a:pPr algn="l">
              <a:spcAft>
                <a:spcPts val="0"/>
              </a:spcAft>
            </a:pPr>
            <a:r>
              <a:rPr sz="1400" b="0" i="0">
                <a:solidFill>
                  <a:srgbClr val="597181"/>
                </a:solidFill>
                <a:latin typeface="Aptos"/>
              </a:rPr>
              <a:t>SLA warning + safe preemption</a:t>
            </a:r>
          </a:p>
        </p:txBody>
      </p:sp>
      <p:sp>
        <p:nvSpPr>
          <p:cNvPr id="36" name="Rounded Rectangle 35"/>
          <p:cNvSpPr/>
          <p:nvPr/>
        </p:nvSpPr>
        <p:spPr>
          <a:xfrm>
            <a:off x="6318504" y="3438144"/>
            <a:ext cx="2596896" cy="1764792"/>
          </a:xfrm>
          <a:prstGeom prst="roundRect">
            <a:avLst/>
          </a:prstGeom>
          <a:solidFill>
            <a:srgbClr val="FFFFFF"/>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18504" y="3438144"/>
            <a:ext cx="109728" cy="1764792"/>
          </a:xfrm>
          <a:prstGeom prst="rect">
            <a:avLst/>
          </a:prstGeom>
          <a:solidFill>
            <a:srgbClr val="E9A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74536" y="3657600"/>
            <a:ext cx="502920" cy="274320"/>
          </a:xfrm>
          <a:prstGeom prst="rect">
            <a:avLst/>
          </a:prstGeom>
          <a:noFill/>
        </p:spPr>
        <p:txBody>
          <a:bodyPr wrap="square" lIns="0" rIns="0" tIns="0" bIns="0" anchor="t">
            <a:spAutoFit/>
          </a:bodyPr>
          <a:lstStyle/>
          <a:p>
            <a:pPr algn="l">
              <a:spcAft>
                <a:spcPts val="0"/>
              </a:spcAft>
            </a:pPr>
            <a:r>
              <a:rPr sz="1200" b="1" i="0">
                <a:solidFill>
                  <a:srgbClr val="E9A928"/>
                </a:solidFill>
                <a:latin typeface="Aptos"/>
              </a:rPr>
              <a:t>M7</a:t>
            </a:r>
          </a:p>
        </p:txBody>
      </p:sp>
      <p:sp>
        <p:nvSpPr>
          <p:cNvPr id="39" name="TextBox 38"/>
          <p:cNvSpPr txBox="1"/>
          <p:nvPr/>
        </p:nvSpPr>
        <p:spPr>
          <a:xfrm>
            <a:off x="7086600" y="3611879"/>
            <a:ext cx="1536192" cy="365760"/>
          </a:xfrm>
          <a:prstGeom prst="rect">
            <a:avLst/>
          </a:prstGeom>
          <a:noFill/>
        </p:spPr>
        <p:txBody>
          <a:bodyPr wrap="square" lIns="0" rIns="0" tIns="0" bIns="0" anchor="t">
            <a:spAutoFit/>
          </a:bodyPr>
          <a:lstStyle/>
          <a:p>
            <a:pPr algn="l">
              <a:spcAft>
                <a:spcPts val="0"/>
              </a:spcAft>
            </a:pPr>
            <a:r>
              <a:rPr sz="1800" b="1" i="0">
                <a:solidFill>
                  <a:srgbClr val="0A2638"/>
                </a:solidFill>
                <a:latin typeface="Aptos"/>
              </a:rPr>
              <a:t>Route risk</a:t>
            </a:r>
          </a:p>
        </p:txBody>
      </p:sp>
      <p:sp>
        <p:nvSpPr>
          <p:cNvPr id="40" name="TextBox 39"/>
          <p:cNvSpPr txBox="1"/>
          <p:nvPr/>
        </p:nvSpPr>
        <p:spPr>
          <a:xfrm>
            <a:off x="6574536" y="4197096"/>
            <a:ext cx="2084831" cy="566928"/>
          </a:xfrm>
          <a:prstGeom prst="rect">
            <a:avLst/>
          </a:prstGeom>
          <a:noFill/>
        </p:spPr>
        <p:txBody>
          <a:bodyPr wrap="square" lIns="0" rIns="0" tIns="0" bIns="0" anchor="t">
            <a:spAutoFit/>
          </a:bodyPr>
          <a:lstStyle/>
          <a:p>
            <a:pPr algn="l">
              <a:spcAft>
                <a:spcPts val="0"/>
              </a:spcAft>
            </a:pPr>
            <a:r>
              <a:rPr sz="1400" b="0" i="0">
                <a:solidFill>
                  <a:srgbClr val="597181"/>
                </a:solidFill>
                <a:latin typeface="Aptos"/>
              </a:rPr>
              <a:t>On-device ONNX advisory</a:t>
            </a:r>
          </a:p>
        </p:txBody>
      </p:sp>
      <p:sp>
        <p:nvSpPr>
          <p:cNvPr id="41" name="Rounded Rectangle 40"/>
          <p:cNvSpPr/>
          <p:nvPr/>
        </p:nvSpPr>
        <p:spPr>
          <a:xfrm>
            <a:off x="9180576" y="3438144"/>
            <a:ext cx="2596896" cy="1764792"/>
          </a:xfrm>
          <a:prstGeom prst="roundRect">
            <a:avLst/>
          </a:prstGeom>
          <a:solidFill>
            <a:srgbClr val="FFFFFF"/>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180576" y="3438144"/>
            <a:ext cx="109728" cy="1764792"/>
          </a:xfrm>
          <a:prstGeom prst="rect">
            <a:avLst/>
          </a:prstGeom>
          <a:solidFill>
            <a:srgbClr val="1EB8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36608" y="3657600"/>
            <a:ext cx="502920" cy="274320"/>
          </a:xfrm>
          <a:prstGeom prst="rect">
            <a:avLst/>
          </a:prstGeom>
          <a:noFill/>
        </p:spPr>
        <p:txBody>
          <a:bodyPr wrap="square" lIns="0" rIns="0" tIns="0" bIns="0" anchor="t">
            <a:spAutoFit/>
          </a:bodyPr>
          <a:lstStyle/>
          <a:p>
            <a:pPr algn="l">
              <a:spcAft>
                <a:spcPts val="0"/>
              </a:spcAft>
            </a:pPr>
            <a:r>
              <a:rPr sz="1200" b="1" i="0">
                <a:solidFill>
                  <a:srgbClr val="1EB8BC"/>
                </a:solidFill>
                <a:latin typeface="Aptos"/>
              </a:rPr>
              <a:t>M8</a:t>
            </a:r>
          </a:p>
        </p:txBody>
      </p:sp>
      <p:sp>
        <p:nvSpPr>
          <p:cNvPr id="44" name="TextBox 43"/>
          <p:cNvSpPr txBox="1"/>
          <p:nvPr/>
        </p:nvSpPr>
        <p:spPr>
          <a:xfrm>
            <a:off x="9948672" y="3611879"/>
            <a:ext cx="1536192" cy="365760"/>
          </a:xfrm>
          <a:prstGeom prst="rect">
            <a:avLst/>
          </a:prstGeom>
          <a:noFill/>
        </p:spPr>
        <p:txBody>
          <a:bodyPr wrap="square" lIns="0" rIns="0" tIns="0" bIns="0" anchor="t">
            <a:spAutoFit/>
          </a:bodyPr>
          <a:lstStyle/>
          <a:p>
            <a:pPr algn="l">
              <a:spcAft>
                <a:spcPts val="0"/>
              </a:spcAft>
            </a:pPr>
            <a:r>
              <a:rPr sz="1800" b="1" i="0">
                <a:solidFill>
                  <a:srgbClr val="0A2638"/>
                </a:solidFill>
                <a:latin typeface="Aptos"/>
              </a:rPr>
              <a:t>Hybrid fleet</a:t>
            </a:r>
          </a:p>
        </p:txBody>
      </p:sp>
      <p:sp>
        <p:nvSpPr>
          <p:cNvPr id="45" name="TextBox 44"/>
          <p:cNvSpPr txBox="1"/>
          <p:nvPr/>
        </p:nvSpPr>
        <p:spPr>
          <a:xfrm>
            <a:off x="9436608" y="4197096"/>
            <a:ext cx="2084831" cy="566928"/>
          </a:xfrm>
          <a:prstGeom prst="rect">
            <a:avLst/>
          </a:prstGeom>
          <a:noFill/>
        </p:spPr>
        <p:txBody>
          <a:bodyPr wrap="square" lIns="0" rIns="0" tIns="0" bIns="0" anchor="t">
            <a:spAutoFit/>
          </a:bodyPr>
          <a:lstStyle/>
          <a:p>
            <a:pPr algn="l">
              <a:spcAft>
                <a:spcPts val="0"/>
              </a:spcAft>
            </a:pPr>
            <a:r>
              <a:rPr sz="1400" b="0" i="0">
                <a:solidFill>
                  <a:srgbClr val="597181"/>
                </a:solidFill>
                <a:latin typeface="Aptos"/>
              </a:rPr>
              <a:t>Rendezvous + signed handoff</a:t>
            </a:r>
          </a:p>
        </p:txBody>
      </p:sp>
      <p:sp>
        <p:nvSpPr>
          <p:cNvPr id="46" name="Rounded Rectangle 45"/>
          <p:cNvSpPr/>
          <p:nvPr/>
        </p:nvSpPr>
        <p:spPr>
          <a:xfrm>
            <a:off x="594360" y="5715000"/>
            <a:ext cx="10972800" cy="512064"/>
          </a:xfrm>
          <a:prstGeom prst="roundRect">
            <a:avLst/>
          </a:prstGeom>
          <a:solidFill>
            <a:srgbClr val="061A27"/>
          </a:solidFill>
          <a:ln w="12700">
            <a:solidFill>
              <a:srgbClr val="061A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1248" y="5870448"/>
            <a:ext cx="960120" cy="182880"/>
          </a:xfrm>
          <a:prstGeom prst="rect">
            <a:avLst/>
          </a:prstGeom>
          <a:noFill/>
        </p:spPr>
        <p:txBody>
          <a:bodyPr wrap="square" lIns="0" rIns="0" tIns="0" bIns="0" anchor="t">
            <a:spAutoFit/>
          </a:bodyPr>
          <a:lstStyle/>
          <a:p>
            <a:pPr algn="l">
              <a:spcAft>
                <a:spcPts val="0"/>
              </a:spcAft>
            </a:pPr>
            <a:r>
              <a:rPr sz="1000" b="1" i="0">
                <a:solidFill>
                  <a:srgbClr val="1EB8BC"/>
                </a:solidFill>
                <a:latin typeface="Aptos"/>
              </a:rPr>
              <a:t>REAL LOGIC</a:t>
            </a:r>
          </a:p>
        </p:txBody>
      </p:sp>
      <p:sp>
        <p:nvSpPr>
          <p:cNvPr id="48" name="TextBox 47"/>
          <p:cNvSpPr txBox="1"/>
          <p:nvPr/>
        </p:nvSpPr>
        <p:spPr>
          <a:xfrm>
            <a:off x="1874519" y="5806440"/>
            <a:ext cx="9189720" cy="274320"/>
          </a:xfrm>
          <a:prstGeom prst="rect">
            <a:avLst/>
          </a:prstGeom>
          <a:noFill/>
        </p:spPr>
        <p:txBody>
          <a:bodyPr wrap="square" lIns="0" rIns="0" tIns="0" bIns="0" anchor="t">
            <a:spAutoFit/>
          </a:bodyPr>
          <a:lstStyle/>
          <a:p>
            <a:pPr algn="l">
              <a:spcAft>
                <a:spcPts val="0"/>
              </a:spcAft>
            </a:pPr>
            <a:r>
              <a:rPr sz="1350" b="1" i="0">
                <a:solidFill>
                  <a:srgbClr val="FFFFFF"/>
                </a:solidFill>
                <a:latin typeface="Aptos"/>
              </a:rPr>
              <a:t>Simulated weather and vehicles are labelled. Cryptography, storage, routing, and decisions are real code paths.</a:t>
            </a:r>
          </a:p>
        </p:txBody>
      </p:sp>
      <p:sp>
        <p:nvSpPr>
          <p:cNvPr id="49" name="TextBox 48"/>
          <p:cNvSpPr txBox="1"/>
          <p:nvPr/>
        </p:nvSpPr>
        <p:spPr>
          <a:xfrm>
            <a:off x="530352" y="6519672"/>
            <a:ext cx="2011680" cy="182880"/>
          </a:xfrm>
          <a:prstGeom prst="rect">
            <a:avLst/>
          </a:prstGeom>
          <a:noFill/>
        </p:spPr>
        <p:txBody>
          <a:bodyPr wrap="square" lIns="0" rIns="0" tIns="0" bIns="0" anchor="t">
            <a:spAutoFit/>
          </a:bodyPr>
          <a:lstStyle/>
          <a:p>
            <a:pPr algn="l">
              <a:spcAft>
                <a:spcPts val="0"/>
              </a:spcAft>
            </a:pPr>
            <a:r>
              <a:rPr sz="800" b="1" i="0">
                <a:solidFill>
                  <a:srgbClr val="597181"/>
                </a:solidFill>
                <a:latin typeface="Aptos"/>
              </a:rPr>
              <a:t>DIGITAL DELTA</a:t>
            </a:r>
          </a:p>
        </p:txBody>
      </p:sp>
      <p:sp>
        <p:nvSpPr>
          <p:cNvPr id="50" name="TextBox 49"/>
          <p:cNvSpPr txBox="1"/>
          <p:nvPr/>
        </p:nvSpPr>
        <p:spPr>
          <a:xfrm>
            <a:off x="11210544" y="6501384"/>
            <a:ext cx="411480" cy="201168"/>
          </a:xfrm>
          <a:prstGeom prst="rect">
            <a:avLst/>
          </a:prstGeom>
          <a:noFill/>
        </p:spPr>
        <p:txBody>
          <a:bodyPr wrap="square" lIns="0" rIns="0" tIns="0" bIns="0" anchor="t">
            <a:spAutoFit/>
          </a:bodyPr>
          <a:lstStyle/>
          <a:p>
            <a:pPr algn="r">
              <a:spcAft>
                <a:spcPts val="0"/>
              </a:spcAft>
            </a:pPr>
            <a:r>
              <a:rPr sz="900" b="1" i="0">
                <a:solidFill>
                  <a:srgbClr val="597181"/>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310896"/>
            <a:ext cx="475488" cy="310896"/>
          </a:xfrm>
          <a:prstGeom prst="rect">
            <a:avLst/>
          </a:prstGeom>
          <a:noFill/>
        </p:spPr>
        <p:txBody>
          <a:bodyPr wrap="square" lIns="0" rIns="0" tIns="0" bIns="0" anchor="t">
            <a:spAutoFit/>
          </a:bodyPr>
          <a:lstStyle/>
          <a:p>
            <a:pPr algn="l">
              <a:spcAft>
                <a:spcPts val="0"/>
              </a:spcAft>
            </a:pPr>
            <a:r>
              <a:rPr sz="1200" b="1" i="0">
                <a:solidFill>
                  <a:srgbClr val="087F8C"/>
                </a:solidFill>
                <a:latin typeface="Aptos"/>
              </a:rPr>
              <a:t>05</a:t>
            </a:r>
          </a:p>
        </p:txBody>
      </p:sp>
      <p:sp>
        <p:nvSpPr>
          <p:cNvPr id="3" name="TextBox 2"/>
          <p:cNvSpPr txBox="1"/>
          <p:nvPr/>
        </p:nvSpPr>
        <p:spPr>
          <a:xfrm>
            <a:off x="1024128" y="210312"/>
            <a:ext cx="10378440" cy="502920"/>
          </a:xfrm>
          <a:prstGeom prst="rect">
            <a:avLst/>
          </a:prstGeom>
          <a:noFill/>
        </p:spPr>
        <p:txBody>
          <a:bodyPr wrap="square" lIns="0" rIns="0" tIns="0" bIns="0" anchor="t">
            <a:spAutoFit/>
          </a:bodyPr>
          <a:lstStyle/>
          <a:p>
            <a:pPr algn="l">
              <a:spcAft>
                <a:spcPts val="0"/>
              </a:spcAft>
            </a:pPr>
            <a:r>
              <a:rPr sz="2700" b="1" i="0">
                <a:solidFill>
                  <a:srgbClr val="0A2638"/>
                </a:solidFill>
                <a:latin typeface="Aptos"/>
              </a:rPr>
              <a:t>One failure changes route and priority</a:t>
            </a:r>
          </a:p>
        </p:txBody>
      </p:sp>
      <p:sp>
        <p:nvSpPr>
          <p:cNvPr id="4" name="Rectangle 3"/>
          <p:cNvSpPr/>
          <p:nvPr/>
        </p:nvSpPr>
        <p:spPr>
          <a:xfrm>
            <a:off x="530352" y="841248"/>
            <a:ext cx="6217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8448" y="749808"/>
            <a:ext cx="9784080" cy="347472"/>
          </a:xfrm>
          <a:prstGeom prst="rect">
            <a:avLst/>
          </a:prstGeom>
          <a:noFill/>
        </p:spPr>
        <p:txBody>
          <a:bodyPr wrap="square" lIns="0" rIns="0" tIns="0" bIns="0" anchor="t">
            <a:spAutoFit/>
          </a:bodyPr>
          <a:lstStyle/>
          <a:p>
            <a:pPr algn="l">
              <a:spcAft>
                <a:spcPts val="0"/>
              </a:spcAft>
            </a:pPr>
            <a:r>
              <a:rPr sz="1200" b="0" i="0">
                <a:solidFill>
                  <a:srgbClr val="597181"/>
                </a:solidFill>
                <a:latin typeface="Aptos"/>
              </a:rPr>
              <a:t>A deterministic offline drill that judges can follow in seconds</a:t>
            </a:r>
          </a:p>
        </p:txBody>
      </p:sp>
      <p:sp>
        <p:nvSpPr>
          <p:cNvPr id="6" name="Rounded Rectangle 5"/>
          <p:cNvSpPr/>
          <p:nvPr/>
        </p:nvSpPr>
        <p:spPr>
          <a:xfrm>
            <a:off x="457200" y="1216152"/>
            <a:ext cx="1847088" cy="4517136"/>
          </a:xfrm>
          <a:prstGeom prst="roundRect">
            <a:avLst/>
          </a:prstGeom>
          <a:solidFill>
            <a:srgbClr val="FFFFFF"/>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Offline route screen showing simulated E3 failure and boat reroute" title="Offline route screen showing simulated E3 failure and boat reroute"/>
          <p:cNvPicPr>
            <a:picLocks noChangeAspect="1"/>
          </p:cNvPicPr>
          <p:nvPr/>
        </p:nvPicPr>
        <p:blipFill>
          <a:blip r:embed="rId2"/>
          <a:stretch>
            <a:fillRect/>
          </a:stretch>
        </p:blipFill>
        <p:spPr>
          <a:xfrm>
            <a:off x="530352" y="1568138"/>
            <a:ext cx="1700784" cy="3794874"/>
          </a:xfrm>
          <a:prstGeom prst="rect">
            <a:avLst/>
          </a:prstGeom>
        </p:spPr>
      </p:pic>
      <p:sp>
        <p:nvSpPr>
          <p:cNvPr id="8" name="Rounded Rectangle 7"/>
          <p:cNvSpPr/>
          <p:nvPr/>
        </p:nvSpPr>
        <p:spPr>
          <a:xfrm>
            <a:off x="2487168" y="1216152"/>
            <a:ext cx="1847088" cy="4517136"/>
          </a:xfrm>
          <a:prstGeom prst="roundRect">
            <a:avLst/>
          </a:prstGeom>
          <a:solidFill>
            <a:srgbClr val="FFFFFF"/>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riage screen showing predicted P0 SLA breach and proposed preemption" title="Triage screen showing predicted P0 SLA breach and proposed preemption"/>
          <p:cNvPicPr>
            <a:picLocks noChangeAspect="1"/>
          </p:cNvPicPr>
          <p:nvPr/>
        </p:nvPicPr>
        <p:blipFill>
          <a:blip r:embed="rId3"/>
          <a:stretch>
            <a:fillRect/>
          </a:stretch>
        </p:blipFill>
        <p:spPr>
          <a:xfrm>
            <a:off x="2560320" y="1568138"/>
            <a:ext cx="1700784" cy="3794874"/>
          </a:xfrm>
          <a:prstGeom prst="rect">
            <a:avLst/>
          </a:prstGeom>
        </p:spPr>
      </p:pic>
      <p:sp>
        <p:nvSpPr>
          <p:cNvPr id="10" name="Rounded Rectangle 9"/>
          <p:cNvSpPr/>
          <p:nvPr/>
        </p:nvSpPr>
        <p:spPr>
          <a:xfrm>
            <a:off x="4517136" y="1216152"/>
            <a:ext cx="1847088" cy="4517136"/>
          </a:xfrm>
          <a:prstGeom prst="roundRect">
            <a:avLst/>
          </a:prstGeom>
          <a:solidFill>
            <a:srgbClr val="FFFFFF"/>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riage screen showing coordinator-confirmed P2 deposit" title="Triage screen showing coordinator-confirmed P2 deposit"/>
          <p:cNvPicPr>
            <a:picLocks noChangeAspect="1"/>
          </p:cNvPicPr>
          <p:nvPr/>
        </p:nvPicPr>
        <p:blipFill>
          <a:blip r:embed="rId4"/>
          <a:stretch>
            <a:fillRect/>
          </a:stretch>
        </p:blipFill>
        <p:spPr>
          <a:xfrm>
            <a:off x="4590288" y="1568138"/>
            <a:ext cx="1700784" cy="3794874"/>
          </a:xfrm>
          <a:prstGeom prst="rect">
            <a:avLst/>
          </a:prstGeom>
        </p:spPr>
      </p:pic>
      <p:sp>
        <p:nvSpPr>
          <p:cNvPr id="12" name="Rounded Rectangle 11"/>
          <p:cNvSpPr/>
          <p:nvPr/>
        </p:nvSpPr>
        <p:spPr>
          <a:xfrm>
            <a:off x="6903720" y="1261872"/>
            <a:ext cx="4507992" cy="896112"/>
          </a:xfrm>
          <a:prstGeom prst="roundRect">
            <a:avLst/>
          </a:prstGeom>
          <a:solidFill>
            <a:srgbClr val="F4F8F9"/>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14032" y="1417319"/>
            <a:ext cx="402336" cy="256032"/>
          </a:xfrm>
          <a:prstGeom prst="rect">
            <a:avLst/>
          </a:prstGeom>
          <a:noFill/>
        </p:spPr>
        <p:txBody>
          <a:bodyPr wrap="square" lIns="0" rIns="0" tIns="0" bIns="0" anchor="t">
            <a:spAutoFit/>
          </a:bodyPr>
          <a:lstStyle/>
          <a:p>
            <a:pPr algn="l">
              <a:spcAft>
                <a:spcPts val="0"/>
              </a:spcAft>
            </a:pPr>
            <a:r>
              <a:rPr sz="1200" b="1" i="0">
                <a:solidFill>
                  <a:srgbClr val="EF5B5B"/>
                </a:solidFill>
                <a:latin typeface="Aptos"/>
              </a:rPr>
              <a:t>01</a:t>
            </a:r>
          </a:p>
        </p:txBody>
      </p:sp>
      <p:sp>
        <p:nvSpPr>
          <p:cNvPr id="14" name="TextBox 13"/>
          <p:cNvSpPr txBox="1"/>
          <p:nvPr/>
        </p:nvSpPr>
        <p:spPr>
          <a:xfrm>
            <a:off x="7635240" y="1371600"/>
            <a:ext cx="1508760" cy="310896"/>
          </a:xfrm>
          <a:prstGeom prst="rect">
            <a:avLst/>
          </a:prstGeom>
          <a:noFill/>
        </p:spPr>
        <p:txBody>
          <a:bodyPr wrap="square" lIns="0" rIns="0" tIns="0" bIns="0" anchor="t">
            <a:spAutoFit/>
          </a:bodyPr>
          <a:lstStyle/>
          <a:p>
            <a:pPr algn="l">
              <a:spcAft>
                <a:spcPts val="0"/>
              </a:spcAft>
            </a:pPr>
            <a:r>
              <a:rPr sz="1600" b="1" i="0">
                <a:solidFill>
                  <a:srgbClr val="0A2638"/>
                </a:solidFill>
                <a:latin typeface="Aptos"/>
              </a:rPr>
              <a:t>E3 fails</a:t>
            </a:r>
          </a:p>
        </p:txBody>
      </p:sp>
      <p:sp>
        <p:nvSpPr>
          <p:cNvPr id="15" name="TextBox 14"/>
          <p:cNvSpPr txBox="1"/>
          <p:nvPr/>
        </p:nvSpPr>
        <p:spPr>
          <a:xfrm>
            <a:off x="9144000" y="1417319"/>
            <a:ext cx="1920240" cy="274320"/>
          </a:xfrm>
          <a:prstGeom prst="rect">
            <a:avLst/>
          </a:prstGeom>
          <a:noFill/>
        </p:spPr>
        <p:txBody>
          <a:bodyPr wrap="square" lIns="0" rIns="0" tIns="0" bIns="0" anchor="t">
            <a:spAutoFit/>
          </a:bodyPr>
          <a:lstStyle/>
          <a:p>
            <a:pPr algn="l">
              <a:spcAft>
                <a:spcPts val="0"/>
              </a:spcAft>
            </a:pPr>
            <a:r>
              <a:rPr sz="1250" b="0" i="0">
                <a:solidFill>
                  <a:srgbClr val="597181"/>
                </a:solidFill>
                <a:latin typeface="Aptos"/>
              </a:rPr>
              <a:t>Truck path becomes invalid</a:t>
            </a:r>
          </a:p>
        </p:txBody>
      </p:sp>
      <p:sp>
        <p:nvSpPr>
          <p:cNvPr id="16" name="Rounded Rectangle 15"/>
          <p:cNvSpPr/>
          <p:nvPr/>
        </p:nvSpPr>
        <p:spPr>
          <a:xfrm>
            <a:off x="6903720" y="2404872"/>
            <a:ext cx="4507992" cy="896112"/>
          </a:xfrm>
          <a:prstGeom prst="roundRect">
            <a:avLst/>
          </a:prstGeom>
          <a:solidFill>
            <a:srgbClr val="F4F8F9"/>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14032" y="2560320"/>
            <a:ext cx="402336" cy="256032"/>
          </a:xfrm>
          <a:prstGeom prst="rect">
            <a:avLst/>
          </a:prstGeom>
          <a:noFill/>
        </p:spPr>
        <p:txBody>
          <a:bodyPr wrap="square" lIns="0" rIns="0" tIns="0" bIns="0" anchor="t">
            <a:spAutoFit/>
          </a:bodyPr>
          <a:lstStyle/>
          <a:p>
            <a:pPr algn="l">
              <a:spcAft>
                <a:spcPts val="0"/>
              </a:spcAft>
            </a:pPr>
            <a:r>
              <a:rPr sz="1200" b="1" i="0">
                <a:solidFill>
                  <a:srgbClr val="087F8C"/>
                </a:solidFill>
                <a:latin typeface="Aptos"/>
              </a:rPr>
              <a:t>02</a:t>
            </a:r>
          </a:p>
        </p:txBody>
      </p:sp>
      <p:sp>
        <p:nvSpPr>
          <p:cNvPr id="18" name="TextBox 17"/>
          <p:cNvSpPr txBox="1"/>
          <p:nvPr/>
        </p:nvSpPr>
        <p:spPr>
          <a:xfrm>
            <a:off x="7635240" y="2514600"/>
            <a:ext cx="1508760" cy="310896"/>
          </a:xfrm>
          <a:prstGeom prst="rect">
            <a:avLst/>
          </a:prstGeom>
          <a:noFill/>
        </p:spPr>
        <p:txBody>
          <a:bodyPr wrap="square" lIns="0" rIns="0" tIns="0" bIns="0" anchor="t">
            <a:spAutoFit/>
          </a:bodyPr>
          <a:lstStyle/>
          <a:p>
            <a:pPr algn="l">
              <a:spcAft>
                <a:spcPts val="0"/>
              </a:spcAft>
            </a:pPr>
            <a:r>
              <a:rPr sz="1600" b="1" i="0">
                <a:solidFill>
                  <a:srgbClr val="0A2638"/>
                </a:solidFill>
                <a:latin typeface="Aptos"/>
              </a:rPr>
              <a:t>Boat selected</a:t>
            </a:r>
          </a:p>
        </p:txBody>
      </p:sp>
      <p:sp>
        <p:nvSpPr>
          <p:cNvPr id="19" name="TextBox 18"/>
          <p:cNvSpPr txBox="1"/>
          <p:nvPr/>
        </p:nvSpPr>
        <p:spPr>
          <a:xfrm>
            <a:off x="9144000" y="2560320"/>
            <a:ext cx="1920240" cy="274320"/>
          </a:xfrm>
          <a:prstGeom prst="rect">
            <a:avLst/>
          </a:prstGeom>
          <a:noFill/>
        </p:spPr>
        <p:txBody>
          <a:bodyPr wrap="square" lIns="0" rIns="0" tIns="0" bIns="0" anchor="t">
            <a:spAutoFit/>
          </a:bodyPr>
          <a:lstStyle/>
          <a:p>
            <a:pPr algn="l">
              <a:spcAft>
                <a:spcPts val="0"/>
              </a:spcAft>
            </a:pPr>
            <a:r>
              <a:rPr sz="1250" b="0" i="0">
                <a:solidFill>
                  <a:srgbClr val="597181"/>
                </a:solidFill>
                <a:latin typeface="Aptos"/>
              </a:rPr>
              <a:t>E6 + E7, ETA 200 min</a:t>
            </a:r>
          </a:p>
        </p:txBody>
      </p:sp>
      <p:sp>
        <p:nvSpPr>
          <p:cNvPr id="20" name="Rounded Rectangle 19"/>
          <p:cNvSpPr/>
          <p:nvPr/>
        </p:nvSpPr>
        <p:spPr>
          <a:xfrm>
            <a:off x="6903720" y="3547872"/>
            <a:ext cx="4507992" cy="896112"/>
          </a:xfrm>
          <a:prstGeom prst="roundRect">
            <a:avLst/>
          </a:prstGeom>
          <a:solidFill>
            <a:srgbClr val="F4F8F9"/>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14032" y="3703320"/>
            <a:ext cx="402336" cy="256032"/>
          </a:xfrm>
          <a:prstGeom prst="rect">
            <a:avLst/>
          </a:prstGeom>
          <a:noFill/>
        </p:spPr>
        <p:txBody>
          <a:bodyPr wrap="square" lIns="0" rIns="0" tIns="0" bIns="0" anchor="t">
            <a:spAutoFit/>
          </a:bodyPr>
          <a:lstStyle/>
          <a:p>
            <a:pPr algn="l">
              <a:spcAft>
                <a:spcPts val="0"/>
              </a:spcAft>
            </a:pPr>
            <a:r>
              <a:rPr sz="1200" b="1" i="0">
                <a:solidFill>
                  <a:srgbClr val="E9A928"/>
                </a:solidFill>
                <a:latin typeface="Aptos"/>
              </a:rPr>
              <a:t>03</a:t>
            </a:r>
          </a:p>
        </p:txBody>
      </p:sp>
      <p:sp>
        <p:nvSpPr>
          <p:cNvPr id="22" name="TextBox 21"/>
          <p:cNvSpPr txBox="1"/>
          <p:nvPr/>
        </p:nvSpPr>
        <p:spPr>
          <a:xfrm>
            <a:off x="7635240" y="3657600"/>
            <a:ext cx="1508760" cy="310896"/>
          </a:xfrm>
          <a:prstGeom prst="rect">
            <a:avLst/>
          </a:prstGeom>
          <a:noFill/>
        </p:spPr>
        <p:txBody>
          <a:bodyPr wrap="square" lIns="0" rIns="0" tIns="0" bIns="0" anchor="t">
            <a:spAutoFit/>
          </a:bodyPr>
          <a:lstStyle/>
          <a:p>
            <a:pPr algn="l">
              <a:spcAft>
                <a:spcPts val="0"/>
              </a:spcAft>
            </a:pPr>
            <a:r>
              <a:rPr sz="1600" b="1" i="0">
                <a:solidFill>
                  <a:srgbClr val="0A2638"/>
                </a:solidFill>
                <a:latin typeface="Aptos"/>
              </a:rPr>
              <a:t>P0 warning</a:t>
            </a:r>
          </a:p>
        </p:txBody>
      </p:sp>
      <p:sp>
        <p:nvSpPr>
          <p:cNvPr id="23" name="TextBox 22"/>
          <p:cNvSpPr txBox="1"/>
          <p:nvPr/>
        </p:nvSpPr>
        <p:spPr>
          <a:xfrm>
            <a:off x="9144000" y="3703320"/>
            <a:ext cx="1920240" cy="274320"/>
          </a:xfrm>
          <a:prstGeom prst="rect">
            <a:avLst/>
          </a:prstGeom>
          <a:noFill/>
        </p:spPr>
        <p:txBody>
          <a:bodyPr wrap="square" lIns="0" rIns="0" tIns="0" bIns="0" anchor="t">
            <a:spAutoFit/>
          </a:bodyPr>
          <a:lstStyle/>
          <a:p>
            <a:pPr algn="l">
              <a:spcAft>
                <a:spcPts val="0"/>
              </a:spcAft>
            </a:pPr>
            <a:r>
              <a:rPr sz="1250" b="0" i="0">
                <a:solidFill>
                  <a:srgbClr val="597181"/>
                </a:solidFill>
                <a:latin typeface="Aptos"/>
              </a:rPr>
              <a:t>30% slowdown breaches SLA</a:t>
            </a:r>
          </a:p>
        </p:txBody>
      </p:sp>
      <p:sp>
        <p:nvSpPr>
          <p:cNvPr id="24" name="Rounded Rectangle 23"/>
          <p:cNvSpPr/>
          <p:nvPr/>
        </p:nvSpPr>
        <p:spPr>
          <a:xfrm>
            <a:off x="6903720" y="4690872"/>
            <a:ext cx="4507992" cy="896112"/>
          </a:xfrm>
          <a:prstGeom prst="roundRect">
            <a:avLst/>
          </a:prstGeom>
          <a:solidFill>
            <a:srgbClr val="F4F8F9"/>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14032" y="4846320"/>
            <a:ext cx="402336" cy="256032"/>
          </a:xfrm>
          <a:prstGeom prst="rect">
            <a:avLst/>
          </a:prstGeom>
          <a:noFill/>
        </p:spPr>
        <p:txBody>
          <a:bodyPr wrap="square" lIns="0" rIns="0" tIns="0" bIns="0" anchor="t">
            <a:spAutoFit/>
          </a:bodyPr>
          <a:lstStyle/>
          <a:p>
            <a:pPr algn="l">
              <a:spcAft>
                <a:spcPts val="0"/>
              </a:spcAft>
            </a:pPr>
            <a:r>
              <a:rPr sz="1200" b="1" i="0">
                <a:solidFill>
                  <a:srgbClr val="2E9D72"/>
                </a:solidFill>
                <a:latin typeface="Aptos"/>
              </a:rPr>
              <a:t>04</a:t>
            </a:r>
          </a:p>
        </p:txBody>
      </p:sp>
      <p:sp>
        <p:nvSpPr>
          <p:cNvPr id="26" name="TextBox 25"/>
          <p:cNvSpPr txBox="1"/>
          <p:nvPr/>
        </p:nvSpPr>
        <p:spPr>
          <a:xfrm>
            <a:off x="7635240" y="4800600"/>
            <a:ext cx="1508760" cy="310896"/>
          </a:xfrm>
          <a:prstGeom prst="rect">
            <a:avLst/>
          </a:prstGeom>
          <a:noFill/>
        </p:spPr>
        <p:txBody>
          <a:bodyPr wrap="square" lIns="0" rIns="0" tIns="0" bIns="0" anchor="t">
            <a:spAutoFit/>
          </a:bodyPr>
          <a:lstStyle/>
          <a:p>
            <a:pPr algn="l">
              <a:spcAft>
                <a:spcPts val="0"/>
              </a:spcAft>
            </a:pPr>
            <a:r>
              <a:rPr sz="1600" b="1" i="0">
                <a:solidFill>
                  <a:srgbClr val="0A2638"/>
                </a:solidFill>
                <a:latin typeface="Aptos"/>
              </a:rPr>
              <a:t>Human confirms</a:t>
            </a:r>
          </a:p>
        </p:txBody>
      </p:sp>
      <p:sp>
        <p:nvSpPr>
          <p:cNvPr id="27" name="TextBox 26"/>
          <p:cNvSpPr txBox="1"/>
          <p:nvPr/>
        </p:nvSpPr>
        <p:spPr>
          <a:xfrm>
            <a:off x="9144000" y="4846320"/>
            <a:ext cx="1920240" cy="274320"/>
          </a:xfrm>
          <a:prstGeom prst="rect">
            <a:avLst/>
          </a:prstGeom>
          <a:noFill/>
        </p:spPr>
        <p:txBody>
          <a:bodyPr wrap="square" lIns="0" rIns="0" tIns="0" bIns="0" anchor="t">
            <a:spAutoFit/>
          </a:bodyPr>
          <a:lstStyle/>
          <a:p>
            <a:pPr algn="l">
              <a:spcAft>
                <a:spcPts val="0"/>
              </a:spcAft>
            </a:pPr>
            <a:r>
              <a:rPr sz="1250" b="0" i="0">
                <a:solidFill>
                  <a:srgbClr val="597181"/>
                </a:solidFill>
                <a:latin typeface="Aptos"/>
              </a:rPr>
              <a:t>P2 deposit at N3</a:t>
            </a:r>
          </a:p>
        </p:txBody>
      </p:sp>
      <p:sp>
        <p:nvSpPr>
          <p:cNvPr id="28" name="Rounded Rectangle 27"/>
          <p:cNvSpPr/>
          <p:nvPr/>
        </p:nvSpPr>
        <p:spPr>
          <a:xfrm>
            <a:off x="6903720" y="5888736"/>
            <a:ext cx="4507992" cy="384048"/>
          </a:xfrm>
          <a:prstGeom prst="roundRect">
            <a:avLst/>
          </a:prstGeom>
          <a:solidFill>
            <a:srgbClr val="E5F1F2"/>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86600" y="5989320"/>
            <a:ext cx="4142232" cy="164592"/>
          </a:xfrm>
          <a:prstGeom prst="rect">
            <a:avLst/>
          </a:prstGeom>
          <a:noFill/>
        </p:spPr>
        <p:txBody>
          <a:bodyPr wrap="square" lIns="0" rIns="0" tIns="0" bIns="0" anchor="t">
            <a:spAutoFit/>
          </a:bodyPr>
          <a:lstStyle/>
          <a:p>
            <a:pPr algn="ctr">
              <a:spcAft>
                <a:spcPts val="0"/>
              </a:spcAft>
            </a:pPr>
            <a:r>
              <a:rPr sz="950" b="1" i="0">
                <a:solidFill>
                  <a:srgbClr val="087F8C"/>
                </a:solidFill>
                <a:latin typeface="Aptos"/>
              </a:rPr>
              <a:t>SIMULATED FAILURE  •  REAL ROUTE + TRIAGE</a:t>
            </a:r>
          </a:p>
        </p:txBody>
      </p:sp>
      <p:sp>
        <p:nvSpPr>
          <p:cNvPr id="30" name="TextBox 29"/>
          <p:cNvSpPr txBox="1"/>
          <p:nvPr/>
        </p:nvSpPr>
        <p:spPr>
          <a:xfrm>
            <a:off x="530352" y="6519672"/>
            <a:ext cx="2011680" cy="182880"/>
          </a:xfrm>
          <a:prstGeom prst="rect">
            <a:avLst/>
          </a:prstGeom>
          <a:noFill/>
        </p:spPr>
        <p:txBody>
          <a:bodyPr wrap="square" lIns="0" rIns="0" tIns="0" bIns="0" anchor="t">
            <a:spAutoFit/>
          </a:bodyPr>
          <a:lstStyle/>
          <a:p>
            <a:pPr algn="l">
              <a:spcAft>
                <a:spcPts val="0"/>
              </a:spcAft>
            </a:pPr>
            <a:r>
              <a:rPr sz="800" b="1" i="0">
                <a:solidFill>
                  <a:srgbClr val="597181"/>
                </a:solidFill>
                <a:latin typeface="Aptos"/>
              </a:rPr>
              <a:t>DIGITAL DELTA</a:t>
            </a:r>
          </a:p>
        </p:txBody>
      </p:sp>
      <p:sp>
        <p:nvSpPr>
          <p:cNvPr id="31" name="TextBox 30"/>
          <p:cNvSpPr txBox="1"/>
          <p:nvPr/>
        </p:nvSpPr>
        <p:spPr>
          <a:xfrm>
            <a:off x="11210544" y="6501384"/>
            <a:ext cx="411480" cy="201168"/>
          </a:xfrm>
          <a:prstGeom prst="rect">
            <a:avLst/>
          </a:prstGeom>
          <a:noFill/>
        </p:spPr>
        <p:txBody>
          <a:bodyPr wrap="square" lIns="0" rIns="0" tIns="0" bIns="0" anchor="t">
            <a:spAutoFit/>
          </a:bodyPr>
          <a:lstStyle/>
          <a:p>
            <a:pPr algn="r">
              <a:spcAft>
                <a:spcPts val="0"/>
              </a:spcAft>
            </a:pPr>
            <a:r>
              <a:rPr sz="900" b="1" i="0">
                <a:solidFill>
                  <a:srgbClr val="597181"/>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310896"/>
            <a:ext cx="475488" cy="310896"/>
          </a:xfrm>
          <a:prstGeom prst="rect">
            <a:avLst/>
          </a:prstGeom>
          <a:noFill/>
        </p:spPr>
        <p:txBody>
          <a:bodyPr wrap="square" lIns="0" rIns="0" tIns="0" bIns="0" anchor="t">
            <a:spAutoFit/>
          </a:bodyPr>
          <a:lstStyle/>
          <a:p>
            <a:pPr algn="l">
              <a:spcAft>
                <a:spcPts val="0"/>
              </a:spcAft>
            </a:pPr>
            <a:r>
              <a:rPr sz="1200" b="1" i="0">
                <a:solidFill>
                  <a:srgbClr val="087F8C"/>
                </a:solidFill>
                <a:latin typeface="Aptos"/>
              </a:rPr>
              <a:t>06</a:t>
            </a:r>
          </a:p>
        </p:txBody>
      </p:sp>
      <p:sp>
        <p:nvSpPr>
          <p:cNvPr id="3" name="TextBox 2"/>
          <p:cNvSpPr txBox="1"/>
          <p:nvPr/>
        </p:nvSpPr>
        <p:spPr>
          <a:xfrm>
            <a:off x="1024128" y="210312"/>
            <a:ext cx="10378440" cy="502920"/>
          </a:xfrm>
          <a:prstGeom prst="rect">
            <a:avLst/>
          </a:prstGeom>
          <a:noFill/>
        </p:spPr>
        <p:txBody>
          <a:bodyPr wrap="square" lIns="0" rIns="0" tIns="0" bIns="0" anchor="t">
            <a:spAutoFit/>
          </a:bodyPr>
          <a:lstStyle/>
          <a:p>
            <a:pPr algn="l">
              <a:spcAft>
                <a:spcPts val="0"/>
              </a:spcAft>
            </a:pPr>
            <a:r>
              <a:rPr sz="2700" b="1" i="0">
                <a:solidFill>
                  <a:srgbClr val="0A2638"/>
                </a:solidFill>
                <a:latin typeface="Aptos"/>
              </a:rPr>
              <a:t>Trust is verified at every handoff</a:t>
            </a:r>
          </a:p>
        </p:txBody>
      </p:sp>
      <p:sp>
        <p:nvSpPr>
          <p:cNvPr id="4" name="Rectangle 3"/>
          <p:cNvSpPr/>
          <p:nvPr/>
        </p:nvSpPr>
        <p:spPr>
          <a:xfrm>
            <a:off x="530352" y="841248"/>
            <a:ext cx="6217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8448" y="749808"/>
            <a:ext cx="9784080" cy="347472"/>
          </a:xfrm>
          <a:prstGeom prst="rect">
            <a:avLst/>
          </a:prstGeom>
          <a:noFill/>
        </p:spPr>
        <p:txBody>
          <a:bodyPr wrap="square" lIns="0" rIns="0" tIns="0" bIns="0" anchor="t">
            <a:spAutoFit/>
          </a:bodyPr>
          <a:lstStyle/>
          <a:p>
            <a:pPr algn="l">
              <a:spcAft>
                <a:spcPts val="0"/>
              </a:spcAft>
            </a:pPr>
            <a:r>
              <a:rPr sz="1200" b="0" i="0">
                <a:solidFill>
                  <a:srgbClr val="597181"/>
                </a:solidFill>
                <a:latin typeface="Aptos"/>
              </a:rPr>
              <a:t>The relay can carry the envelope but cannot read its contents</a:t>
            </a:r>
          </a:p>
        </p:txBody>
      </p:sp>
      <p:pic>
        <p:nvPicPr>
          <p:cNvPr id="6" name="Picture 5" descr="Proof-of-delivery screen showing the first signed handoff accepted" title="Proof-of-delivery screen showing the first signed handoff accepted"/>
          <p:cNvPicPr>
            <a:picLocks noChangeAspect="1"/>
          </p:cNvPicPr>
          <p:nvPr/>
        </p:nvPicPr>
        <p:blipFill>
          <a:blip r:embed="rId2"/>
          <a:stretch>
            <a:fillRect/>
          </a:stretch>
        </p:blipFill>
        <p:spPr>
          <a:xfrm>
            <a:off x="521183" y="1216152"/>
            <a:ext cx="2020872" cy="4498848"/>
          </a:xfrm>
          <a:prstGeom prst="rect">
            <a:avLst/>
          </a:prstGeom>
        </p:spPr>
      </p:pic>
      <p:pic>
        <p:nvPicPr>
          <p:cNvPr id="7" name="Picture 6" descr="Proof-of-delivery screen showing replayed nonce rejection" title="Proof-of-delivery screen showing replayed nonce rejection"/>
          <p:cNvPicPr>
            <a:picLocks noChangeAspect="1"/>
          </p:cNvPicPr>
          <p:nvPr/>
        </p:nvPicPr>
        <p:blipFill>
          <a:blip r:embed="rId3"/>
          <a:stretch>
            <a:fillRect/>
          </a:stretch>
        </p:blipFill>
        <p:spPr>
          <a:xfrm>
            <a:off x="2734031" y="1216152"/>
            <a:ext cx="2020872" cy="4498848"/>
          </a:xfrm>
          <a:prstGeom prst="rect">
            <a:avLst/>
          </a:prstGeom>
        </p:spPr>
      </p:pic>
      <p:sp>
        <p:nvSpPr>
          <p:cNvPr id="8" name="TextBox 7"/>
          <p:cNvSpPr txBox="1"/>
          <p:nvPr/>
        </p:nvSpPr>
        <p:spPr>
          <a:xfrm>
            <a:off x="5230368" y="1261872"/>
            <a:ext cx="2011680" cy="310896"/>
          </a:xfrm>
          <a:prstGeom prst="rect">
            <a:avLst/>
          </a:prstGeom>
          <a:noFill/>
        </p:spPr>
        <p:txBody>
          <a:bodyPr wrap="square" lIns="0" rIns="0" tIns="0" bIns="0" anchor="t">
            <a:spAutoFit/>
          </a:bodyPr>
          <a:lstStyle/>
          <a:p>
            <a:pPr algn="l">
              <a:spcAft>
                <a:spcPts val="0"/>
              </a:spcAft>
            </a:pPr>
            <a:r>
              <a:rPr sz="1800" b="1" i="0">
                <a:solidFill>
                  <a:srgbClr val="0A2638"/>
                </a:solidFill>
                <a:latin typeface="Aptos"/>
              </a:rPr>
              <a:t>Security path</a:t>
            </a:r>
          </a:p>
        </p:txBody>
      </p:sp>
      <p:sp>
        <p:nvSpPr>
          <p:cNvPr id="9" name="TextBox 8"/>
          <p:cNvSpPr txBox="1"/>
          <p:nvPr/>
        </p:nvSpPr>
        <p:spPr>
          <a:xfrm>
            <a:off x="5230368" y="1737360"/>
            <a:ext cx="3017520" cy="3154680"/>
          </a:xfrm>
          <a:prstGeom prst="rect">
            <a:avLst/>
          </a:prstGeom>
          <a:noFill/>
        </p:spPr>
        <p:txBody>
          <a:bodyPr wrap="square" lIns="0" rIns="0" tIns="0" bIns="0">
            <a:spAutoFit/>
          </a:bodyPr>
          <a:lstStyle/>
          <a:p>
            <a:pPr>
              <a:spcAft>
                <a:spcPts val="1000"/>
              </a:spcAft>
            </a:pPr>
            <a:r>
              <a:rPr sz="1450">
                <a:solidFill>
                  <a:srgbClr val="0A2638"/>
                </a:solidFill>
                <a:latin typeface="Aptos"/>
              </a:rPr>
              <a:t>•  Administrator-signed role credentials</a:t>
            </a:r>
          </a:p>
          <a:p>
            <a:pPr>
              <a:spcAft>
                <a:spcPts val="1000"/>
              </a:spcAft>
            </a:pPr>
            <a:r>
              <a:rPr sz="1450">
                <a:solidFill>
                  <a:srgbClr val="0A2638"/>
                </a:solidFill>
                <a:latin typeface="Aptos"/>
              </a:rPr>
              <a:t>•  Fresh peer challenge + RSA-PSS proof</a:t>
            </a:r>
          </a:p>
          <a:p>
            <a:pPr>
              <a:spcAft>
                <a:spcPts val="1000"/>
              </a:spcAft>
            </a:pPr>
            <a:r>
              <a:rPr sz="1450">
                <a:solidFill>
                  <a:srgbClr val="0A2638"/>
                </a:solidFill>
                <a:latin typeface="Aptos"/>
              </a:rPr>
              <a:t>•  RSA-OAEP wrapped AES-256-GCM payload</a:t>
            </a:r>
          </a:p>
          <a:p>
            <a:pPr>
              <a:spcAft>
                <a:spcPts val="1000"/>
              </a:spcAft>
            </a:pPr>
            <a:r>
              <a:rPr sz="1450">
                <a:solidFill>
                  <a:srgbClr val="0A2638"/>
                </a:solidFill>
                <a:latin typeface="Aptos"/>
              </a:rPr>
              <a:t>•  Atomic nonce claim + linked receipt hash</a:t>
            </a:r>
          </a:p>
          <a:p>
            <a:pPr>
              <a:spcAft>
                <a:spcPts val="1000"/>
              </a:spcAft>
            </a:pPr>
            <a:r>
              <a:rPr sz="1450">
                <a:solidFill>
                  <a:srgbClr val="0A2638"/>
                </a:solidFill>
                <a:latin typeface="Aptos"/>
              </a:rPr>
              <a:t>•  Signed durable acknowledgements</a:t>
            </a:r>
          </a:p>
        </p:txBody>
      </p:sp>
      <p:sp>
        <p:nvSpPr>
          <p:cNvPr id="10" name="Rounded Rectangle 9"/>
          <p:cNvSpPr/>
          <p:nvPr/>
        </p:nvSpPr>
        <p:spPr>
          <a:xfrm>
            <a:off x="8549640" y="1298448"/>
            <a:ext cx="2697480" cy="932688"/>
          </a:xfrm>
          <a:prstGeom prst="roundRect">
            <a:avLst/>
          </a:prstGeom>
          <a:solidFill>
            <a:srgbClr val="EAF1F6"/>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95944" y="1399032"/>
            <a:ext cx="2404872" cy="393192"/>
          </a:xfrm>
          <a:prstGeom prst="rect">
            <a:avLst/>
          </a:prstGeom>
          <a:noFill/>
        </p:spPr>
        <p:txBody>
          <a:bodyPr wrap="square" lIns="0" rIns="0" tIns="0" bIns="0" anchor="t">
            <a:spAutoFit/>
          </a:bodyPr>
          <a:lstStyle/>
          <a:p>
            <a:pPr algn="l">
              <a:spcAft>
                <a:spcPts val="0"/>
              </a:spcAft>
            </a:pPr>
            <a:r>
              <a:rPr sz="2400" b="1" i="0">
                <a:solidFill>
                  <a:srgbClr val="087F8C"/>
                </a:solidFill>
                <a:latin typeface="Aptos"/>
              </a:rPr>
              <a:t>60</a:t>
            </a:r>
          </a:p>
        </p:txBody>
      </p:sp>
      <p:sp>
        <p:nvSpPr>
          <p:cNvPr id="12" name="TextBox 11"/>
          <p:cNvSpPr txBox="1"/>
          <p:nvPr/>
        </p:nvSpPr>
        <p:spPr>
          <a:xfrm>
            <a:off x="8695944" y="1837943"/>
            <a:ext cx="2404872" cy="228600"/>
          </a:xfrm>
          <a:prstGeom prst="rect">
            <a:avLst/>
          </a:prstGeom>
          <a:noFill/>
        </p:spPr>
        <p:txBody>
          <a:bodyPr wrap="square" lIns="0" rIns="0" tIns="0" bIns="0" anchor="t">
            <a:spAutoFit/>
          </a:bodyPr>
          <a:lstStyle/>
          <a:p>
            <a:pPr algn="l">
              <a:spcAft>
                <a:spcPts val="0"/>
              </a:spcAft>
            </a:pPr>
            <a:r>
              <a:rPr sz="1050" b="1" i="0">
                <a:solidFill>
                  <a:srgbClr val="597181"/>
                </a:solidFill>
                <a:latin typeface="Aptos"/>
              </a:rPr>
              <a:t>connected Android journeys in the current suite</a:t>
            </a:r>
          </a:p>
        </p:txBody>
      </p:sp>
      <p:sp>
        <p:nvSpPr>
          <p:cNvPr id="13" name="Rounded Rectangle 12"/>
          <p:cNvSpPr/>
          <p:nvPr/>
        </p:nvSpPr>
        <p:spPr>
          <a:xfrm>
            <a:off x="8549640" y="2468880"/>
            <a:ext cx="2697480" cy="932688"/>
          </a:xfrm>
          <a:prstGeom prst="roundRect">
            <a:avLst/>
          </a:prstGeom>
          <a:solidFill>
            <a:srgbClr val="EAF1F6"/>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95944" y="2569464"/>
            <a:ext cx="2404872" cy="393192"/>
          </a:xfrm>
          <a:prstGeom prst="rect">
            <a:avLst/>
          </a:prstGeom>
          <a:noFill/>
        </p:spPr>
        <p:txBody>
          <a:bodyPr wrap="square" lIns="0" rIns="0" tIns="0" bIns="0" anchor="t">
            <a:spAutoFit/>
          </a:bodyPr>
          <a:lstStyle/>
          <a:p>
            <a:pPr algn="l">
              <a:spcAft>
                <a:spcPts val="0"/>
              </a:spcAft>
            </a:pPr>
            <a:r>
              <a:rPr sz="2400" b="1" i="0">
                <a:solidFill>
                  <a:srgbClr val="087F8C"/>
                </a:solidFill>
                <a:latin typeface="Aptos"/>
              </a:rPr>
              <a:t>10,000</a:t>
            </a:r>
          </a:p>
        </p:txBody>
      </p:sp>
      <p:sp>
        <p:nvSpPr>
          <p:cNvPr id="15" name="TextBox 14"/>
          <p:cNvSpPr txBox="1"/>
          <p:nvPr/>
        </p:nvSpPr>
        <p:spPr>
          <a:xfrm>
            <a:off x="8695944" y="3008376"/>
            <a:ext cx="2404872" cy="228600"/>
          </a:xfrm>
          <a:prstGeom prst="rect">
            <a:avLst/>
          </a:prstGeom>
          <a:noFill/>
        </p:spPr>
        <p:txBody>
          <a:bodyPr wrap="square" lIns="0" rIns="0" tIns="0" bIns="0" anchor="t">
            <a:spAutoFit/>
          </a:bodyPr>
          <a:lstStyle/>
          <a:p>
            <a:pPr algn="l">
              <a:spcAft>
                <a:spcPts val="0"/>
              </a:spcAft>
            </a:pPr>
            <a:r>
              <a:rPr sz="1050" b="1" i="0">
                <a:solidFill>
                  <a:srgbClr val="597181"/>
                </a:solidFill>
                <a:latin typeface="Aptos"/>
              </a:rPr>
              <a:t>gRPC streams durably acknowledged in the load run</a:t>
            </a:r>
          </a:p>
        </p:txBody>
      </p:sp>
      <p:sp>
        <p:nvSpPr>
          <p:cNvPr id="16" name="Rounded Rectangle 15"/>
          <p:cNvSpPr/>
          <p:nvPr/>
        </p:nvSpPr>
        <p:spPr>
          <a:xfrm>
            <a:off x="8549640" y="3639312"/>
            <a:ext cx="2697480" cy="932688"/>
          </a:xfrm>
          <a:prstGeom prst="roundRect">
            <a:avLst/>
          </a:prstGeom>
          <a:solidFill>
            <a:srgbClr val="EAF1F6"/>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95944" y="3739896"/>
            <a:ext cx="2404872" cy="393192"/>
          </a:xfrm>
          <a:prstGeom prst="rect">
            <a:avLst/>
          </a:prstGeom>
          <a:noFill/>
        </p:spPr>
        <p:txBody>
          <a:bodyPr wrap="square" lIns="0" rIns="0" tIns="0" bIns="0" anchor="t">
            <a:spAutoFit/>
          </a:bodyPr>
          <a:lstStyle/>
          <a:p>
            <a:pPr algn="l">
              <a:spcAft>
                <a:spcPts val="0"/>
              </a:spcAft>
            </a:pPr>
            <a:r>
              <a:rPr sz="2400" b="1" i="0">
                <a:solidFill>
                  <a:srgbClr val="087F8C"/>
                </a:solidFill>
                <a:latin typeface="Aptos"/>
              </a:rPr>
              <a:t>17</a:t>
            </a:r>
          </a:p>
        </p:txBody>
      </p:sp>
      <p:sp>
        <p:nvSpPr>
          <p:cNvPr id="18" name="TextBox 17"/>
          <p:cNvSpPr txBox="1"/>
          <p:nvPr/>
        </p:nvSpPr>
        <p:spPr>
          <a:xfrm>
            <a:off x="8695944" y="4178808"/>
            <a:ext cx="2404872" cy="228600"/>
          </a:xfrm>
          <a:prstGeom prst="rect">
            <a:avLst/>
          </a:prstGeom>
          <a:noFill/>
        </p:spPr>
        <p:txBody>
          <a:bodyPr wrap="square" lIns="0" rIns="0" tIns="0" bIns="0" anchor="t">
            <a:spAutoFit/>
          </a:bodyPr>
          <a:lstStyle/>
          <a:p>
            <a:pPr algn="l">
              <a:spcAft>
                <a:spcPts val="0"/>
              </a:spcAft>
            </a:pPr>
            <a:r>
              <a:rPr sz="1050" b="1" i="0">
                <a:solidFill>
                  <a:srgbClr val="597181"/>
                </a:solidFill>
                <a:latin typeface="Aptos"/>
              </a:rPr>
              <a:t>headquarters tests plus production build</a:t>
            </a:r>
          </a:p>
        </p:txBody>
      </p:sp>
      <p:sp>
        <p:nvSpPr>
          <p:cNvPr id="19" name="Rounded Rectangle 18"/>
          <p:cNvSpPr/>
          <p:nvPr/>
        </p:nvSpPr>
        <p:spPr>
          <a:xfrm>
            <a:off x="5230368" y="5184648"/>
            <a:ext cx="6016752" cy="658368"/>
          </a:xfrm>
          <a:prstGeom prst="roundRect">
            <a:avLst/>
          </a:prstGeom>
          <a:solidFill>
            <a:srgbClr val="FFF3E3"/>
          </a:solidFill>
          <a:ln w="12700">
            <a:solidFill>
              <a:srgbClr val="E9A9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40680" y="5367528"/>
            <a:ext cx="1024128" cy="201168"/>
          </a:xfrm>
          <a:prstGeom prst="rect">
            <a:avLst/>
          </a:prstGeom>
          <a:noFill/>
        </p:spPr>
        <p:txBody>
          <a:bodyPr wrap="square" lIns="0" rIns="0" tIns="0" bIns="0" anchor="t">
            <a:spAutoFit/>
          </a:bodyPr>
          <a:lstStyle/>
          <a:p>
            <a:pPr algn="l">
              <a:spcAft>
                <a:spcPts val="0"/>
              </a:spcAft>
            </a:pPr>
            <a:r>
              <a:rPr sz="1000" b="1" i="0">
                <a:solidFill>
                  <a:srgbClr val="E9A928"/>
                </a:solidFill>
                <a:latin typeface="Aptos"/>
              </a:rPr>
              <a:t>HONEST LIMIT</a:t>
            </a:r>
          </a:p>
        </p:txBody>
      </p:sp>
      <p:sp>
        <p:nvSpPr>
          <p:cNvPr id="21" name="TextBox 20"/>
          <p:cNvSpPr txBox="1"/>
          <p:nvPr/>
        </p:nvSpPr>
        <p:spPr>
          <a:xfrm>
            <a:off x="6583680" y="5294376"/>
            <a:ext cx="4407408" cy="347472"/>
          </a:xfrm>
          <a:prstGeom prst="rect">
            <a:avLst/>
          </a:prstGeom>
          <a:noFill/>
        </p:spPr>
        <p:txBody>
          <a:bodyPr wrap="square" lIns="0" rIns="0" tIns="0" bIns="0" anchor="t">
            <a:spAutoFit/>
          </a:bodyPr>
          <a:lstStyle/>
          <a:p>
            <a:pPr algn="l">
              <a:spcAft>
                <a:spcPts val="0"/>
              </a:spcAft>
            </a:pPr>
            <a:r>
              <a:rPr sz="1300" b="1" i="0">
                <a:solidFill>
                  <a:srgbClr val="0A2638"/>
                </a:solidFill>
                <a:latin typeface="Aptos"/>
              </a:rPr>
              <a:t>Physical three-phone and camera-in-airplane-mode proof remains a release gate.</a:t>
            </a:r>
          </a:p>
        </p:txBody>
      </p:sp>
      <p:sp>
        <p:nvSpPr>
          <p:cNvPr id="22" name="TextBox 21"/>
          <p:cNvSpPr txBox="1"/>
          <p:nvPr/>
        </p:nvSpPr>
        <p:spPr>
          <a:xfrm>
            <a:off x="530352" y="6519672"/>
            <a:ext cx="2011680" cy="182880"/>
          </a:xfrm>
          <a:prstGeom prst="rect">
            <a:avLst/>
          </a:prstGeom>
          <a:noFill/>
        </p:spPr>
        <p:txBody>
          <a:bodyPr wrap="square" lIns="0" rIns="0" tIns="0" bIns="0" anchor="t">
            <a:spAutoFit/>
          </a:bodyPr>
          <a:lstStyle/>
          <a:p>
            <a:pPr algn="l">
              <a:spcAft>
                <a:spcPts val="0"/>
              </a:spcAft>
            </a:pPr>
            <a:r>
              <a:rPr sz="800" b="1" i="0">
                <a:solidFill>
                  <a:srgbClr val="597181"/>
                </a:solidFill>
                <a:latin typeface="Aptos"/>
              </a:rPr>
              <a:t>DIGITAL DELTA</a:t>
            </a:r>
          </a:p>
        </p:txBody>
      </p:sp>
      <p:sp>
        <p:nvSpPr>
          <p:cNvPr id="23" name="TextBox 22"/>
          <p:cNvSpPr txBox="1"/>
          <p:nvPr/>
        </p:nvSpPr>
        <p:spPr>
          <a:xfrm>
            <a:off x="11210544" y="6501384"/>
            <a:ext cx="411480" cy="201168"/>
          </a:xfrm>
          <a:prstGeom prst="rect">
            <a:avLst/>
          </a:prstGeom>
          <a:noFill/>
        </p:spPr>
        <p:txBody>
          <a:bodyPr wrap="square" lIns="0" rIns="0" tIns="0" bIns="0" anchor="t">
            <a:spAutoFit/>
          </a:bodyPr>
          <a:lstStyle/>
          <a:p>
            <a:pPr algn="r">
              <a:spcAft>
                <a:spcPts val="0"/>
              </a:spcAft>
            </a:pPr>
            <a:r>
              <a:rPr sz="900" b="1" i="0">
                <a:solidFill>
                  <a:srgbClr val="597181"/>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310896"/>
            <a:ext cx="475488" cy="310896"/>
          </a:xfrm>
          <a:prstGeom prst="rect">
            <a:avLst/>
          </a:prstGeom>
          <a:noFill/>
        </p:spPr>
        <p:txBody>
          <a:bodyPr wrap="square" lIns="0" rIns="0" tIns="0" bIns="0" anchor="t">
            <a:spAutoFit/>
          </a:bodyPr>
          <a:lstStyle/>
          <a:p>
            <a:pPr algn="l">
              <a:spcAft>
                <a:spcPts val="0"/>
              </a:spcAft>
            </a:pPr>
            <a:r>
              <a:rPr sz="1200" b="1" i="0">
                <a:solidFill>
                  <a:srgbClr val="087F8C"/>
                </a:solidFill>
                <a:latin typeface="Aptos"/>
              </a:rPr>
              <a:t>07</a:t>
            </a:r>
          </a:p>
        </p:txBody>
      </p:sp>
      <p:sp>
        <p:nvSpPr>
          <p:cNvPr id="3" name="TextBox 2"/>
          <p:cNvSpPr txBox="1"/>
          <p:nvPr/>
        </p:nvSpPr>
        <p:spPr>
          <a:xfrm>
            <a:off x="1024128" y="210312"/>
            <a:ext cx="10378440" cy="502920"/>
          </a:xfrm>
          <a:prstGeom prst="rect">
            <a:avLst/>
          </a:prstGeom>
          <a:noFill/>
        </p:spPr>
        <p:txBody>
          <a:bodyPr wrap="square" lIns="0" rIns="0" tIns="0" bIns="0" anchor="t">
            <a:spAutoFit/>
          </a:bodyPr>
          <a:lstStyle/>
          <a:p>
            <a:pPr algn="l">
              <a:spcAft>
                <a:spcPts val="0"/>
              </a:spcAft>
            </a:pPr>
            <a:r>
              <a:rPr sz="2700" b="1" i="0">
                <a:solidFill>
                  <a:srgbClr val="0A2638"/>
                </a:solidFill>
                <a:latin typeface="Aptos"/>
              </a:rPr>
              <a:t>Start with one district exercise</a:t>
            </a:r>
          </a:p>
        </p:txBody>
      </p:sp>
      <p:sp>
        <p:nvSpPr>
          <p:cNvPr id="4" name="Rectangle 3"/>
          <p:cNvSpPr/>
          <p:nvPr/>
        </p:nvSpPr>
        <p:spPr>
          <a:xfrm>
            <a:off x="530352" y="841248"/>
            <a:ext cx="621792" cy="5029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8448" y="749808"/>
            <a:ext cx="9784080" cy="347472"/>
          </a:xfrm>
          <a:prstGeom prst="rect">
            <a:avLst/>
          </a:prstGeom>
          <a:noFill/>
        </p:spPr>
        <p:txBody>
          <a:bodyPr wrap="square" lIns="0" rIns="0" tIns="0" bIns="0" anchor="t">
            <a:spAutoFit/>
          </a:bodyPr>
          <a:lstStyle/>
          <a:p>
            <a:pPr algn="l">
              <a:spcAft>
                <a:spcPts val="0"/>
              </a:spcAft>
            </a:pPr>
            <a:r>
              <a:rPr sz="1200" b="0" i="0">
                <a:solidFill>
                  <a:srgbClr val="597181"/>
                </a:solidFill>
                <a:latin typeface="Aptos"/>
              </a:rPr>
              <a:t>Public-interest deployment, not a consumer subscription</a:t>
            </a:r>
          </a:p>
        </p:txBody>
      </p:sp>
      <p:graphicFrame>
        <p:nvGraphicFramePr>
          <p:cNvPr id="6" name="Table 5"/>
          <p:cNvGraphicFramePr>
            <a:graphicFrameLocks noGrp="1"/>
          </p:cNvGraphicFramePr>
          <p:nvPr/>
        </p:nvGraphicFramePr>
        <p:xfrm>
          <a:off x="594360" y="1280160"/>
          <a:ext cx="6446520" cy="3200400"/>
        </p:xfrm>
        <a:graphic>
          <a:graphicData uri="http://schemas.openxmlformats.org/drawingml/2006/table">
            <a:tbl>
              <a:tblPr firstRow="1" bandRow="1">
                <a:tableStyleId>{5C22544A-7EE6-4342-B048-85BDC9FD1C3A}</a:tableStyleId>
              </a:tblPr>
              <a:tblGrid>
                <a:gridCol w="1600200"/>
                <a:gridCol w="1993392"/>
                <a:gridCol w="2852928"/>
              </a:tblGrid>
              <a:tr h="640080">
                <a:tc>
                  <a:txBody>
                    <a:bodyPr/>
                    <a:lstStyle/>
                    <a:p>
                      <a:r>
                        <a:rPr sz="1100" b="1">
                          <a:solidFill>
                            <a:srgbClr val="FFFFFF"/>
                          </a:solidFill>
                          <a:latin typeface="Aptos"/>
                        </a:rPr>
                        <a:t>Alternative</a:t>
                      </a:r>
                    </a:p>
                  </a:txBody>
                  <a:tcPr marL="100584" marR="100584" marT="73152" marB="64008" anchor="ctr">
                    <a:solidFill>
                      <a:srgbClr val="0A2638"/>
                    </a:solidFill>
                  </a:tcPr>
                </a:tc>
                <a:tc>
                  <a:txBody>
                    <a:bodyPr/>
                    <a:lstStyle/>
                    <a:p>
                      <a:r>
                        <a:rPr sz="1100" b="1">
                          <a:solidFill>
                            <a:srgbClr val="FFFFFF"/>
                          </a:solidFill>
                          <a:latin typeface="Aptos"/>
                        </a:rPr>
                        <a:t>Strong at</a:t>
                      </a:r>
                    </a:p>
                  </a:txBody>
                  <a:tcPr marL="100584" marR="100584" marT="73152" marB="64008" anchor="ctr">
                    <a:solidFill>
                      <a:srgbClr val="0A2638"/>
                    </a:solidFill>
                  </a:tcPr>
                </a:tc>
                <a:tc>
                  <a:txBody>
                    <a:bodyPr/>
                    <a:lstStyle/>
                    <a:p>
                      <a:r>
                        <a:rPr sz="1100" b="1">
                          <a:solidFill>
                            <a:srgbClr val="FFFFFF"/>
                          </a:solidFill>
                          <a:latin typeface="Aptos"/>
                        </a:rPr>
                        <a:t>Remaining continuity gap</a:t>
                      </a:r>
                    </a:p>
                  </a:txBody>
                  <a:tcPr marL="100584" marR="100584" marT="73152" marB="64008" anchor="ctr">
                    <a:solidFill>
                      <a:srgbClr val="0A2638"/>
                    </a:solidFill>
                  </a:tcPr>
                </a:tc>
              </a:tr>
              <a:tr h="640080">
                <a:tc>
                  <a:txBody>
                    <a:bodyPr/>
                    <a:lstStyle/>
                    <a:p>
                      <a:r>
                        <a:rPr sz="1150" b="1">
                          <a:solidFill>
                            <a:srgbClr val="0A2638"/>
                          </a:solidFill>
                          <a:latin typeface="Aptos"/>
                        </a:rPr>
                        <a:t>Sahana Eden</a:t>
                      </a:r>
                    </a:p>
                  </a:txBody>
                  <a:tcPr marL="100584" marR="100584" marT="73152" marB="64008" anchor="ctr">
                    <a:solidFill>
                      <a:srgbClr val="EAF1F6"/>
                    </a:solidFill>
                  </a:tcPr>
                </a:tc>
                <a:tc>
                  <a:txBody>
                    <a:bodyPr/>
                    <a:lstStyle/>
                    <a:p>
                      <a:r>
                        <a:rPr sz="1150" b="0">
                          <a:solidFill>
                            <a:srgbClr val="0A2638"/>
                          </a:solidFill>
                          <a:latin typeface="Aptos"/>
                        </a:rPr>
                        <a:t>Relief logistics</a:t>
                      </a:r>
                    </a:p>
                  </a:txBody>
                  <a:tcPr marL="100584" marR="100584" marT="73152" marB="64008" anchor="ctr">
                    <a:solidFill>
                      <a:srgbClr val="EAF1F6"/>
                    </a:solidFill>
                  </a:tcPr>
                </a:tc>
                <a:tc>
                  <a:txBody>
                    <a:bodyPr/>
                    <a:lstStyle/>
                    <a:p>
                      <a:r>
                        <a:rPr sz="1150" b="0">
                          <a:solidFill>
                            <a:srgbClr val="0A2638"/>
                          </a:solidFill>
                          <a:latin typeface="Aptos"/>
                        </a:rPr>
                        <a:t>Server reachability in the field</a:t>
                      </a:r>
                    </a:p>
                  </a:txBody>
                  <a:tcPr marL="100584" marR="100584" marT="73152" marB="64008" anchor="ctr">
                    <a:solidFill>
                      <a:srgbClr val="EAF1F6"/>
                    </a:solidFill>
                  </a:tcPr>
                </a:tc>
              </a:tr>
              <a:tr h="640080">
                <a:tc>
                  <a:txBody>
                    <a:bodyPr/>
                    <a:lstStyle/>
                    <a:p>
                      <a:r>
                        <a:rPr sz="1150" b="1">
                          <a:solidFill>
                            <a:srgbClr val="0A2638"/>
                          </a:solidFill>
                          <a:latin typeface="Aptos"/>
                        </a:rPr>
                        <a:t>KoboCollect</a:t>
                      </a:r>
                    </a:p>
                  </a:txBody>
                  <a:tcPr marL="100584" marR="100584" marT="73152" marB="64008" anchor="ctr">
                    <a:solidFill>
                      <a:srgbClr val="FFFFFF"/>
                    </a:solidFill>
                  </a:tcPr>
                </a:tc>
                <a:tc>
                  <a:txBody>
                    <a:bodyPr/>
                    <a:lstStyle/>
                    <a:p>
                      <a:r>
                        <a:rPr sz="1150" b="0">
                          <a:solidFill>
                            <a:srgbClr val="0A2638"/>
                          </a:solidFill>
                          <a:latin typeface="Aptos"/>
                        </a:rPr>
                        <a:t>Offline forms</a:t>
                      </a:r>
                    </a:p>
                  </a:txBody>
                  <a:tcPr marL="100584" marR="100584" marT="73152" marB="64008" anchor="ctr">
                    <a:solidFill>
                      <a:srgbClr val="FFFFFF"/>
                    </a:solidFill>
                  </a:tcPr>
                </a:tc>
                <a:tc>
                  <a:txBody>
                    <a:bodyPr/>
                    <a:lstStyle/>
                    <a:p>
                      <a:r>
                        <a:rPr sz="1150" b="0">
                          <a:solidFill>
                            <a:srgbClr val="0A2638"/>
                          </a:solidFill>
                          <a:latin typeface="Aptos"/>
                        </a:rPr>
                        <a:t>Routing, relay, signed custody</a:t>
                      </a:r>
                    </a:p>
                  </a:txBody>
                  <a:tcPr marL="100584" marR="100584" marT="73152" marB="64008" anchor="ctr">
                    <a:solidFill>
                      <a:srgbClr val="FFFFFF"/>
                    </a:solidFill>
                  </a:tcPr>
                </a:tc>
              </a:tr>
              <a:tr h="640080">
                <a:tc>
                  <a:txBody>
                    <a:bodyPr/>
                    <a:lstStyle/>
                    <a:p>
                      <a:r>
                        <a:rPr sz="1150" b="1">
                          <a:solidFill>
                            <a:srgbClr val="0A2638"/>
                          </a:solidFill>
                          <a:latin typeface="Aptos"/>
                        </a:rPr>
                        <a:t>Briar</a:t>
                      </a:r>
                    </a:p>
                  </a:txBody>
                  <a:tcPr marL="100584" marR="100584" marT="73152" marB="64008" anchor="ctr">
                    <a:solidFill>
                      <a:srgbClr val="EAF1F6"/>
                    </a:solidFill>
                  </a:tcPr>
                </a:tc>
                <a:tc>
                  <a:txBody>
                    <a:bodyPr/>
                    <a:lstStyle/>
                    <a:p>
                      <a:r>
                        <a:rPr sz="1150" b="0">
                          <a:solidFill>
                            <a:srgbClr val="0A2638"/>
                          </a:solidFill>
                          <a:latin typeface="Aptos"/>
                        </a:rPr>
                        <a:t>Nearby secure messaging</a:t>
                      </a:r>
                    </a:p>
                  </a:txBody>
                  <a:tcPr marL="100584" marR="100584" marT="73152" marB="64008" anchor="ctr">
                    <a:solidFill>
                      <a:srgbClr val="EAF1F6"/>
                    </a:solidFill>
                  </a:tcPr>
                </a:tc>
                <a:tc>
                  <a:txBody>
                    <a:bodyPr/>
                    <a:lstStyle/>
                    <a:p>
                      <a:r>
                        <a:rPr sz="1150" b="0">
                          <a:solidFill>
                            <a:srgbClr val="0A2638"/>
                          </a:solidFill>
                          <a:latin typeface="Aptos"/>
                        </a:rPr>
                        <a:t>Operational logistics workflow</a:t>
                      </a:r>
                    </a:p>
                  </a:txBody>
                  <a:tcPr marL="100584" marR="100584" marT="73152" marB="64008" anchor="ctr">
                    <a:solidFill>
                      <a:srgbClr val="EAF1F6"/>
                    </a:solidFill>
                  </a:tcPr>
                </a:tc>
              </a:tr>
              <a:tr h="640080">
                <a:tc>
                  <a:txBody>
                    <a:bodyPr/>
                    <a:lstStyle/>
                    <a:p>
                      <a:r>
                        <a:rPr sz="1150" b="1">
                          <a:solidFill>
                            <a:srgbClr val="0A2638"/>
                          </a:solidFill>
                          <a:latin typeface="Aptos"/>
                        </a:rPr>
                        <a:t>Meshtastic</a:t>
                      </a:r>
                    </a:p>
                  </a:txBody>
                  <a:tcPr marL="100584" marR="100584" marT="73152" marB="64008" anchor="ctr">
                    <a:solidFill>
                      <a:srgbClr val="FFFFFF"/>
                    </a:solidFill>
                  </a:tcPr>
                </a:tc>
                <a:tc>
                  <a:txBody>
                    <a:bodyPr/>
                    <a:lstStyle/>
                    <a:p>
                      <a:r>
                        <a:rPr sz="1150" b="0">
                          <a:solidFill>
                            <a:srgbClr val="0A2638"/>
                          </a:solidFill>
                          <a:latin typeface="Aptos"/>
                        </a:rPr>
                        <a:t>Off-grid radio mesh</a:t>
                      </a:r>
                    </a:p>
                  </a:txBody>
                  <a:tcPr marL="100584" marR="100584" marT="73152" marB="64008" anchor="ctr">
                    <a:solidFill>
                      <a:srgbClr val="FFFFFF"/>
                    </a:solidFill>
                  </a:tcPr>
                </a:tc>
                <a:tc>
                  <a:txBody>
                    <a:bodyPr/>
                    <a:lstStyle/>
                    <a:p>
                      <a:r>
                        <a:rPr sz="1150" b="0">
                          <a:solidFill>
                            <a:srgbClr val="0A2638"/>
                          </a:solidFill>
                          <a:latin typeface="Aptos"/>
                        </a:rPr>
                        <a:t>Requires additional hardware</a:t>
                      </a:r>
                    </a:p>
                  </a:txBody>
                  <a:tcPr marL="100584" marR="100584" marT="73152" marB="64008" anchor="ctr">
                    <a:solidFill>
                      <a:srgbClr val="FFFFFF"/>
                    </a:solidFill>
                  </a:tcPr>
                </a:tc>
              </a:tr>
            </a:tbl>
          </a:graphicData>
        </a:graphic>
      </p:graphicFrame>
      <p:sp>
        <p:nvSpPr>
          <p:cNvPr id="7" name="Rounded Rectangle 6"/>
          <p:cNvSpPr/>
          <p:nvPr/>
        </p:nvSpPr>
        <p:spPr>
          <a:xfrm>
            <a:off x="7360920" y="1280160"/>
            <a:ext cx="4187952" cy="3200400"/>
          </a:xfrm>
          <a:prstGeom prst="roundRect">
            <a:avLst/>
          </a:prstGeom>
          <a:solidFill>
            <a:srgbClr val="F4F8F9"/>
          </a:solidFill>
          <a:ln w="12700">
            <a:solidFill>
              <a:srgbClr val="CC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53527" y="1554480"/>
            <a:ext cx="1463040" cy="301752"/>
          </a:xfrm>
          <a:prstGeom prst="rect">
            <a:avLst/>
          </a:prstGeom>
          <a:noFill/>
        </p:spPr>
        <p:txBody>
          <a:bodyPr wrap="square" lIns="0" rIns="0" tIns="0" bIns="0" anchor="t">
            <a:spAutoFit/>
          </a:bodyPr>
          <a:lstStyle/>
          <a:p>
            <a:pPr algn="l">
              <a:spcAft>
                <a:spcPts val="0"/>
              </a:spcAft>
            </a:pPr>
            <a:r>
              <a:rPr sz="1800" b="1" i="0">
                <a:solidFill>
                  <a:srgbClr val="087F8C"/>
                </a:solidFill>
                <a:latin typeface="Aptos"/>
              </a:rPr>
              <a:t>Beachhead</a:t>
            </a:r>
          </a:p>
        </p:txBody>
      </p:sp>
      <p:sp>
        <p:nvSpPr>
          <p:cNvPr id="9" name="TextBox 8"/>
          <p:cNvSpPr txBox="1"/>
          <p:nvPr/>
        </p:nvSpPr>
        <p:spPr>
          <a:xfrm>
            <a:off x="7653527" y="2011680"/>
            <a:ext cx="3246120" cy="786384"/>
          </a:xfrm>
          <a:prstGeom prst="rect">
            <a:avLst/>
          </a:prstGeom>
          <a:noFill/>
        </p:spPr>
        <p:txBody>
          <a:bodyPr wrap="square" lIns="0" rIns="0" tIns="0" bIns="0" anchor="t">
            <a:spAutoFit/>
          </a:bodyPr>
          <a:lstStyle/>
          <a:p>
            <a:pPr algn="l">
              <a:spcAft>
                <a:spcPts val="0"/>
              </a:spcAft>
            </a:pPr>
            <a:r>
              <a:rPr sz="2100" b="1" i="0">
                <a:solidFill>
                  <a:srgbClr val="0A2638"/>
                </a:solidFill>
                <a:latin typeface="Aptos"/>
              </a:rPr>
              <a:t>Six northeastern
districts</a:t>
            </a:r>
          </a:p>
        </p:txBody>
      </p:sp>
      <p:sp>
        <p:nvSpPr>
          <p:cNvPr id="10" name="TextBox 9"/>
          <p:cNvSpPr txBox="1"/>
          <p:nvPr/>
        </p:nvSpPr>
        <p:spPr>
          <a:xfrm>
            <a:off x="7653527" y="2816352"/>
            <a:ext cx="3246120" cy="274320"/>
          </a:xfrm>
          <a:prstGeom prst="rect">
            <a:avLst/>
          </a:prstGeom>
          <a:noFill/>
        </p:spPr>
        <p:txBody>
          <a:bodyPr wrap="square" lIns="0" rIns="0" tIns="0" bIns="0" anchor="t">
            <a:spAutoFit/>
          </a:bodyPr>
          <a:lstStyle/>
          <a:p>
            <a:pPr algn="l">
              <a:spcAft>
                <a:spcPts val="0"/>
              </a:spcAft>
            </a:pPr>
            <a:r>
              <a:rPr sz="1300" b="0" i="0">
                <a:solidFill>
                  <a:srgbClr val="597181"/>
                </a:solidFill>
                <a:latin typeface="Aptos"/>
              </a:rPr>
              <a:t>about 64 upazilas  •  360 unions</a:t>
            </a:r>
          </a:p>
        </p:txBody>
      </p:sp>
      <p:sp>
        <p:nvSpPr>
          <p:cNvPr id="11" name="TextBox 10"/>
          <p:cNvSpPr txBox="1"/>
          <p:nvPr/>
        </p:nvSpPr>
        <p:spPr>
          <a:xfrm>
            <a:off x="7653527" y="3300984"/>
            <a:ext cx="2560320" cy="256032"/>
          </a:xfrm>
          <a:prstGeom prst="rect">
            <a:avLst/>
          </a:prstGeom>
          <a:noFill/>
        </p:spPr>
        <p:txBody>
          <a:bodyPr wrap="square" lIns="0" rIns="0" tIns="0" bIns="0" anchor="t">
            <a:spAutoFit/>
          </a:bodyPr>
          <a:lstStyle/>
          <a:p>
            <a:pPr algn="l">
              <a:spcAft>
                <a:spcPts val="0"/>
              </a:spcAft>
            </a:pPr>
            <a:r>
              <a:rPr sz="1100" b="1" i="0">
                <a:solidFill>
                  <a:srgbClr val="597181"/>
                </a:solidFill>
                <a:latin typeface="Aptos"/>
              </a:rPr>
              <a:t>First obtainable deployment</a:t>
            </a:r>
          </a:p>
        </p:txBody>
      </p:sp>
      <p:sp>
        <p:nvSpPr>
          <p:cNvPr id="12" name="TextBox 11"/>
          <p:cNvSpPr txBox="1"/>
          <p:nvPr/>
        </p:nvSpPr>
        <p:spPr>
          <a:xfrm>
            <a:off x="7653527" y="3657600"/>
            <a:ext cx="3419856" cy="566928"/>
          </a:xfrm>
          <a:prstGeom prst="rect">
            <a:avLst/>
          </a:prstGeom>
          <a:noFill/>
        </p:spPr>
        <p:txBody>
          <a:bodyPr wrap="square" lIns="0" rIns="0" tIns="0" bIns="0" anchor="t">
            <a:spAutoFit/>
          </a:bodyPr>
          <a:lstStyle/>
          <a:p>
            <a:pPr algn="l">
              <a:spcAft>
                <a:spcPts val="0"/>
              </a:spcAft>
            </a:pPr>
            <a:r>
              <a:rPr sz="1600" b="1" i="0">
                <a:solidFill>
                  <a:srgbClr val="0A2638"/>
                </a:solidFill>
                <a:latin typeface="Aptos"/>
              </a:rPr>
              <a:t>One district  •  one health referral path  •  one relief partner</a:t>
            </a:r>
          </a:p>
        </p:txBody>
      </p:sp>
      <p:sp>
        <p:nvSpPr>
          <p:cNvPr id="13" name="Rounded Rectangle 12"/>
          <p:cNvSpPr/>
          <p:nvPr/>
        </p:nvSpPr>
        <p:spPr>
          <a:xfrm>
            <a:off x="594360" y="4828032"/>
            <a:ext cx="3401568" cy="1097280"/>
          </a:xfrm>
          <a:prstGeom prst="roundRect">
            <a:avLst/>
          </a:prstGeom>
          <a:solidFill>
            <a:srgbClr val="FFFFFF"/>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084064"/>
            <a:ext cx="320040" cy="292608"/>
          </a:xfrm>
          <a:prstGeom prst="rect">
            <a:avLst/>
          </a:prstGeom>
          <a:noFill/>
        </p:spPr>
        <p:txBody>
          <a:bodyPr wrap="square" lIns="0" rIns="0" tIns="0" bIns="0" anchor="t">
            <a:spAutoFit/>
          </a:bodyPr>
          <a:lstStyle/>
          <a:p>
            <a:pPr algn="l">
              <a:spcAft>
                <a:spcPts val="0"/>
              </a:spcAft>
            </a:pPr>
            <a:r>
              <a:rPr sz="1800" b="1" i="0">
                <a:solidFill>
                  <a:srgbClr val="087F8C"/>
                </a:solidFill>
                <a:latin typeface="Aptos"/>
              </a:rPr>
              <a:t>1</a:t>
            </a:r>
          </a:p>
        </p:txBody>
      </p:sp>
      <p:sp>
        <p:nvSpPr>
          <p:cNvPr id="15" name="TextBox 14"/>
          <p:cNvSpPr txBox="1"/>
          <p:nvPr/>
        </p:nvSpPr>
        <p:spPr>
          <a:xfrm>
            <a:off x="1207008" y="5001768"/>
            <a:ext cx="2148840" cy="512064"/>
          </a:xfrm>
          <a:prstGeom prst="rect">
            <a:avLst/>
          </a:prstGeom>
          <a:noFill/>
        </p:spPr>
        <p:txBody>
          <a:bodyPr wrap="square" lIns="0" rIns="0" tIns="0" bIns="0" anchor="t">
            <a:spAutoFit/>
          </a:bodyPr>
          <a:lstStyle/>
          <a:p>
            <a:pPr algn="l">
              <a:spcAft>
                <a:spcPts val="0"/>
              </a:spcAft>
            </a:pPr>
            <a:r>
              <a:rPr sz="1450" b="1" i="0">
                <a:solidFill>
                  <a:srgbClr val="0A2638"/>
                </a:solidFill>
                <a:latin typeface="Aptos"/>
              </a:rPr>
              <a:t>Map the workflow</a:t>
            </a:r>
          </a:p>
        </p:txBody>
      </p:sp>
      <p:sp>
        <p:nvSpPr>
          <p:cNvPr id="16" name="TextBox 15"/>
          <p:cNvSpPr txBox="1"/>
          <p:nvPr/>
        </p:nvSpPr>
        <p:spPr>
          <a:xfrm>
            <a:off x="1207008" y="5559552"/>
            <a:ext cx="2514600" cy="228600"/>
          </a:xfrm>
          <a:prstGeom prst="rect">
            <a:avLst/>
          </a:prstGeom>
          <a:noFill/>
        </p:spPr>
        <p:txBody>
          <a:bodyPr wrap="square" lIns="0" rIns="0" tIns="0" bIns="0" anchor="t">
            <a:spAutoFit/>
          </a:bodyPr>
          <a:lstStyle/>
          <a:p>
            <a:pPr algn="l">
              <a:spcAft>
                <a:spcPts val="0"/>
              </a:spcAft>
            </a:pPr>
            <a:r>
              <a:rPr sz="1080" b="0" i="0">
                <a:solidFill>
                  <a:srgbClr val="597181"/>
                </a:solidFill>
                <a:latin typeface="Aptos"/>
              </a:rPr>
              <a:t>Authority + data owner</a:t>
            </a:r>
          </a:p>
        </p:txBody>
      </p:sp>
      <p:sp>
        <p:nvSpPr>
          <p:cNvPr id="17" name="Rounded Rectangle 16"/>
          <p:cNvSpPr/>
          <p:nvPr/>
        </p:nvSpPr>
        <p:spPr>
          <a:xfrm>
            <a:off x="4251960" y="4828032"/>
            <a:ext cx="3401568" cy="1097280"/>
          </a:xfrm>
          <a:prstGeom prst="roundRect">
            <a:avLst/>
          </a:prstGeom>
          <a:solidFill>
            <a:srgbClr val="FFFFFF"/>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5084064"/>
            <a:ext cx="320040" cy="292608"/>
          </a:xfrm>
          <a:prstGeom prst="rect">
            <a:avLst/>
          </a:prstGeom>
          <a:noFill/>
        </p:spPr>
        <p:txBody>
          <a:bodyPr wrap="square" lIns="0" rIns="0" tIns="0" bIns="0" anchor="t">
            <a:spAutoFit/>
          </a:bodyPr>
          <a:lstStyle/>
          <a:p>
            <a:pPr algn="l">
              <a:spcAft>
                <a:spcPts val="0"/>
              </a:spcAft>
            </a:pPr>
            <a:r>
              <a:rPr sz="1800" b="1" i="0">
                <a:solidFill>
                  <a:srgbClr val="087F8C"/>
                </a:solidFill>
                <a:latin typeface="Aptos"/>
              </a:rPr>
              <a:t>2</a:t>
            </a:r>
          </a:p>
        </p:txBody>
      </p:sp>
      <p:sp>
        <p:nvSpPr>
          <p:cNvPr id="19" name="TextBox 18"/>
          <p:cNvSpPr txBox="1"/>
          <p:nvPr/>
        </p:nvSpPr>
        <p:spPr>
          <a:xfrm>
            <a:off x="4864608" y="5001768"/>
            <a:ext cx="2148840" cy="512064"/>
          </a:xfrm>
          <a:prstGeom prst="rect">
            <a:avLst/>
          </a:prstGeom>
          <a:noFill/>
        </p:spPr>
        <p:txBody>
          <a:bodyPr wrap="square" lIns="0" rIns="0" tIns="0" bIns="0" anchor="t">
            <a:spAutoFit/>
          </a:bodyPr>
          <a:lstStyle/>
          <a:p>
            <a:pPr algn="l">
              <a:spcAft>
                <a:spcPts val="0"/>
              </a:spcAft>
            </a:pPr>
            <a:r>
              <a:rPr sz="1450" b="1" i="0">
                <a:solidFill>
                  <a:srgbClr val="0A2638"/>
                </a:solidFill>
                <a:latin typeface="Aptos"/>
              </a:rPr>
              <a:t>Controlled exercise</a:t>
            </a:r>
          </a:p>
        </p:txBody>
      </p:sp>
      <p:sp>
        <p:nvSpPr>
          <p:cNvPr id="20" name="TextBox 19"/>
          <p:cNvSpPr txBox="1"/>
          <p:nvPr/>
        </p:nvSpPr>
        <p:spPr>
          <a:xfrm>
            <a:off x="4864608" y="5559552"/>
            <a:ext cx="2514600" cy="228600"/>
          </a:xfrm>
          <a:prstGeom prst="rect">
            <a:avLst/>
          </a:prstGeom>
          <a:noFill/>
        </p:spPr>
        <p:txBody>
          <a:bodyPr wrap="square" lIns="0" rIns="0" tIns="0" bIns="0" anchor="t">
            <a:spAutoFit/>
          </a:bodyPr>
          <a:lstStyle/>
          <a:p>
            <a:pPr algn="l">
              <a:spcAft>
                <a:spcPts val="0"/>
              </a:spcAft>
            </a:pPr>
            <a:r>
              <a:rPr sz="1080" b="0" i="0">
                <a:solidFill>
                  <a:srgbClr val="597181"/>
                </a:solidFill>
                <a:latin typeface="Aptos"/>
              </a:rPr>
              <a:t>Range + recovery + usability</a:t>
            </a:r>
          </a:p>
        </p:txBody>
      </p:sp>
      <p:sp>
        <p:nvSpPr>
          <p:cNvPr id="21" name="Rounded Rectangle 20"/>
          <p:cNvSpPr/>
          <p:nvPr/>
        </p:nvSpPr>
        <p:spPr>
          <a:xfrm>
            <a:off x="7909560" y="4828032"/>
            <a:ext cx="3401568" cy="1097280"/>
          </a:xfrm>
          <a:prstGeom prst="roundRect">
            <a:avLst/>
          </a:prstGeom>
          <a:solidFill>
            <a:srgbClr val="FFFFFF"/>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92440" y="5084064"/>
            <a:ext cx="320040" cy="292608"/>
          </a:xfrm>
          <a:prstGeom prst="rect">
            <a:avLst/>
          </a:prstGeom>
          <a:noFill/>
        </p:spPr>
        <p:txBody>
          <a:bodyPr wrap="square" lIns="0" rIns="0" tIns="0" bIns="0" anchor="t">
            <a:spAutoFit/>
          </a:bodyPr>
          <a:lstStyle/>
          <a:p>
            <a:pPr algn="l">
              <a:spcAft>
                <a:spcPts val="0"/>
              </a:spcAft>
            </a:pPr>
            <a:r>
              <a:rPr sz="1800" b="1" i="0">
                <a:solidFill>
                  <a:srgbClr val="087F8C"/>
                </a:solidFill>
                <a:latin typeface="Aptos"/>
              </a:rPr>
              <a:t>3</a:t>
            </a:r>
          </a:p>
        </p:txBody>
      </p:sp>
      <p:sp>
        <p:nvSpPr>
          <p:cNvPr id="23" name="TextBox 22"/>
          <p:cNvSpPr txBox="1"/>
          <p:nvPr/>
        </p:nvSpPr>
        <p:spPr>
          <a:xfrm>
            <a:off x="8522208" y="5001768"/>
            <a:ext cx="2148840" cy="512064"/>
          </a:xfrm>
          <a:prstGeom prst="rect">
            <a:avLst/>
          </a:prstGeom>
          <a:noFill/>
        </p:spPr>
        <p:txBody>
          <a:bodyPr wrap="square" lIns="0" rIns="0" tIns="0" bIns="0" anchor="t">
            <a:spAutoFit/>
          </a:bodyPr>
          <a:lstStyle/>
          <a:p>
            <a:pPr algn="l">
              <a:spcAft>
                <a:spcPts val="0"/>
              </a:spcAft>
            </a:pPr>
            <a:r>
              <a:rPr sz="1450" b="1" i="0">
                <a:solidFill>
                  <a:srgbClr val="0A2638"/>
                </a:solidFill>
                <a:latin typeface="Aptos"/>
              </a:rPr>
              <a:t>Shadow pilot</a:t>
            </a:r>
          </a:p>
        </p:txBody>
      </p:sp>
      <p:sp>
        <p:nvSpPr>
          <p:cNvPr id="24" name="TextBox 23"/>
          <p:cNvSpPr txBox="1"/>
          <p:nvPr/>
        </p:nvSpPr>
        <p:spPr>
          <a:xfrm>
            <a:off x="8522208" y="5559552"/>
            <a:ext cx="2514600" cy="228600"/>
          </a:xfrm>
          <a:prstGeom prst="rect">
            <a:avLst/>
          </a:prstGeom>
          <a:noFill/>
        </p:spPr>
        <p:txBody>
          <a:bodyPr wrap="square" lIns="0" rIns="0" tIns="0" bIns="0" anchor="t">
            <a:spAutoFit/>
          </a:bodyPr>
          <a:lstStyle/>
          <a:p>
            <a:pPr algn="l">
              <a:spcAft>
                <a:spcPts val="0"/>
              </a:spcAft>
            </a:pPr>
            <a:r>
              <a:rPr sz="1080" b="0" i="0">
                <a:solidFill>
                  <a:srgbClr val="597181"/>
                </a:solidFill>
                <a:latin typeface="Aptos"/>
              </a:rPr>
              <a:t>Compare with official log</a:t>
            </a:r>
          </a:p>
        </p:txBody>
      </p:sp>
      <p:sp>
        <p:nvSpPr>
          <p:cNvPr id="25" name="TextBox 24"/>
          <p:cNvSpPr txBox="1"/>
          <p:nvPr/>
        </p:nvSpPr>
        <p:spPr>
          <a:xfrm>
            <a:off x="530352" y="6519672"/>
            <a:ext cx="2011680" cy="182880"/>
          </a:xfrm>
          <a:prstGeom prst="rect">
            <a:avLst/>
          </a:prstGeom>
          <a:noFill/>
        </p:spPr>
        <p:txBody>
          <a:bodyPr wrap="square" lIns="0" rIns="0" tIns="0" bIns="0" anchor="t">
            <a:spAutoFit/>
          </a:bodyPr>
          <a:lstStyle/>
          <a:p>
            <a:pPr algn="l">
              <a:spcAft>
                <a:spcPts val="0"/>
              </a:spcAft>
            </a:pPr>
            <a:r>
              <a:rPr sz="800" b="1" i="0">
                <a:solidFill>
                  <a:srgbClr val="597181"/>
                </a:solidFill>
                <a:latin typeface="Aptos"/>
              </a:rPr>
              <a:t>DIGITAL DELTA</a:t>
            </a:r>
          </a:p>
        </p:txBody>
      </p:sp>
      <p:sp>
        <p:nvSpPr>
          <p:cNvPr id="26" name="TextBox 25"/>
          <p:cNvSpPr txBox="1"/>
          <p:nvPr/>
        </p:nvSpPr>
        <p:spPr>
          <a:xfrm>
            <a:off x="11210544" y="6501384"/>
            <a:ext cx="411480" cy="201168"/>
          </a:xfrm>
          <a:prstGeom prst="rect">
            <a:avLst/>
          </a:prstGeom>
          <a:noFill/>
        </p:spPr>
        <p:txBody>
          <a:bodyPr wrap="square" lIns="0" rIns="0" tIns="0" bIns="0" anchor="t">
            <a:spAutoFit/>
          </a:bodyPr>
          <a:lstStyle/>
          <a:p>
            <a:pPr algn="r">
              <a:spcAft>
                <a:spcPts val="0"/>
              </a:spcAft>
            </a:pPr>
            <a:r>
              <a:rPr sz="900" b="1" i="0">
                <a:solidFill>
                  <a:srgbClr val="597181"/>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61A27"/>
        </a:solidFill>
        <a:effectLst/>
      </p:bgPr>
    </p:bg>
    <p:spTree>
      <p:nvGrpSpPr>
        <p:cNvPr id="1" name=""/>
        <p:cNvGrpSpPr/>
        <p:nvPr/>
      </p:nvGrpSpPr>
      <p:grpSpPr/>
      <p:sp>
        <p:nvSpPr>
          <p:cNvPr id="2" name="TextBox 1"/>
          <p:cNvSpPr txBox="1"/>
          <p:nvPr/>
        </p:nvSpPr>
        <p:spPr>
          <a:xfrm>
            <a:off x="530352" y="310896"/>
            <a:ext cx="475488" cy="310896"/>
          </a:xfrm>
          <a:prstGeom prst="rect">
            <a:avLst/>
          </a:prstGeom>
          <a:noFill/>
        </p:spPr>
        <p:txBody>
          <a:bodyPr wrap="square" lIns="0" rIns="0" tIns="0" bIns="0" anchor="t">
            <a:spAutoFit/>
          </a:bodyPr>
          <a:lstStyle/>
          <a:p>
            <a:pPr algn="l">
              <a:spcAft>
                <a:spcPts val="0"/>
              </a:spcAft>
            </a:pPr>
            <a:r>
              <a:rPr sz="1200" b="1" i="0">
                <a:solidFill>
                  <a:srgbClr val="1EB8BC"/>
                </a:solidFill>
                <a:latin typeface="Aptos"/>
              </a:rPr>
              <a:t>08</a:t>
            </a:r>
          </a:p>
        </p:txBody>
      </p:sp>
      <p:sp>
        <p:nvSpPr>
          <p:cNvPr id="3" name="TextBox 2"/>
          <p:cNvSpPr txBox="1"/>
          <p:nvPr/>
        </p:nvSpPr>
        <p:spPr>
          <a:xfrm>
            <a:off x="1024128" y="210312"/>
            <a:ext cx="10378440" cy="502920"/>
          </a:xfrm>
          <a:prstGeom prst="rect">
            <a:avLst/>
          </a:prstGeom>
          <a:noFill/>
        </p:spPr>
        <p:txBody>
          <a:bodyPr wrap="square" lIns="0" rIns="0" tIns="0" bIns="0" anchor="t">
            <a:spAutoFit/>
          </a:bodyPr>
          <a:lstStyle/>
          <a:p>
            <a:pPr algn="l">
              <a:spcAft>
                <a:spcPts val="0"/>
              </a:spcAft>
            </a:pPr>
            <a:r>
              <a:rPr sz="2700" b="1" i="0">
                <a:solidFill>
                  <a:srgbClr val="FFFFFF"/>
                </a:solidFill>
                <a:latin typeface="Aptos"/>
              </a:rPr>
              <a:t>The next milestone is a real field exercise</a:t>
            </a:r>
          </a:p>
        </p:txBody>
      </p:sp>
      <p:sp>
        <p:nvSpPr>
          <p:cNvPr id="4" name="Rectangle 3"/>
          <p:cNvSpPr/>
          <p:nvPr/>
        </p:nvSpPr>
        <p:spPr>
          <a:xfrm>
            <a:off x="530352" y="841248"/>
            <a:ext cx="621792" cy="50292"/>
          </a:xfrm>
          <a:prstGeom prst="rect">
            <a:avLst/>
          </a:prstGeom>
          <a:solidFill>
            <a:srgbClr val="1EB8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8448" y="749808"/>
            <a:ext cx="9784080" cy="347472"/>
          </a:xfrm>
          <a:prstGeom prst="rect">
            <a:avLst/>
          </a:prstGeom>
          <a:noFill/>
        </p:spPr>
        <p:txBody>
          <a:bodyPr wrap="square" lIns="0" rIns="0" tIns="0" bIns="0" anchor="t">
            <a:spAutoFit/>
          </a:bodyPr>
          <a:lstStyle/>
          <a:p>
            <a:pPr algn="l">
              <a:spcAft>
                <a:spcPts val="0"/>
              </a:spcAft>
            </a:pPr>
            <a:r>
              <a:rPr sz="1200" b="0" i="0">
                <a:solidFill>
                  <a:srgbClr val="A9C1CC"/>
                </a:solidFill>
                <a:latin typeface="Aptos"/>
              </a:rPr>
              <a:t>Software is ready to be challenged by phones, radios, people, and procedure</a:t>
            </a:r>
          </a:p>
        </p:txBody>
      </p:sp>
      <p:sp>
        <p:nvSpPr>
          <p:cNvPr id="6" name="Rounded Rectangle 5"/>
          <p:cNvSpPr/>
          <p:nvPr/>
        </p:nvSpPr>
        <p:spPr>
          <a:xfrm>
            <a:off x="594360" y="1353312"/>
            <a:ext cx="6035040" cy="1298448"/>
          </a:xfrm>
          <a:prstGeom prst="roundRect">
            <a:avLst/>
          </a:prstGeom>
          <a:solidFill>
            <a:srgbClr val="0C3448"/>
          </a:solidFill>
          <a:ln w="12700">
            <a:solidFill>
              <a:srgbClr val="2857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1600200"/>
            <a:ext cx="841248" cy="228600"/>
          </a:xfrm>
          <a:prstGeom prst="rect">
            <a:avLst/>
          </a:prstGeom>
          <a:noFill/>
        </p:spPr>
        <p:txBody>
          <a:bodyPr wrap="square" lIns="0" rIns="0" tIns="0" bIns="0" anchor="t">
            <a:spAutoFit/>
          </a:bodyPr>
          <a:lstStyle/>
          <a:p>
            <a:pPr algn="l">
              <a:spcAft>
                <a:spcPts val="0"/>
              </a:spcAft>
            </a:pPr>
            <a:r>
              <a:rPr sz="1100" b="1" i="0">
                <a:solidFill>
                  <a:srgbClr val="1EB8BC"/>
                </a:solidFill>
                <a:latin typeface="Aptos"/>
              </a:rPr>
              <a:t>THE ASK</a:t>
            </a:r>
          </a:p>
        </p:txBody>
      </p:sp>
      <p:sp>
        <p:nvSpPr>
          <p:cNvPr id="8" name="TextBox 7"/>
          <p:cNvSpPr txBox="1"/>
          <p:nvPr/>
        </p:nvSpPr>
        <p:spPr>
          <a:xfrm>
            <a:off x="1810512" y="1508760"/>
            <a:ext cx="4462272" cy="896112"/>
          </a:xfrm>
          <a:prstGeom prst="rect">
            <a:avLst/>
          </a:prstGeom>
          <a:noFill/>
        </p:spPr>
        <p:txBody>
          <a:bodyPr wrap="square" lIns="0" rIns="0" tIns="0" bIns="0" anchor="t">
            <a:spAutoFit/>
          </a:bodyPr>
          <a:lstStyle/>
          <a:p>
            <a:pPr algn="l">
              <a:spcAft>
                <a:spcPts val="0"/>
              </a:spcAft>
            </a:pPr>
            <a:r>
              <a:rPr sz="1700" b="1" i="0">
                <a:solidFill>
                  <a:srgbClr val="FFFFFF"/>
                </a:solidFill>
                <a:latin typeface="Aptos"/>
              </a:rPr>
              <a:t>Run one controlled three-phone exercise with a district authority, health facility, and relief partner</a:t>
            </a:r>
          </a:p>
        </p:txBody>
      </p:sp>
      <p:sp>
        <p:nvSpPr>
          <p:cNvPr id="9" name="TextBox 8"/>
          <p:cNvSpPr txBox="1"/>
          <p:nvPr/>
        </p:nvSpPr>
        <p:spPr>
          <a:xfrm>
            <a:off x="594360" y="2926080"/>
            <a:ext cx="2240280" cy="365760"/>
          </a:xfrm>
          <a:prstGeom prst="rect">
            <a:avLst/>
          </a:prstGeom>
          <a:noFill/>
        </p:spPr>
        <p:txBody>
          <a:bodyPr wrap="square" lIns="0" rIns="0" tIns="0" bIns="0" anchor="t">
            <a:spAutoFit/>
          </a:bodyPr>
          <a:lstStyle/>
          <a:p>
            <a:pPr algn="l">
              <a:spcAft>
                <a:spcPts val="0"/>
              </a:spcAft>
            </a:pPr>
            <a:r>
              <a:rPr sz="1800" b="1" i="0">
                <a:solidFill>
                  <a:srgbClr val="FFFFFF"/>
                </a:solidFill>
                <a:latin typeface="Aptos"/>
              </a:rPr>
              <a:t>Success gates</a:t>
            </a:r>
          </a:p>
        </p:txBody>
      </p:sp>
      <p:sp>
        <p:nvSpPr>
          <p:cNvPr id="10" name="TextBox 9"/>
          <p:cNvSpPr txBox="1"/>
          <p:nvPr/>
        </p:nvSpPr>
        <p:spPr>
          <a:xfrm>
            <a:off x="594360" y="3429000"/>
            <a:ext cx="5559552" cy="2194560"/>
          </a:xfrm>
          <a:prstGeom prst="rect">
            <a:avLst/>
          </a:prstGeom>
          <a:noFill/>
        </p:spPr>
        <p:txBody>
          <a:bodyPr wrap="square" lIns="0" rIns="0" tIns="0" bIns="0">
            <a:spAutoFit/>
          </a:bodyPr>
          <a:lstStyle/>
          <a:p>
            <a:pPr>
              <a:spcAft>
                <a:spcPts val="1000"/>
              </a:spcAft>
            </a:pPr>
            <a:r>
              <a:rPr sz="1500">
                <a:solidFill>
                  <a:srgbClr val="D8E7EC"/>
                </a:solidFill>
                <a:latin typeface="Aptos"/>
              </a:rPr>
              <a:t>•  A to B to C relay with the middle phone restarted</a:t>
            </a:r>
          </a:p>
          <a:p>
            <a:pPr>
              <a:spcAft>
                <a:spcPts val="1000"/>
              </a:spcAft>
            </a:pPr>
            <a:r>
              <a:rPr sz="1500">
                <a:solidFill>
                  <a:srgbClr val="D8E7EC"/>
                </a:solidFill>
                <a:latin typeface="Aptos"/>
              </a:rPr>
              <a:t>•  Camera provisioning and custody in airplane mode</a:t>
            </a:r>
          </a:p>
          <a:p>
            <a:pPr>
              <a:spcAft>
                <a:spcPts val="1000"/>
              </a:spcAft>
            </a:pPr>
            <a:r>
              <a:rPr sz="1500">
                <a:solidFill>
                  <a:srgbClr val="D8E7EC"/>
                </a:solidFill>
                <a:latin typeface="Aptos"/>
              </a:rPr>
              <a:t>•  Target-phone memory, route latency, and battery</a:t>
            </a:r>
          </a:p>
          <a:p>
            <a:pPr>
              <a:spcAft>
                <a:spcPts val="1000"/>
              </a:spcAft>
            </a:pPr>
            <a:r>
              <a:rPr sz="1500">
                <a:solidFill>
                  <a:srgbClr val="D8E7EC"/>
                </a:solidFill>
                <a:latin typeface="Aptos"/>
              </a:rPr>
              <a:t>•  Bangla, English, TalkBack, and operator task review</a:t>
            </a:r>
          </a:p>
        </p:txBody>
      </p:sp>
      <p:sp>
        <p:nvSpPr>
          <p:cNvPr id="11" name="Rounded Rectangle 10"/>
          <p:cNvSpPr/>
          <p:nvPr/>
        </p:nvSpPr>
        <p:spPr>
          <a:xfrm>
            <a:off x="6967728" y="1353312"/>
            <a:ext cx="4553712" cy="4407408"/>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nglish hybrid-fleet screen showing delayed boat replanning from R3 to R2" title="English hybrid-fleet screen showing delayed boat replanning from R3 to R2"/>
          <p:cNvPicPr>
            <a:picLocks noChangeAspect="1"/>
          </p:cNvPicPr>
          <p:nvPr/>
        </p:nvPicPr>
        <p:blipFill>
          <a:blip r:embed="rId2"/>
          <a:stretch>
            <a:fillRect/>
          </a:stretch>
        </p:blipFill>
        <p:spPr>
          <a:xfrm>
            <a:off x="7206137" y="1536192"/>
            <a:ext cx="1790892" cy="3995928"/>
          </a:xfrm>
          <a:prstGeom prst="rect">
            <a:avLst/>
          </a:prstGeom>
        </p:spPr>
      </p:pic>
      <p:sp>
        <p:nvSpPr>
          <p:cNvPr id="13" name="TextBox 12"/>
          <p:cNvSpPr txBox="1"/>
          <p:nvPr/>
        </p:nvSpPr>
        <p:spPr>
          <a:xfrm>
            <a:off x="9308592" y="1847088"/>
            <a:ext cx="1508760" cy="228600"/>
          </a:xfrm>
          <a:prstGeom prst="rect">
            <a:avLst/>
          </a:prstGeom>
          <a:noFill/>
        </p:spPr>
        <p:txBody>
          <a:bodyPr wrap="square" lIns="0" rIns="0" tIns="0" bIns="0" anchor="t">
            <a:spAutoFit/>
          </a:bodyPr>
          <a:lstStyle/>
          <a:p>
            <a:pPr algn="l">
              <a:spcAft>
                <a:spcPts val="0"/>
              </a:spcAft>
            </a:pPr>
            <a:r>
              <a:rPr sz="1100" b="1" i="0">
                <a:solidFill>
                  <a:srgbClr val="597181"/>
                </a:solidFill>
                <a:latin typeface="Aptos"/>
              </a:rPr>
              <a:t>Built solo by</a:t>
            </a:r>
          </a:p>
        </p:txBody>
      </p:sp>
      <p:sp>
        <p:nvSpPr>
          <p:cNvPr id="14" name="TextBox 13"/>
          <p:cNvSpPr txBox="1"/>
          <p:nvPr/>
        </p:nvSpPr>
        <p:spPr>
          <a:xfrm>
            <a:off x="9308592" y="2176272"/>
            <a:ext cx="1847088" cy="841248"/>
          </a:xfrm>
          <a:prstGeom prst="rect">
            <a:avLst/>
          </a:prstGeom>
          <a:noFill/>
        </p:spPr>
        <p:txBody>
          <a:bodyPr wrap="square" lIns="0" rIns="0" tIns="0" bIns="0" anchor="t">
            <a:spAutoFit/>
          </a:bodyPr>
          <a:lstStyle/>
          <a:p>
            <a:pPr algn="l">
              <a:spcAft>
                <a:spcPts val="0"/>
              </a:spcAft>
            </a:pPr>
            <a:r>
              <a:rPr sz="2100" b="1" i="0">
                <a:solidFill>
                  <a:srgbClr val="0A2638"/>
                </a:solidFill>
                <a:latin typeface="Aptos"/>
              </a:rPr>
              <a:t>Touhidul
Alam Seyam</a:t>
            </a:r>
          </a:p>
        </p:txBody>
      </p:sp>
      <p:sp>
        <p:nvSpPr>
          <p:cNvPr id="15" name="TextBox 14"/>
          <p:cNvSpPr txBox="1"/>
          <p:nvPr/>
        </p:nvSpPr>
        <p:spPr>
          <a:xfrm>
            <a:off x="9308592" y="3090672"/>
            <a:ext cx="1828800" cy="347472"/>
          </a:xfrm>
          <a:prstGeom prst="rect">
            <a:avLst/>
          </a:prstGeom>
          <a:noFill/>
        </p:spPr>
        <p:txBody>
          <a:bodyPr wrap="square" lIns="0" rIns="0" tIns="0" bIns="0" anchor="t">
            <a:spAutoFit/>
          </a:bodyPr>
          <a:lstStyle/>
          <a:p>
            <a:pPr algn="l">
              <a:spcAft>
                <a:spcPts val="0"/>
              </a:spcAft>
            </a:pPr>
            <a:r>
              <a:rPr sz="950" b="1" i="0">
                <a:solidFill>
                  <a:srgbClr val="087F8C"/>
                </a:solidFill>
                <a:latin typeface="Aptos"/>
              </a:rPr>
              <a:t>BGC Trust University Bangladesh</a:t>
            </a:r>
          </a:p>
        </p:txBody>
      </p:sp>
      <p:sp>
        <p:nvSpPr>
          <p:cNvPr id="16" name="TextBox 15"/>
          <p:cNvSpPr txBox="1"/>
          <p:nvPr/>
        </p:nvSpPr>
        <p:spPr>
          <a:xfrm>
            <a:off x="9308592" y="3493008"/>
            <a:ext cx="1828800" cy="1033271"/>
          </a:xfrm>
          <a:prstGeom prst="rect">
            <a:avLst/>
          </a:prstGeom>
          <a:noFill/>
        </p:spPr>
        <p:txBody>
          <a:bodyPr wrap="square" lIns="0" rIns="0" tIns="0" bIns="0" anchor="t">
            <a:spAutoFit/>
          </a:bodyPr>
          <a:lstStyle/>
          <a:p>
            <a:pPr algn="l">
              <a:spcAft>
                <a:spcPts val="0"/>
              </a:spcAft>
            </a:pPr>
            <a:r>
              <a:rPr sz="1300" b="0" i="0">
                <a:solidFill>
                  <a:srgbClr val="597181"/>
                </a:solidFill>
                <a:latin typeface="Aptos"/>
              </a:rPr>
              <a:t>Product  •  Android  •  Go
Security  •  Routing  •  ML
Next.js  •  Testing  •  Evidence</a:t>
            </a:r>
          </a:p>
        </p:txBody>
      </p:sp>
      <p:sp>
        <p:nvSpPr>
          <p:cNvPr id="17" name="TextBox 16"/>
          <p:cNvSpPr txBox="1"/>
          <p:nvPr/>
        </p:nvSpPr>
        <p:spPr>
          <a:xfrm>
            <a:off x="9308592" y="4764024"/>
            <a:ext cx="1810512" cy="256032"/>
          </a:xfrm>
          <a:prstGeom prst="rect">
            <a:avLst/>
          </a:prstGeom>
          <a:noFill/>
        </p:spPr>
        <p:txBody>
          <a:bodyPr wrap="square" lIns="0" rIns="0" tIns="0" bIns="0" anchor="t">
            <a:spAutoFit/>
          </a:bodyPr>
          <a:lstStyle/>
          <a:p>
            <a:pPr algn="l">
              <a:spcAft>
                <a:spcPts val="0"/>
              </a:spcAft>
            </a:pPr>
            <a:r>
              <a:rPr sz="1050" b="1" i="0">
                <a:solidFill>
                  <a:srgbClr val="087F8C"/>
                </a:solidFill>
                <a:latin typeface="Aptos"/>
              </a:rPr>
              <a:t>SDG 3  •  9  •  11  •  13  •  16</a:t>
            </a:r>
          </a:p>
        </p:txBody>
      </p:sp>
      <p:sp>
        <p:nvSpPr>
          <p:cNvPr id="18" name="TextBox 17"/>
          <p:cNvSpPr txBox="1"/>
          <p:nvPr/>
        </p:nvSpPr>
        <p:spPr>
          <a:xfrm>
            <a:off x="594360" y="6044184"/>
            <a:ext cx="3886200" cy="237744"/>
          </a:xfrm>
          <a:prstGeom prst="rect">
            <a:avLst/>
          </a:prstGeom>
          <a:noFill/>
        </p:spPr>
        <p:txBody>
          <a:bodyPr wrap="square" lIns="0" rIns="0" tIns="0" bIns="0" anchor="t">
            <a:spAutoFit/>
          </a:bodyPr>
          <a:lstStyle/>
          <a:p>
            <a:pPr algn="l">
              <a:spcAft>
                <a:spcPts val="0"/>
              </a:spcAft>
            </a:pPr>
            <a:r>
              <a:rPr sz="1100" b="1" i="0">
                <a:solidFill>
                  <a:srgbClr val="1EB8BC"/>
                </a:solidFill>
                <a:latin typeface="Aptos"/>
              </a:rPr>
              <a:t>digital-delta-headquarters.vercel.app</a:t>
            </a:r>
          </a:p>
        </p:txBody>
      </p:sp>
      <p:sp>
        <p:nvSpPr>
          <p:cNvPr id="19" name="TextBox 18"/>
          <p:cNvSpPr txBox="1"/>
          <p:nvPr/>
        </p:nvSpPr>
        <p:spPr>
          <a:xfrm>
            <a:off x="4727448" y="6044184"/>
            <a:ext cx="3657600" cy="237744"/>
          </a:xfrm>
          <a:prstGeom prst="rect">
            <a:avLst/>
          </a:prstGeom>
          <a:noFill/>
        </p:spPr>
        <p:txBody>
          <a:bodyPr wrap="square" lIns="0" rIns="0" tIns="0" bIns="0" anchor="t">
            <a:spAutoFit/>
          </a:bodyPr>
          <a:lstStyle/>
          <a:p>
            <a:pPr algn="l">
              <a:spcAft>
                <a:spcPts val="0"/>
              </a:spcAft>
            </a:pPr>
            <a:r>
              <a:rPr sz="1100" b="1" i="0">
                <a:solidFill>
                  <a:srgbClr val="9FB7C2"/>
                </a:solidFill>
                <a:latin typeface="Aptos"/>
              </a:rPr>
              <a:t>github.com/Seyamalam/digital-delta</a:t>
            </a:r>
          </a:p>
        </p:txBody>
      </p:sp>
      <p:sp>
        <p:nvSpPr>
          <p:cNvPr id="20" name="TextBox 19"/>
          <p:cNvSpPr txBox="1"/>
          <p:nvPr/>
        </p:nvSpPr>
        <p:spPr>
          <a:xfrm>
            <a:off x="9281160" y="5971032"/>
            <a:ext cx="1920240" cy="365760"/>
          </a:xfrm>
          <a:prstGeom prst="rect">
            <a:avLst/>
          </a:prstGeom>
          <a:noFill/>
        </p:spPr>
        <p:txBody>
          <a:bodyPr wrap="square" lIns="0" rIns="0" tIns="0" bIns="0" anchor="t">
            <a:spAutoFit/>
          </a:bodyPr>
          <a:lstStyle/>
          <a:p>
            <a:pPr algn="r">
              <a:spcAft>
                <a:spcPts val="0"/>
              </a:spcAft>
            </a:pPr>
            <a:r>
              <a:rPr sz="2000" b="1" i="0">
                <a:solidFill>
                  <a:srgbClr val="FFFFFF"/>
                </a:solidFill>
                <a:latin typeface="Aptos"/>
              </a:rPr>
              <a:t>Thank you</a:t>
            </a:r>
          </a:p>
        </p:txBody>
      </p:sp>
      <p:sp>
        <p:nvSpPr>
          <p:cNvPr id="21" name="TextBox 20"/>
          <p:cNvSpPr txBox="1"/>
          <p:nvPr/>
        </p:nvSpPr>
        <p:spPr>
          <a:xfrm>
            <a:off x="530352" y="6519672"/>
            <a:ext cx="2011680" cy="182880"/>
          </a:xfrm>
          <a:prstGeom prst="rect">
            <a:avLst/>
          </a:prstGeom>
          <a:noFill/>
        </p:spPr>
        <p:txBody>
          <a:bodyPr wrap="square" lIns="0" rIns="0" tIns="0" bIns="0" anchor="t">
            <a:spAutoFit/>
          </a:bodyPr>
          <a:lstStyle/>
          <a:p>
            <a:pPr algn="l">
              <a:spcAft>
                <a:spcPts val="0"/>
              </a:spcAft>
            </a:pPr>
            <a:r>
              <a:rPr sz="800" b="1" i="0">
                <a:solidFill>
                  <a:srgbClr val="8CA4AF"/>
                </a:solidFill>
                <a:latin typeface="Aptos"/>
              </a:rPr>
              <a:t>DIGITAL DELTA</a:t>
            </a:r>
          </a:p>
        </p:txBody>
      </p:sp>
      <p:sp>
        <p:nvSpPr>
          <p:cNvPr id="22" name="TextBox 21"/>
          <p:cNvSpPr txBox="1"/>
          <p:nvPr/>
        </p:nvSpPr>
        <p:spPr>
          <a:xfrm>
            <a:off x="11210544" y="6501384"/>
            <a:ext cx="411480" cy="201168"/>
          </a:xfrm>
          <a:prstGeom prst="rect">
            <a:avLst/>
          </a:prstGeom>
          <a:noFill/>
        </p:spPr>
        <p:txBody>
          <a:bodyPr wrap="square" lIns="0" rIns="0" tIns="0" bIns="0" anchor="t">
            <a:spAutoFit/>
          </a:bodyPr>
          <a:lstStyle/>
          <a:p>
            <a:pPr algn="r">
              <a:spcAft>
                <a:spcPts val="0"/>
              </a:spcAft>
            </a:pPr>
            <a:r>
              <a:rPr sz="900" b="1" i="0">
                <a:solidFill>
                  <a:srgbClr val="8CA4AF"/>
                </a:solidFill>
                <a:latin typeface="Aptos"/>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Delta innovation fair pitch</dc:title>
  <dc:subject>Offline disaster logistics and verified relief delivery in Bangladesh</dc:subject>
  <dc:creator>Touhidul Alam Seyam</dc:creator>
  <cp:keywords/>
  <dc:description>Editable eight-slide Innovation Exhibitor deck</dc:description>
  <cp:lastModifiedBy>Touhidul Alam Seyam</cp:lastModifiedBy>
  <cp:revision>1</cp:revision>
  <dcterms:created xsi:type="dcterms:W3CDTF">2013-01-27T09:14:16Z</dcterms:created>
  <dcterms:modified xsi:type="dcterms:W3CDTF">2013-01-27T09:15:58Z</dcterms:modified>
  <cp:category/>
</cp:coreProperties>
</file>