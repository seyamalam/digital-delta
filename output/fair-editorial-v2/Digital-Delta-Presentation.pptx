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490c47360d4782" /><Relationship Type="http://schemas.openxmlformats.org/officeDocument/2006/relationships/extended-properties" Target="/docProps/app.xml" Id="R2f726c4d3c834c24" /><Relationship Type="http://schemas.openxmlformats.org/officeDocument/2006/relationships/officeDocument" Target="/ppt/presentation.xml" Id="R24b8a3bcedb84714" /></Relationships>
</file>

<file path=ppt/presentation.xml><?xml version="1.0" encoding="utf-8"?>
<p:presentation xmlns:p="http://schemas.openxmlformats.org/presentationml/2006/main">
  <p:sldMasterIdLst>
    <p:sldMasterId xmlns:r="http://schemas.openxmlformats.org/officeDocument/2006/relationships" id="2147483648" r:id="R3eac236d77e446f4"/>
  </p:sldMasterIdLst>
  <p:notesMasterIdLst>
    <p:notesMasterId xmlns:r="http://schemas.openxmlformats.org/officeDocument/2006/relationships" r:id="Rec8f3195c552475d"/>
  </p:notesMasterIdLst>
  <p:sldIdLst>
    <p:sldId xmlns:r="http://schemas.openxmlformats.org/officeDocument/2006/relationships" id="256" r:id="R747bf35b97a24969"/>
    <p:sldId xmlns:r="http://schemas.openxmlformats.org/officeDocument/2006/relationships" id="257" r:id="R58058e9f61544a26"/>
    <p:sldId xmlns:r="http://schemas.openxmlformats.org/officeDocument/2006/relationships" id="258" r:id="R0250d1c4077443f8"/>
    <p:sldId xmlns:r="http://schemas.openxmlformats.org/officeDocument/2006/relationships" id="259" r:id="R3e72f244da6148b5"/>
    <p:sldId xmlns:r="http://schemas.openxmlformats.org/officeDocument/2006/relationships" id="260" r:id="R8e3b3144ea1f459b"/>
    <p:sldId xmlns:r="http://schemas.openxmlformats.org/officeDocument/2006/relationships" id="261" r:id="R4ce832e79885400f"/>
    <p:sldId xmlns:r="http://schemas.openxmlformats.org/officeDocument/2006/relationships" id="262" r:id="Rfaf2d22230ac4e49"/>
    <p:sldId xmlns:r="http://schemas.openxmlformats.org/officeDocument/2006/relationships" id="263" r:id="R72d2b14bfb6140ef"/>
    <p:sldId xmlns:r="http://schemas.openxmlformats.org/officeDocument/2006/relationships" id="264" r:id="Re8ae4144fdf24393"/>
    <p:sldId xmlns:r="http://schemas.openxmlformats.org/officeDocument/2006/relationships" id="265" r:id="R0b1e0eaddfc6409f"/>
    <p:sldId xmlns:r="http://schemas.openxmlformats.org/officeDocument/2006/relationships" id="266" r:id="R840a7a5e5c144569"/>
    <p:sldId xmlns:r="http://schemas.openxmlformats.org/officeDocument/2006/relationships" id="267" r:id="Rcd2a29f128a24d65"/>
    <p:sldId xmlns:r="http://schemas.openxmlformats.org/officeDocument/2006/relationships" id="268" r:id="R21a8e20534824a93"/>
    <p:sldId xmlns:r="http://schemas.openxmlformats.org/officeDocument/2006/relationships" id="269" r:id="R94a6ff6a16784e6f"/>
    <p:sldId xmlns:r="http://schemas.openxmlformats.org/officeDocument/2006/relationships" id="270" r:id="R309088314f74409f"/>
    <p:sldId xmlns:r="http://schemas.openxmlformats.org/officeDocument/2006/relationships" id="271" r:id="Reaee478246744c33"/>
    <p:sldId xmlns:r="http://schemas.openxmlformats.org/officeDocument/2006/relationships" id="272" r:id="Rbac3c4e53ac14eec"/>
    <p:sldId xmlns:r="http://schemas.openxmlformats.org/officeDocument/2006/relationships" id="273" r:id="Rd4ae341209be4a4a"/>
    <p:sldId xmlns:r="http://schemas.openxmlformats.org/officeDocument/2006/relationships" id="274" r:id="R8b75ab1877604270"/>
    <p:sldId xmlns:r="http://schemas.openxmlformats.org/officeDocument/2006/relationships" id="275" r:id="Rc4f5c2bd5f064668"/>
    <p:sldId xmlns:r="http://schemas.openxmlformats.org/officeDocument/2006/relationships" id="276" r:id="R9e744682598c4b5e"/>
    <p:sldId xmlns:r="http://schemas.openxmlformats.org/officeDocument/2006/relationships" id="277" r:id="Re1c6d2a0b9614f49"/>
    <p:sldId xmlns:r="http://schemas.openxmlformats.org/officeDocument/2006/relationships" id="278" r:id="R60c1a9e2cb634ef7"/>
    <p:sldId xmlns:r="http://schemas.openxmlformats.org/officeDocument/2006/relationships" id="279" r:id="R3661010dbdb14e00"/>
    <p:sldId xmlns:r="http://schemas.openxmlformats.org/officeDocument/2006/relationships" id="280" r:id="Rde4ac080ecf742dc"/>
    <p:sldId xmlns:r="http://schemas.openxmlformats.org/officeDocument/2006/relationships" id="281" r:id="R0a85473492d341d8"/>
    <p:sldId xmlns:r="http://schemas.openxmlformats.org/officeDocument/2006/relationships" id="282" r:id="R0c8f5a6a803049f7"/>
    <p:sldId xmlns:r="http://schemas.openxmlformats.org/officeDocument/2006/relationships" id="283" r:id="R42d40b7d91a14365"/>
    <p:sldId xmlns:r="http://schemas.openxmlformats.org/officeDocument/2006/relationships" id="284" r:id="R0a1df2df94864397"/>
    <p:sldId xmlns:r="http://schemas.openxmlformats.org/officeDocument/2006/relationships" id="285" r:id="Rb7659142b74a45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ffa2b3e0304cce" /><Relationship Type="http://schemas.openxmlformats.org/officeDocument/2006/relationships/slideMaster" Target="/ppt/slideMasters/slideMaster1.xml" Id="R3eac236d77e446f4" /><Relationship Type="http://schemas.openxmlformats.org/officeDocument/2006/relationships/notesMaster" Target="/ppt/notesMasters/notesMaster1.xml" Id="Rec8f3195c552475d" /><Relationship Type="http://schemas.openxmlformats.org/officeDocument/2006/relationships/presProps" Target="/ppt/presProps.xml" Id="R517722eda3c94d2e" /><Relationship Type="http://schemas.openxmlformats.org/officeDocument/2006/relationships/tableStyles" Target="/ppt/tableStyles.xml" Id="R6b5c915c5de74b77" /><Relationship Type="http://schemas.openxmlformats.org/officeDocument/2006/relationships/slide" Target="/ppt/slides/slide1.xml" Id="R747bf35b97a24969" /><Relationship Type="http://schemas.openxmlformats.org/officeDocument/2006/relationships/slide" Target="/ppt/slides/slide2.xml" Id="R58058e9f61544a26" /><Relationship Type="http://schemas.openxmlformats.org/officeDocument/2006/relationships/slide" Target="/ppt/slides/slide3.xml" Id="R0250d1c4077443f8" /><Relationship Type="http://schemas.openxmlformats.org/officeDocument/2006/relationships/slide" Target="/ppt/slides/slide4.xml" Id="R3e72f244da6148b5" /><Relationship Type="http://schemas.openxmlformats.org/officeDocument/2006/relationships/slide" Target="/ppt/slides/slide5.xml" Id="R8e3b3144ea1f459b" /><Relationship Type="http://schemas.openxmlformats.org/officeDocument/2006/relationships/slide" Target="/ppt/slides/slide6.xml" Id="R4ce832e79885400f" /><Relationship Type="http://schemas.openxmlformats.org/officeDocument/2006/relationships/slide" Target="/ppt/slides/slide7.xml" Id="Rfaf2d22230ac4e49" /><Relationship Type="http://schemas.openxmlformats.org/officeDocument/2006/relationships/slide" Target="/ppt/slides/slide8.xml" Id="R72d2b14bfb6140ef" /><Relationship Type="http://schemas.openxmlformats.org/officeDocument/2006/relationships/slide" Target="/ppt/slides/slide9.xml" Id="Re8ae4144fdf24393" /><Relationship Type="http://schemas.openxmlformats.org/officeDocument/2006/relationships/slide" Target="/ppt/slides/slide10.xml" Id="R0b1e0eaddfc6409f" /><Relationship Type="http://schemas.openxmlformats.org/officeDocument/2006/relationships/slide" Target="/ppt/slides/slide11.xml" Id="R840a7a5e5c144569" /><Relationship Type="http://schemas.openxmlformats.org/officeDocument/2006/relationships/slide" Target="/ppt/slides/slide12.xml" Id="Rcd2a29f128a24d65" /><Relationship Type="http://schemas.openxmlformats.org/officeDocument/2006/relationships/slide" Target="/ppt/slides/slide13.xml" Id="R21a8e20534824a93" /><Relationship Type="http://schemas.openxmlformats.org/officeDocument/2006/relationships/slide" Target="/ppt/slides/slide14.xml" Id="R94a6ff6a16784e6f" /><Relationship Type="http://schemas.openxmlformats.org/officeDocument/2006/relationships/slide" Target="/ppt/slides/slide15.xml" Id="R309088314f74409f" /><Relationship Type="http://schemas.openxmlformats.org/officeDocument/2006/relationships/slide" Target="/ppt/slides/slide16.xml" Id="Reaee478246744c33" /><Relationship Type="http://schemas.openxmlformats.org/officeDocument/2006/relationships/slide" Target="/ppt/slides/slide17.xml" Id="Rbac3c4e53ac14eec" /><Relationship Type="http://schemas.openxmlformats.org/officeDocument/2006/relationships/slide" Target="/ppt/slides/slide18.xml" Id="Rd4ae341209be4a4a" /><Relationship Type="http://schemas.openxmlformats.org/officeDocument/2006/relationships/slide" Target="/ppt/slides/slide19.xml" Id="R8b75ab1877604270" /><Relationship Type="http://schemas.openxmlformats.org/officeDocument/2006/relationships/slide" Target="/ppt/slides/slide20.xml" Id="Rc4f5c2bd5f064668" /><Relationship Type="http://schemas.openxmlformats.org/officeDocument/2006/relationships/slide" Target="/ppt/slides/slide21.xml" Id="R9e744682598c4b5e" /><Relationship Type="http://schemas.openxmlformats.org/officeDocument/2006/relationships/slide" Target="/ppt/slides/slide22.xml" Id="Re1c6d2a0b9614f49" /><Relationship Type="http://schemas.openxmlformats.org/officeDocument/2006/relationships/slide" Target="/ppt/slides/slide23.xml" Id="R60c1a9e2cb634ef7" /><Relationship Type="http://schemas.openxmlformats.org/officeDocument/2006/relationships/slide" Target="/ppt/slides/slide24.xml" Id="R3661010dbdb14e00" /><Relationship Type="http://schemas.openxmlformats.org/officeDocument/2006/relationships/slide" Target="/ppt/slides/slide25.xml" Id="Rde4ac080ecf742dc" /><Relationship Type="http://schemas.openxmlformats.org/officeDocument/2006/relationships/slide" Target="/ppt/slides/slide26.xml" Id="R0a85473492d341d8" /><Relationship Type="http://schemas.openxmlformats.org/officeDocument/2006/relationships/slide" Target="/ppt/slides/slide27.xml" Id="R0c8f5a6a803049f7" /><Relationship Type="http://schemas.openxmlformats.org/officeDocument/2006/relationships/slide" Target="/ppt/slides/slide28.xml" Id="R42d40b7d91a14365" /><Relationship Type="http://schemas.openxmlformats.org/officeDocument/2006/relationships/slide" Target="/ppt/slides/slide29.xml" Id="R0a1df2df94864397" /><Relationship Type="http://schemas.openxmlformats.org/officeDocument/2006/relationships/slide" Target="/ppt/slides/slide30.xml" Id="Rb7659142b74a45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b5a4d8b02744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c63db40bf747f3" /><Relationship Type="http://schemas.openxmlformats.org/officeDocument/2006/relationships/notesMaster" Target="/ppt/notesMasters/notesMaster1.xml" Id="Rf13b7d9bf4954c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9a2d3e1c94f30" /><Relationship Type="http://schemas.openxmlformats.org/officeDocument/2006/relationships/notesMaster" Target="/ppt/notesMasters/notesMaster1.xml" Id="R216e682fd6e0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70e3333c7e4053" /><Relationship Type="http://schemas.openxmlformats.org/officeDocument/2006/relationships/notesMaster" Target="/ppt/notesMasters/notesMaster1.xml" Id="R2b414f68834841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ee6f99762c4aa4" /><Relationship Type="http://schemas.openxmlformats.org/officeDocument/2006/relationships/notesMaster" Target="/ppt/notesMasters/notesMaster1.xml" Id="R98d520ad9e474f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baa060a2004b36" /><Relationship Type="http://schemas.openxmlformats.org/officeDocument/2006/relationships/notesMaster" Target="/ppt/notesMasters/notesMaster1.xml" Id="R843cff7433e44b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9127628cf146ca" /><Relationship Type="http://schemas.openxmlformats.org/officeDocument/2006/relationships/notesMaster" Target="/ppt/notesMasters/notesMaster1.xml" Id="R10cd54796ece42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c67797ab9d4c91" /><Relationship Type="http://schemas.openxmlformats.org/officeDocument/2006/relationships/notesMaster" Target="/ppt/notesMasters/notesMaster1.xml" Id="R5cf7ae25f8ae4e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3404bc185d4533" /><Relationship Type="http://schemas.openxmlformats.org/officeDocument/2006/relationships/notesMaster" Target="/ppt/notesMasters/notesMaster1.xml" Id="R5af8e71e455c4f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d67425ee214f9c" /><Relationship Type="http://schemas.openxmlformats.org/officeDocument/2006/relationships/notesMaster" Target="/ppt/notesMasters/notesMaster1.xml" Id="R94d30cc2667c40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7651c9afff43c4" /><Relationship Type="http://schemas.openxmlformats.org/officeDocument/2006/relationships/notesMaster" Target="/ppt/notesMasters/notesMaster1.xml" Id="Rb876b7eac56848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7c961feaf046bc" /><Relationship Type="http://schemas.openxmlformats.org/officeDocument/2006/relationships/notesMaster" Target="/ppt/notesMasters/notesMaster1.xml" Id="R9e16670491444d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e8f3637a874a82" /><Relationship Type="http://schemas.openxmlformats.org/officeDocument/2006/relationships/notesMaster" Target="/ppt/notesMasters/notesMaster1.xml" Id="Rc7db6a99dfb441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d25dad81f54f7e" /><Relationship Type="http://schemas.openxmlformats.org/officeDocument/2006/relationships/notesMaster" Target="/ppt/notesMasters/notesMaster1.xml" Id="R3ebb7316d03b4c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441b60bb7c4573" /><Relationship Type="http://schemas.openxmlformats.org/officeDocument/2006/relationships/notesMaster" Target="/ppt/notesMasters/notesMaster1.xml" Id="R230ebf4eaf304f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c6de39df064efe" /><Relationship Type="http://schemas.openxmlformats.org/officeDocument/2006/relationships/notesMaster" Target="/ppt/notesMasters/notesMaster1.xml" Id="R38d9e9c625824a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a2b22ad64e418c" /><Relationship Type="http://schemas.openxmlformats.org/officeDocument/2006/relationships/notesMaster" Target="/ppt/notesMasters/notesMaster1.xml" Id="R851add014c8d46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5668fa2d404da3" /><Relationship Type="http://schemas.openxmlformats.org/officeDocument/2006/relationships/notesMaster" Target="/ppt/notesMasters/notesMaster1.xml" Id="Rad5bd0953b7244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0fd8e9fe7c404d" /><Relationship Type="http://schemas.openxmlformats.org/officeDocument/2006/relationships/notesMaster" Target="/ppt/notesMasters/notesMaster1.xml" Id="R2f984d0fd63a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7c935f5bc94fcd" /><Relationship Type="http://schemas.openxmlformats.org/officeDocument/2006/relationships/notesMaster" Target="/ppt/notesMasters/notesMaster1.xml" Id="R557b87fd36a34d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15788282a84252" /><Relationship Type="http://schemas.openxmlformats.org/officeDocument/2006/relationships/notesMaster" Target="/ppt/notesMasters/notesMaster1.xml" Id="Recfca21330c748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fd72b9611b4827" /><Relationship Type="http://schemas.openxmlformats.org/officeDocument/2006/relationships/notesMaster" Target="/ppt/notesMasters/notesMaster1.xml" Id="R7aa6668072784b9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c91bfb6a684cbe" /><Relationship Type="http://schemas.openxmlformats.org/officeDocument/2006/relationships/notesMaster" Target="/ppt/notesMasters/notesMaster1.xml" Id="R43f1880da2c641b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26b3c1f04b428e" /><Relationship Type="http://schemas.openxmlformats.org/officeDocument/2006/relationships/notesMaster" Target="/ppt/notesMasters/notesMaster1.xml" Id="Ra67498a7ef844a2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a4ce793f9848f7" /><Relationship Type="http://schemas.openxmlformats.org/officeDocument/2006/relationships/notesMaster" Target="/ppt/notesMasters/notesMaster1.xml" Id="R05a63a98861f4df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4d8b52f5ba4fd0" /><Relationship Type="http://schemas.openxmlformats.org/officeDocument/2006/relationships/notesMaster" Target="/ppt/notesMasters/notesMaster1.xml" Id="R2e80aef8257a4d0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edb858874347f3" /><Relationship Type="http://schemas.openxmlformats.org/officeDocument/2006/relationships/notesMaster" Target="/ppt/notesMasters/notesMaster1.xml" Id="R95270876b3cc49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05fb0c04474a16" /><Relationship Type="http://schemas.openxmlformats.org/officeDocument/2006/relationships/notesMaster" Target="/ppt/notesMasters/notesMaster1.xml" Id="Rd905e1a01ea44f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858ae1efa1e4953" /><Relationship Type="http://schemas.openxmlformats.org/officeDocument/2006/relationships/notesMaster" Target="/ppt/notesMasters/notesMaster1.xml" Id="R1f7a1d4018a8491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9f093a7b974bc6" /><Relationship Type="http://schemas.openxmlformats.org/officeDocument/2006/relationships/notesMaster" Target="/ppt/notesMasters/notesMaster1.xml" Id="R88d5b770656a442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0467c76ee2347a6" /><Relationship Type="http://schemas.openxmlformats.org/officeDocument/2006/relationships/notesMaster" Target="/ppt/notesMasters/notesMaster1.xml" Id="R8b0fbb550a94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slides 1–14. Suggested speaking time 7–9 minutes, subject to organizer rules. For 5 minutes, use slides 1, 2, 3, 5, 6, 8, 9, 13 and 14. Introduce Touhidul Alam Seyam, BGC Trust University Bangladesh. An offline disaster logistics demonstration for Innovate to Market. The river illustration is AI-generated concept 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 estimates are not a time series. UN Bangladesh 2022 response plan: 7.2 million affected in nine northeastern districts. NAWG June 2024: 3.74 million in six districts. Different coverage, do not sum. Sources: https://bangladesh.un.org/en/188010-flash-floods-humanitarian-response-plan-2022-united-nations-bangladesh-coordinated-appeal</a:t>
            </a:r>
          </a:p>
          <a:p xmlns:a="http://schemas.openxmlformats.org/drawingml/2006/main">
            <a:r>
              <a:t>https://bangladesh.un.org/sites/default/files/2022-06/situation_overview_flash_flood_final_draft_.pdf</a:t>
            </a:r>
          </a:p>
          <a:p xmlns:a="http://schemas.openxmlformats.org/drawingml/2006/main">
            <a:r>
              <a:t>https://bangladesh.un.org/bn/download/163651/272834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This is a conceptual cross-module story. Screenshots are separate seeded captures, not an assertion that a physical end-to-end mission was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The displayed English request form shows cargo fields. An enlarged source crop is shown beside a full capture. A saved or queued state must not be described as delivery acceptance. Source: /Users/seyam/Work/Innovation_fair/artifacts/screenshots/field-en/03-field-en-p0-request-1280x2856.png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AES-256-GCM encrypts payload. RSA-OAEP wraps recipient key. RSA-2048-PSS signatures and signed credentials bind authority. Relays validate forwarding and integrity fields, persist ciphertext and acknowledge storage. Receipt is not final domain acceptance. See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Initial truck edges E1 and E3. Confirmed simulated failure excludes E3. Strict mode constraints and deterministic search select the boat alternative. Real route safety and target-phone latency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The M6 policy uses route ETA, 30 percent slowdown, safe waypoint and a five minute staleness guard. It records the confirmer, reason, cargo and policy version. Logistics priority is not clinical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Native Android Keystore signatures and local verification are implemented. Nonce consumption and linked two-party receipts have automated evidence. These app captures show simulated cargo. Physical camera scanning between phones in airplane mode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hypothesis. Government and NGO preparedness or health logistics teams are potential sponsors, not confirmed customers. No interviews or willingness-to-pay study have been completed for this report. https://bangladesh.un.org/bn/download/163651/272834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First-party public materials reviewed 4 September 2026. These are adjacent alternatives, not a universal feature audit. Sahana source is the Eden legacy archive. Sources:</a:t>
            </a:r>
          </a:p>
          <a:p xmlns:a="http://schemas.openxmlformats.org/drawingml/2006/main">
            <a:r>
              <a:t>https://sahanafoundation.org/products/eden/</a:t>
            </a:r>
          </a:p>
          <a:p xmlns:a="http://schemas.openxmlformats.org/drawingml/2006/main">
            <a:r>
              <a:t>https://support.kobotoolbox.org/data_collection_kobocollect.html</a:t>
            </a:r>
          </a:p>
          <a:p xmlns:a="http://schemas.openxmlformats.org/drawingml/2006/main">
            <a:r>
              <a:t>https://www.ushahidi.com/features/</a:t>
            </a:r>
          </a:p>
          <a:p xmlns:a="http://schemas.openxmlformats.org/drawingml/2006/main">
            <a:r>
              <a:t>https://briarproject.org/how-it-works/</a:t>
            </a:r>
          </a:p>
          <a:p xmlns:a="http://schemas.openxmlformats.org/drawingml/2006/main">
            <a:r>
              <a:t>https://meshtastic.org/docs/introduction/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service model, not current revenue or validated pricing. Setup includes workflow mapping, devices, signed identities, offline maps and training. Acceptance produces evidence. Seasonal readiness support requires an agreed owner and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assumptions only. Engineering BDT 200,000; facilitation 48,000; security 40,000; phones 108,000; power accessories 24,000; travel 30,000. Subtotal: BDT 450,000. Contingency: BDT 67,500. Total: BDT 517,500. The chart aggregates workflow and facilitation as BDT 248,000, and devices and power as BDT 132,000. No supplier quotes, contract or actual spend. Excludes taxes, emergency transport and ongoing production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Existing final local gate 2026-09-04 reports the same 60 journeys passed on each Android 15 and Android 16 emulator. There were 17 dashboard tests and 3 archive tests. At 10,000 Go loopback streams, p95 acknowledgement was 57.645 seconds and RSS was 1.19 GiB. This is server capacity evidence, not phone mesh latency. No new verification run performed for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pitch here. Ask for a discovery meeting and a nominated operational owner. Agree a supervised three-phone test and baseline, then review whether a 12-week pilot is justified. No current institutional endorsement, customer, award or funding is claimed. Project lead Touhidul Alam Seyam, BGC Trust University Bangladesh. https://github.com/Seyamalam/digital-delta. AI-generated handoff concept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Compose, ViewModels and repositories coordinate Room, DataStore, Keystore, ONNX and Nearby. Foreground service owns active radio; WorkManager handles bounded 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Each phone performs local identity checks, routing, priority and custody. Optional local and public views have no authority over field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Store before acknowledge. The recipient may still reject a stored envelope. Stable IDs, nonce checks, TTL and hop limits bound duplicate effects and retries.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Vector clocks expose concurrent edits. Safe types merge by deterministic rules. Safety-sensitive destination, priority and quantity conflicts require review. Physical convergence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Confirmed failed edges are excluded. Synthetic risk adds cost. Local ETA feeds a fresh safe-waypoint priority proposal, followed by human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has 6,000 deterministic synthetic rows: 4,200 training, 900 validation and 900 test. The threshold of 0.285 was selected on validation data. Model precision is 0.612766, recall 0.837209 and F1 0.707617. Baseline precision is 0.954545, recall 0.061047 and F1 0.114754. The confusion matrix contains 374 true negatives, 182 false positives, 56 false negatives and 288 true positives. Maximum ONNX parity error is 8.94e-8. Source models/route-decay/MODEL_CARD.md. These are not real flood prediction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schedule, not a customer commitment or organizer requirement. Agree stop conditions. Retain approved procedures during the shadow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June 2024 NAWG assessment covers 3.74 million people, 6 districts, 64 upazilas and 360 unions. These units overlap and are not purchasing accounts. Verify institution lists, authority, preparedness budgets, procurement and realistic annual contract assumptions before estimating revenue TAM/SAM/SOM. https://bangladesh.un.org/bn/download/163651/272834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research, not completed interviews. Suggested sample: 4 field users, 4 coordinators and 4 budget, IT or procurement owners. Small qualitative study tests workflows and buying hypotheses, not statistical market prevalence. Obtain consent and avoid sensitive beneficiary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Full original captures demonstrate bundled language choice, Bangla home, trusted provisioning and English role denial. Human accessibility review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Single-emulator live lifecycle proves start, advertise/discover and stop, not completed A-B-C transmission or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Reviewed OSM-based PMTiles archive with checksum-pinned mobile extract. Geographic map does not guarantee current route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M8 classifies air-only destination as drone-required. An 18-minute simulated boat delay replans the rendezvous from R3 to R2, with a 20 percent reserve. Linked signatures record boat-to-simulated-drone custody. No physical drone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Local Next.js projection with Go ordered events and optional sanitized archive. The observer is disposable and cannot authorize custody.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docs/ARCHITECTURE.md and docs/TESTING.md. Evidence reviewed 4 September 2026. All environmental and vehicle inputs are simulated. Physical multi-phone acceptance is still open. Recorded local observer experiment. Source artifacts/reports/fault-injection/2026-09-04-dashboard-disconnect.md. Physical phone continuity with laptop off remains separate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External sources reviewed 4 September 2026:</a:t>
            </a:r>
          </a:p>
          <a:p xmlns:a="http://schemas.openxmlformats.org/drawingml/2006/main">
            <a:r>
              <a:t>S01 Flash Floods Humanitarian Response Plan 2022 https://bangladesh.un.org/en/188010-flash-floods-humanitarian-response-plan-2022-united-nations-bangladesh-coordinated-appeal</a:t>
            </a:r>
          </a:p>
          <a:p xmlns:a="http://schemas.openxmlformats.org/drawingml/2006/main">
            <a:r>
              <a:t>S02 Severe Flash Floods Situation Update 1 https://bangladesh.un.org/sites/default/files/2022-06/situation_overview_flash_flood_final_draft_.pdf</a:t>
            </a:r>
          </a:p>
          <a:p xmlns:a="http://schemas.openxmlformats.org/drawingml/2006/main">
            <a:r>
              <a:t>S03 Rapid Assessment of Northeastern Flood 2024 https://bangladesh.un.org/bn/download/163651/272834</a:t>
            </a:r>
          </a:p>
          <a:p xmlns:a="http://schemas.openxmlformats.org/drawingml/2006/main">
            <a:r>
              <a:t>S04 Bangladesh flood risk reduction and recovery financing https://www.worldbank.org/en/news/press-release/2025/05/14/world-bank-supports-bangladesh-in-flood-risk-reduction-and-recovery</a:t>
            </a:r>
          </a:p>
          <a:p xmlns:a="http://schemas.openxmlformats.org/drawingml/2006/main">
            <a:r>
              <a:t>S05 Innovate to Market and exhibitor information https://www.innovationfairbd.org/</a:t>
            </a:r>
          </a:p>
          <a:p xmlns:a="http://schemas.openxmlformats.org/drawingml/2006/main">
            <a:r>
              <a:t>S06 Eden Legacy Archive and documented capabilities https://sahanafoundation.org/products/eden/</a:t>
            </a:r>
          </a:p>
          <a:p xmlns:a="http://schemas.openxmlformats.org/drawingml/2006/main">
            <a:r>
              <a:t>S07 Collecting data using KoboCollect https://support.kobotoolbox.org/data_collection_kobocollect.html</a:t>
            </a:r>
          </a:p>
          <a:p xmlns:a="http://schemas.openxmlformats.org/drawingml/2006/main">
            <a:r>
              <a:t>S08 Platform features and enterprise deployments https://www.ushahidi.com/features/</a:t>
            </a:r>
          </a:p>
          <a:p xmlns:a="http://schemas.openxmlformats.org/drawingml/2006/main">
            <a:r>
              <a:t>S09 How it works https://briarproject.org/how-it-works/</a:t>
            </a:r>
          </a:p>
          <a:p xmlns:a="http://schemas.openxmlformats.org/drawingml/2006/main">
            <a:r>
              <a:t>S10 Introduction to off grid mesh communication https://meshtastic.org/docs/introduction/</a:t>
            </a:r>
          </a:p>
          <a:p xmlns:a="http://schemas.openxmlformats.org/drawingml/2006/main">
            <a:r>
              <a:t>R01 README and technical architecture https://github.com/Seyamalam/digital-delta</a:t>
            </a:r>
          </a:p>
          <a:p xmlns:a="http://schemas.openxmlformats.org/drawingml/2006/main">
            <a:r>
              <a:t>Repository evidence:</a:t>
            </a:r>
          </a:p>
          <a:p xmlns:a="http://schemas.openxmlformats.org/drawingml/2006/main">
            <a:r>
              <a:t>R02 artifacts/reports/verification/2026-09-04-final-local-gate.md</a:t>
            </a:r>
          </a:p>
          <a:p xmlns:a="http://schemas.openxmlformats.org/drawingml/2006/main">
            <a:r>
              <a:t>R03 artifacts/reports/load/2026-09-04-go-10000.md</a:t>
            </a:r>
          </a:p>
          <a:p xmlns:a="http://schemas.openxmlformats.org/drawingml/2006/main">
            <a:r>
              <a:t>R04 models/route-decay/MODEL_CARD.md</a:t>
            </a:r>
          </a:p>
          <a:p xmlns:a="http://schemas.openxmlformats.org/drawingml/2006/main">
            <a:r>
              <a:t>R05 docs/TESTING.md and docs/PHYSICAL_DEVICE_TEST.md</a:t>
            </a:r>
          </a:p>
          <a:p xmlns:a="http://schemas.openxmlformats.org/drawingml/2006/main">
            <a:r>
              <a:t>R06 artifacts/screenshots/field-bn, field-en, command-bn, command-en</a:t>
            </a:r>
          </a:p>
          <a:p xmlns:a="http://schemas.openxmlformats.org/drawingml/2006/main">
            <a:r>
              <a:t>R07 docs/SECURITY.md and artifacts/reports/claim-audit/2026-09-04.md</a:t>
            </a:r>
          </a:p>
          <a:p xmlns:a="http://schemas.openxmlformats.org/drawingml/2006/main">
            <a:r>
              <a:t>R08 docs/PRD.md and research/innovation-fair-fit.md</a:t>
            </a:r>
          </a:p>
          <a:p xmlns:a="http://schemas.openxmlformats.org/drawingml/2006/main">
            <a:r>
              <a:t>Original screenshots from artifacts/screenshots; crops retain source context in the report. Three AI illustrations are concept art. Original vector diagrams are supplied in editable .drawio format and as SVG. No physical deployment or customer research is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49ff18897a41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7d9caf3655418b" /><Relationship Type="http://schemas.openxmlformats.org/officeDocument/2006/relationships/slideLayout" Target="/ppt/slideLayouts/slideLayout1.xml" Id="R7451a65b4ac449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51a65b4ac449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3213fcca364bf1" /><Relationship Type="http://schemas.openxmlformats.org/officeDocument/2006/relationships/image" Target="/ppt/media/image.png" Id="Rba1e70ac7c014950" /><Relationship Type="http://schemas.openxmlformats.org/officeDocument/2006/relationships/image" Target="/ppt/media/image2.png" Id="R6e837438f74246fa" /><Relationship Type="http://schemas.openxmlformats.org/officeDocument/2006/relationships/notesSlide" Target="/ppt/notesSlides/notesSlide1.xml" Id="R16b9e545b9f5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f73db441e243a9" /><Relationship Type="http://schemas.openxmlformats.org/officeDocument/2006/relationships/notesSlide" Target="/ppt/notesSlides/notesSlide2.xml" Id="R724f4b3999944d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cf2a30e30544ad" /><Relationship Type="http://schemas.openxmlformats.org/officeDocument/2006/relationships/notesSlide" Target="/ppt/notesSlides/notesSlide3.xml" Id="R20bc81eaec8743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4438e422094fda" /><Relationship Type="http://schemas.openxmlformats.org/officeDocument/2006/relationships/image" Target="/ppt/media/image3.png" Id="R710a2822c1d54283" /><Relationship Type="http://schemas.openxmlformats.org/officeDocument/2006/relationships/image" Target="/ppt/media/image4.png" Id="R14d2b0d5277949e8" /><Relationship Type="http://schemas.openxmlformats.org/officeDocument/2006/relationships/notesSlide" Target="/ppt/notesSlides/notesSlide4.xml" Id="R7c3d88be550542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4e990c22844e6b" /><Relationship Type="http://schemas.openxmlformats.org/officeDocument/2006/relationships/notesSlide" Target="/ppt/notesSlides/notesSlide5.xml" Id="R5d3200a111b741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f950bff0ac4ced" /><Relationship Type="http://schemas.openxmlformats.org/officeDocument/2006/relationships/image" Target="/ppt/media/image5.png" Id="R5d1c63cdb6ce4318" /><Relationship Type="http://schemas.openxmlformats.org/officeDocument/2006/relationships/notesSlide" Target="/ppt/notesSlides/notesSlide6.xml" Id="Rc603a1091e6547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635097f0c94f73" /><Relationship Type="http://schemas.openxmlformats.org/officeDocument/2006/relationships/image" Target="/ppt/media/image6.png" Id="R3089689579db4e1b" /><Relationship Type="http://schemas.openxmlformats.org/officeDocument/2006/relationships/notesSlide" Target="/ppt/notesSlides/notesSlide7.xml" Id="R4fdf056b87044c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e219d1dc7745ba" /><Relationship Type="http://schemas.openxmlformats.org/officeDocument/2006/relationships/image" Target="/ppt/media/image7.png" Id="R20ae97712ea641c8" /><Relationship Type="http://schemas.openxmlformats.org/officeDocument/2006/relationships/image" Target="/ppt/media/image8.png" Id="Rb6c98d0cc06041bb" /><Relationship Type="http://schemas.openxmlformats.org/officeDocument/2006/relationships/image" Target="/ppt/media/image9.png" Id="Ra247c3a422b9487c" /><Relationship Type="http://schemas.openxmlformats.org/officeDocument/2006/relationships/notesSlide" Target="/ppt/notesSlides/notesSlide8.xml" Id="R8bffb36f6a7b40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ece1863d9445c9" /><Relationship Type="http://schemas.openxmlformats.org/officeDocument/2006/relationships/notesSlide" Target="/ppt/notesSlides/notesSlide9.xml" Id="R4a5a74e4f96d4c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88ed33bb0843ac" /><Relationship Type="http://schemas.openxmlformats.org/officeDocument/2006/relationships/notesSlide" Target="/ppt/notesSlides/notesSlide10.xml" Id="R6c5b8c1c7a264f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c924422f7f41b5" /><Relationship Type="http://schemas.openxmlformats.org/officeDocument/2006/relationships/notesSlide" Target="/ppt/notesSlides/notesSlide11.xml" Id="Rfc60f8d23aad44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1d1417ebba49b7" /><Relationship Type="http://schemas.openxmlformats.org/officeDocument/2006/relationships/chart" Target="/ppt/slides/charts/chart1.xml" Id="R84439cfad8a94912" /><Relationship Type="http://schemas.openxmlformats.org/officeDocument/2006/relationships/notesSlide" Target="/ppt/notesSlides/notesSlide12.xml" Id="R210c86a2d7d441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aab5211b1a4a38" /><Relationship Type="http://schemas.openxmlformats.org/officeDocument/2006/relationships/notesSlide" Target="/ppt/notesSlides/notesSlide13.xml" Id="R8c8e2f6c24a34c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ceb9ab55c546e6" /><Relationship Type="http://schemas.openxmlformats.org/officeDocument/2006/relationships/image" Target="/ppt/media/image10.png" Id="R76aefcfca0fb4705" /><Relationship Type="http://schemas.openxmlformats.org/officeDocument/2006/relationships/notesSlide" Target="/ppt/notesSlides/notesSlide14.xml" Id="Rc29fdfa2a2294a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705de684564531" /><Relationship Type="http://schemas.openxmlformats.org/officeDocument/2006/relationships/notesSlide" Target="/ppt/notesSlides/notesSlide15.xml" Id="Rfc0b9f366fac42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5d43cde74664aa6" /><Relationship Type="http://schemas.openxmlformats.org/officeDocument/2006/relationships/notesSlide" Target="/ppt/notesSlides/notesSlide16.xml" Id="Rb5f50b87e5cf44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3cd500d01fe44fc" /><Relationship Type="http://schemas.openxmlformats.org/officeDocument/2006/relationships/notesSlide" Target="/ppt/notesSlides/notesSlide17.xml" Id="R00eab329ad3b49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1f4ba27d5a2478b" /><Relationship Type="http://schemas.openxmlformats.org/officeDocument/2006/relationships/notesSlide" Target="/ppt/notesSlides/notesSlide18.xml" Id="R232bf61f2eb041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56b6515d639412f" /><Relationship Type="http://schemas.openxmlformats.org/officeDocument/2006/relationships/notesSlide" Target="/ppt/notesSlides/notesSlide19.xml" Id="Rf85d6347b0c14b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65f969e8c764508" /><Relationship Type="http://schemas.openxmlformats.org/officeDocument/2006/relationships/chart" Target="/ppt/slides/charts/chart2.xml" Id="R8f3b1d1dcc0a4d25" /><Relationship Type="http://schemas.openxmlformats.org/officeDocument/2006/relationships/notesSlide" Target="/ppt/notesSlides/notesSlide20.xml" Id="Rf3d1dfbcc68844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24e8ed66f74024" /><Relationship Type="http://schemas.openxmlformats.org/officeDocument/2006/relationships/notesSlide" Target="/ppt/notesSlides/notesSlide21.xml" Id="R355bf24b85b54b3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b129103b84c4aee" /><Relationship Type="http://schemas.openxmlformats.org/officeDocument/2006/relationships/notesSlide" Target="/ppt/notesSlides/notesSlide22.xml" Id="R038858eddaef41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80a1861bf144bf6" /><Relationship Type="http://schemas.openxmlformats.org/officeDocument/2006/relationships/notesSlide" Target="/ppt/notesSlides/notesSlide23.xml" Id="R0b50888b722f43c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ece6a5a4fb744de" /><Relationship Type="http://schemas.openxmlformats.org/officeDocument/2006/relationships/image" Target="/ppt/media/image11.png" Id="Rc2b3e078b2854743" /><Relationship Type="http://schemas.openxmlformats.org/officeDocument/2006/relationships/image" Target="/ppt/media/image12.png" Id="R5fa783536a194ad8" /><Relationship Type="http://schemas.openxmlformats.org/officeDocument/2006/relationships/image" Target="/ppt/media/image13.png" Id="R0ea454867c9b4a2d" /><Relationship Type="http://schemas.openxmlformats.org/officeDocument/2006/relationships/image" Target="/ppt/media/image14.png" Id="Rc8fea215ec8a4597" /><Relationship Type="http://schemas.openxmlformats.org/officeDocument/2006/relationships/notesSlide" Target="/ppt/notesSlides/notesSlide24.xml" Id="R0b7ec25f94f94b1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96c21a78934925" /><Relationship Type="http://schemas.openxmlformats.org/officeDocument/2006/relationships/image" Target="/ppt/media/image15.png" Id="Rf5edc3e12ada48fe" /><Relationship Type="http://schemas.openxmlformats.org/officeDocument/2006/relationships/image" Target="/ppt/media/image16.png" Id="R1b892234b4804784" /><Relationship Type="http://schemas.openxmlformats.org/officeDocument/2006/relationships/notesSlide" Target="/ppt/notesSlides/notesSlide25.xml" Id="Rfc91cc1729444e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4c914e14fd64939" /><Relationship Type="http://schemas.openxmlformats.org/officeDocument/2006/relationships/image" Target="/ppt/media/image17.png" Id="Rfde979cce61f4d42" /><Relationship Type="http://schemas.openxmlformats.org/officeDocument/2006/relationships/image" Target="/ppt/media/image18.png" Id="R0d122a16a57d4c15" /><Relationship Type="http://schemas.openxmlformats.org/officeDocument/2006/relationships/notesSlide" Target="/ppt/notesSlides/notesSlide26.xml" Id="Rdd61c54fbc5b4c2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bb32c0af1fd41d4" /><Relationship Type="http://schemas.openxmlformats.org/officeDocument/2006/relationships/image" Target="/ppt/media/image19.png" Id="R4148daa443dd417a" /><Relationship Type="http://schemas.openxmlformats.org/officeDocument/2006/relationships/notesSlide" Target="/ppt/notesSlides/notesSlide27.xml" Id="R0eba4176670346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9949c38dc434265" /><Relationship Type="http://schemas.openxmlformats.org/officeDocument/2006/relationships/image" Target="/ppt/media/image20.png" Id="Rc7c0f50391864a3b" /><Relationship Type="http://schemas.openxmlformats.org/officeDocument/2006/relationships/image" Target="/ppt/media/image21.png" Id="Rfddc2fef19a64e72" /><Relationship Type="http://schemas.openxmlformats.org/officeDocument/2006/relationships/notesSlide" Target="/ppt/notesSlides/notesSlide28.xml" Id="R85b136ca629842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d957b83611c4973" /><Relationship Type="http://schemas.openxmlformats.org/officeDocument/2006/relationships/image" Target="/ppt/media/image22.png" Id="R4b5fc2a50fa743aa" /><Relationship Type="http://schemas.openxmlformats.org/officeDocument/2006/relationships/notesSlide" Target="/ppt/notesSlides/notesSlide29.xml" Id="R715a148908654c6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2d3a8b548f8472d" /><Relationship Type="http://schemas.openxmlformats.org/officeDocument/2006/relationships/notesSlide" Target="/ppt/notesSlides/notesSlide30.xml" Id="Rc38b3c82b96641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BDT</c:v>
          </c:tx>
          <c:spPr>
            <a:solidFill xmlns:a="http://schemas.openxmlformats.org/drawingml/2006/main">
              <a:srgbClr val="216E75"/>
            </a:solidFill>
          </c:spPr>
          <c:cat>
            <c:strRef>
              <c:f>'Chart Data'!$A$2:$A$6</c:f>
              <c:strCache>
                <c:ptCount val="5"/>
                <c:pt idx="0">
                  <c:v>Workflow and training  248,000</c:v>
                </c:pt>
                <c:pt idx="1">
                  <c:v>Devices and power  132,000</c:v>
                </c:pt>
                <c:pt idx="2">
                  <c:v>Security review  40,000</c:v>
                </c:pt>
                <c:pt idx="3">
                  <c:v>Exercise logistics  30,000</c:v>
                </c:pt>
                <c:pt idx="4">
                  <c:v>Contingency  67,500</c:v>
                </c:pt>
              </c:strCache>
            </c:strRef>
          </c:cat>
          <c:val>
            <c:numRef>
              <c:f>'Chart Data'!$B$2:$B$6</c:f>
              <c:numCache>
                <c:formatCode>0</c:formatCode>
                <c:ptCount val="5"/>
                <c:pt idx="0">
                  <c:v>248000</c:v>
                </c:pt>
                <c:pt idx="1">
                  <c:v>132000</c:v>
                </c:pt>
                <c:pt idx="2">
                  <c:v>40000</c:v>
                </c:pt>
                <c:pt idx="3">
                  <c:v>30000</c:v>
                </c:pt>
                <c:pt idx="4">
                  <c:v>67500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B6D"/>
                </a:solidFill>
                <a:latin typeface="Arial"/>
                <a:ea typeface="Arial"/>
                <a:cs typeface="Arial"/>
              </a:defRPr>
            </a:pPr>
          </a:p>
        </c:txPr>
        <c:crossAx val="48672768"/>
      </c:catAx>
      <c:valAx>
        <c:axId val="48672768"/>
        <c:scaling>
          <c:orientation val="minMax"/>
          <c:max val="260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6B6D"/>
                </a:solidFill>
                <a:latin typeface="Arial"/>
                <a:ea typeface="Arial"/>
                <a:cs typeface="Arial"/>
              </a:defRPr>
            </a:pPr>
          </a:p>
        </c:txPr>
        <c:crossAx val="48650112"/>
        <c:crossBetween val="between"/>
      </c:valAx>
    </c:plotArea>
    <c:plotVisOnly val="1"/>
  </c:chart>
  <c:spPr>
    <a:solidFill xmlns:a="http://schemas.openxmlformats.org/drawingml/2006/main">
      <a:srgbClr val="FAFA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F1</c:v>
          </c:tx>
          <c:spPr>
            <a:solidFill xmlns:a="http://schemas.openxmlformats.org/drawingml/2006/main">
              <a:srgbClr val="216E75"/>
            </a:solidFill>
          </c:spPr>
          <c:cat>
            <c:strRef>
              <c:f>'Chart Data'!$A$2:$A$3</c:f>
              <c:strCache>
                <c:ptCount val="2"/>
                <c:pt idx="0">
                  <c:v>Rule baseline F1  0.115</c:v>
                </c:pt>
                <c:pt idx="1">
                  <c:v>Model F1  0.708</c:v>
                </c:pt>
              </c:strCache>
            </c:strRef>
          </c:cat>
          <c:val>
            <c:numRef>
              <c:f>'Chart Data'!$B$2:$B$3</c:f>
              <c:numCache>
                <c:formatCode>0.0</c:formatCode>
                <c:ptCount val="2"/>
                <c:pt idx="0">
                  <c:v>0.114754</c:v>
                </c:pt>
                <c:pt idx="1">
                  <c:v>0.707617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B6D"/>
                </a:solidFill>
                <a:latin typeface="Arial"/>
                <a:ea typeface="Arial"/>
                <a:cs typeface="Arial"/>
              </a:defRPr>
            </a:pPr>
          </a:p>
        </c:txPr>
        <c:crossAx val="48672768"/>
      </c:catAx>
      <c:valAx>
        <c:axId val="48672768"/>
        <c:scaling>
          <c:orientation val="minMax"/>
          <c:max val="1"/>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6B6D"/>
                </a:solidFill>
                <a:latin typeface="Arial"/>
                <a:ea typeface="Arial"/>
                <a:cs typeface="Arial"/>
              </a:defRPr>
            </a:pPr>
          </a:p>
        </c:txPr>
        <c:crossAx val="48650112"/>
        <c:crossBetween val="between"/>
      </c:valAx>
    </c:plotArea>
    <c:plotVisOnly val="1"/>
  </c:chart>
  <c:spPr>
    <a:solidFill xmlns:a="http://schemas.openxmlformats.org/drawingml/2006/main">
      <a:srgbClr val="FAFA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C12F60-4690-4F4F-A79C-7F1FAC41F332}"/>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Digital Delta</a:t>
            </a:r>
          </a:p>
        </p:txBody>
      </p:sp>
      <p:sp>
        <p:nvSpPr>
          <p:cNvPr id="2" name="">
            <a:extLst xmlns:a="http://schemas.openxmlformats.org/drawingml/2006/main">
              <a:ext uri="{FF2B5EF4-FFF2-40B4-BE49-F238E27FC236}">
                <a16:creationId xmlns:a16="http://schemas.microsoft.com/office/drawing/2014/main" id="{89198774-193E-4E30-A6C3-4A853B8E1D65}"/>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44F114D-98B5-4F2C-92FD-DCBB7B58405D}"/>
              </a:ext>
            </a:extLst>
          </p:cNvPr>
          <p:cNvSpPr>
            <a:spLocks xmlns:a="http://schemas.openxmlformats.org/drawingml/2006/main" noGrp="1"/>
          </p:cNvSpPr>
          <p:nvPr/>
        </p:nvSpPr>
        <p:spPr>
          <a:xfrm xmlns:a="http://schemas.openxmlformats.org/drawingml/2006/main">
            <a:off x="628650" y="1552575"/>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Offline relief coordination</a:t>
            </a:r>
          </a:p>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for Bangladesh</a:t>
            </a:r>
          </a:p>
        </p:txBody>
      </p:sp>
      <p:sp>
        <p:nvSpPr>
          <p:cNvPr id="4" name="">
            <a:extLst xmlns:a="http://schemas.openxmlformats.org/drawingml/2006/main">
              <a:ext uri="{FF2B5EF4-FFF2-40B4-BE49-F238E27FC236}">
                <a16:creationId xmlns:a16="http://schemas.microsoft.com/office/drawing/2014/main" id="{BCA140C7-2198-4914-BFD9-30990BE25225}"/>
              </a:ext>
            </a:extLst>
          </p:cNvPr>
          <p:cNvSpPr>
            <a:spLocks xmlns:a="http://schemas.openxmlformats.org/drawingml/2006/main" noGrp="1"/>
          </p:cNvSpPr>
          <p:nvPr/>
        </p:nvSpPr>
        <p:spPr>
          <a:xfrm xmlns:a="http://schemas.openxmlformats.org/drawingml/2006/main">
            <a:off x="628650" y="33528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Innovate to Market</a:t>
            </a:r>
          </a:p>
        </p:txBody>
      </p:sp>
      <p:sp>
        <p:nvSpPr>
          <p:cNvPr id="5" name="">
            <a:extLst xmlns:a="http://schemas.openxmlformats.org/drawingml/2006/main">
              <a:ext uri="{FF2B5EF4-FFF2-40B4-BE49-F238E27FC236}">
                <a16:creationId xmlns:a16="http://schemas.microsoft.com/office/drawing/2014/main" id="{C21B79BA-4185-47A5-8F84-B45E18670251}"/>
              </a:ext>
            </a:extLst>
          </p:cNvPr>
          <p:cNvSpPr>
            <a:spLocks xmlns:a="http://schemas.openxmlformats.org/drawingml/2006/main" noGrp="1"/>
          </p:cNvSpPr>
          <p:nvPr/>
        </p:nvSpPr>
        <p:spPr>
          <a:xfrm xmlns:a="http://schemas.openxmlformats.org/drawingml/2006/main">
            <a:off x="628650" y="40290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Touhidul Alam Seyam</a:t>
            </a:r>
          </a:p>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BGC Trust University Bangladesh</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1e70ac7c014950"/>
          <a:stretch xmlns:a="http://schemas.openxmlformats.org/drawingml/2006/main"/>
        </p:blipFill>
        <p:spPr>
          <a:xfrm xmlns:a="http://schemas.openxmlformats.org/drawingml/2006/main">
            <a:off x="6134100" y="1763713"/>
            <a:ext cx="5467350" cy="36449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837438f74246fa"/>
          <a:stretch xmlns:a="http://schemas.openxmlformats.org/drawingml/2006/main"/>
        </p:blipFill>
        <p:spPr>
          <a:xfrm xmlns:a="http://schemas.openxmlformats.org/drawingml/2006/main">
            <a:off x="609600" y="5267325"/>
            <a:ext cx="714375" cy="714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480578-5966-4C62-B96C-235F702653A4}"/>
              </a:ext>
            </a:extLst>
          </p:cNvPr>
          <p:cNvSpPr>
            <a:spLocks xmlns:a="http://schemas.openxmlformats.org/drawingml/2006/main" noGrp="1"/>
          </p:cNvSpPr>
          <p:nvPr/>
        </p:nvSpPr>
        <p:spPr>
          <a:xfrm xmlns:a="http://schemas.openxmlformats.org/drawingml/2006/main">
            <a:off x="1533525" y="5476875"/>
            <a:ext cx="4381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76B6D"/>
                </a:solidFill>
                <a:latin typeface="Arial"/>
                <a:ea typeface="Arial"/>
                <a:cs typeface="Arial"/>
              </a:defRPr>
            </a:pPr>
            <a:r>
              <a:rPr sz="1650" b="0">
                <a:solidFill>
                  <a:srgbClr val="576B6D"/>
                </a:solidFill>
                <a:latin typeface="Arial"/>
                <a:ea typeface="Arial"/>
                <a:cs typeface="Arial"/>
              </a:rPr>
              <a:t>Innovation Fair 2026</a:t>
            </a:r>
          </a:p>
        </p:txBody>
      </p:sp>
      <p:sp>
        <p:nvSpPr>
          <p:cNvPr id="9" name="">
            <a:extLst xmlns:a="http://schemas.openxmlformats.org/drawingml/2006/main">
              <a:ext uri="{FF2B5EF4-FFF2-40B4-BE49-F238E27FC236}">
                <a16:creationId xmlns:a16="http://schemas.microsoft.com/office/drawing/2014/main" id="{86B018C5-825B-4923-99EA-C23A89C6EAFB}"/>
              </a:ext>
            </a:extLst>
          </p:cNvPr>
          <p:cNvSpPr>
            <a:spLocks xmlns:a="http://schemas.openxmlformats.org/drawingml/2006/main" noGrp="1"/>
          </p:cNvSpPr>
          <p:nvPr/>
        </p:nvSpPr>
        <p:spPr>
          <a:xfrm xmlns:a="http://schemas.openxmlformats.org/drawingml/2006/main">
            <a:off x="6143625" y="5781675"/>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Concept illustration</a:t>
            </a:r>
          </a:p>
        </p:txBody>
      </p:sp>
    </p:spTree>
    <p:extLst>
      <p:ext uri="{BB962C8B-B14F-4D97-AF65-F5344CB8AC3E}">
        <p14:creationId xmlns:p14="http://schemas.microsoft.com/office/powerpoint/2010/main" val="1699820172"/>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C6A0D8-5139-48CE-94C7-CD7095451061}"/>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Flood outages disrupt the delivery record</a:t>
            </a:r>
          </a:p>
        </p:txBody>
      </p:sp>
      <p:sp>
        <p:nvSpPr>
          <p:cNvPr id="2" name="">
            <a:extLst xmlns:a="http://schemas.openxmlformats.org/drawingml/2006/main">
              <a:ext uri="{FF2B5EF4-FFF2-40B4-BE49-F238E27FC236}">
                <a16:creationId xmlns:a16="http://schemas.microsoft.com/office/drawing/2014/main" id="{668BD78B-7D54-4665-957D-1C9910DC1ABD}"/>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Transport, power and communications can fail together.</a:t>
            </a:r>
          </a:p>
        </p:txBody>
      </p:sp>
      <p:sp>
        <p:nvSpPr>
          <p:cNvPr id="3" name="">
            <a:extLst xmlns:a="http://schemas.openxmlformats.org/drawingml/2006/main">
              <a:ext uri="{FF2B5EF4-FFF2-40B4-BE49-F238E27FC236}">
                <a16:creationId xmlns:a16="http://schemas.microsoft.com/office/drawing/2014/main" id="{83FAA78F-B6D9-4772-94F1-EEDECBE68EB4}"/>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FB87CAB-9FD4-4388-80FC-2948BF2E907C}"/>
              </a:ext>
            </a:extLst>
          </p:cNvPr>
          <p:cNvSpPr>
            <a:spLocks xmlns:a="http://schemas.openxmlformats.org/drawingml/2006/main" noGrp="1"/>
          </p:cNvSpPr>
          <p:nvPr/>
        </p:nvSpPr>
        <p:spPr>
          <a:xfrm xmlns:a="http://schemas.openxmlformats.org/drawingml/2006/main">
            <a:off x="628650" y="2190750"/>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75" b="0">
                <a:solidFill>
                  <a:srgbClr val="123D38"/>
                </a:solidFill>
                <a:latin typeface="Georgia"/>
                <a:ea typeface="Georgia"/>
                <a:cs typeface="Georgia"/>
              </a:defRPr>
            </a:pPr>
            <a:r>
              <a:rPr sz="5775" b="0">
                <a:solidFill>
                  <a:srgbClr val="123D38"/>
                </a:solidFill>
                <a:latin typeface="Georgia"/>
                <a:ea typeface="Georgia"/>
                <a:cs typeface="Georgia"/>
              </a:rPr>
              <a:t>7.2 million</a:t>
            </a:r>
          </a:p>
        </p:txBody>
      </p:sp>
      <p:sp>
        <p:nvSpPr>
          <p:cNvPr id="5" name="">
            <a:extLst xmlns:a="http://schemas.openxmlformats.org/drawingml/2006/main">
              <a:ext uri="{FF2B5EF4-FFF2-40B4-BE49-F238E27FC236}">
                <a16:creationId xmlns:a16="http://schemas.microsoft.com/office/drawing/2014/main" id="{0EC2BB30-A537-4472-AC89-1162568E0CE3}"/>
              </a:ext>
            </a:extLst>
          </p:cNvPr>
          <p:cNvSpPr>
            <a:spLocks xmlns:a="http://schemas.openxmlformats.org/drawingml/2006/main" noGrp="1"/>
          </p:cNvSpPr>
          <p:nvPr/>
        </p:nvSpPr>
        <p:spPr>
          <a:xfrm xmlns:a="http://schemas.openxmlformats.org/drawingml/2006/main">
            <a:off x="657225" y="33337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People affected</a:t>
            </a:r>
          </a:p>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June 2022, nine districts</a:t>
            </a:r>
          </a:p>
        </p:txBody>
      </p:sp>
      <p:sp>
        <p:nvSpPr>
          <p:cNvPr id="6" name="">
            <a:extLst xmlns:a="http://schemas.openxmlformats.org/drawingml/2006/main">
              <a:ext uri="{FF2B5EF4-FFF2-40B4-BE49-F238E27FC236}">
                <a16:creationId xmlns:a16="http://schemas.microsoft.com/office/drawing/2014/main" id="{F83CC116-F5A0-49EC-8BBE-5221FF0C416D}"/>
              </a:ext>
            </a:extLst>
          </p:cNvPr>
          <p:cNvSpPr>
            <a:spLocks xmlns:a="http://schemas.openxmlformats.org/drawingml/2006/main" noGrp="1"/>
          </p:cNvSpPr>
          <p:nvPr/>
        </p:nvSpPr>
        <p:spPr>
          <a:xfrm xmlns:a="http://schemas.openxmlformats.org/drawingml/2006/main">
            <a:off x="6477000" y="2190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75" b="0">
                <a:solidFill>
                  <a:srgbClr val="216E75"/>
                </a:solidFill>
                <a:latin typeface="Georgia"/>
                <a:ea typeface="Georgia"/>
                <a:cs typeface="Georgia"/>
              </a:defRPr>
            </a:pPr>
            <a:r>
              <a:rPr sz="5775" b="0">
                <a:solidFill>
                  <a:srgbClr val="216E75"/>
                </a:solidFill>
                <a:latin typeface="Georgia"/>
                <a:ea typeface="Georgia"/>
                <a:cs typeface="Georgia"/>
              </a:rPr>
              <a:t>3.74 million</a:t>
            </a:r>
          </a:p>
        </p:txBody>
      </p:sp>
      <p:sp>
        <p:nvSpPr>
          <p:cNvPr id="7" name="">
            <a:extLst xmlns:a="http://schemas.openxmlformats.org/drawingml/2006/main">
              <a:ext uri="{FF2B5EF4-FFF2-40B4-BE49-F238E27FC236}">
                <a16:creationId xmlns:a16="http://schemas.microsoft.com/office/drawing/2014/main" id="{A3603BF4-4CB9-4A64-B823-65E930A416D7}"/>
              </a:ext>
            </a:extLst>
          </p:cNvPr>
          <p:cNvSpPr>
            <a:spLocks xmlns:a="http://schemas.openxmlformats.org/drawingml/2006/main" noGrp="1"/>
          </p:cNvSpPr>
          <p:nvPr/>
        </p:nvSpPr>
        <p:spPr>
          <a:xfrm xmlns:a="http://schemas.openxmlformats.org/drawingml/2006/main">
            <a:off x="6505575" y="33337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People affected</a:t>
            </a:r>
          </a:p>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June 2024, six districts</a:t>
            </a:r>
          </a:p>
        </p:txBody>
      </p:sp>
      <p:sp>
        <p:nvSpPr>
          <p:cNvPr id="8" name="">
            <a:extLst xmlns:a="http://schemas.openxmlformats.org/drawingml/2006/main">
              <a:ext uri="{FF2B5EF4-FFF2-40B4-BE49-F238E27FC236}">
                <a16:creationId xmlns:a16="http://schemas.microsoft.com/office/drawing/2014/main" id="{084683AC-DE4D-4047-AB3E-73FF1F36813A}"/>
              </a:ext>
            </a:extLst>
          </p:cNvPr>
          <p:cNvSpPr>
            <a:spLocks xmlns:a="http://schemas.openxmlformats.org/drawingml/2006/main" noGrp="1"/>
          </p:cNvSpPr>
          <p:nvPr/>
        </p:nvSpPr>
        <p:spPr>
          <a:xfrm xmlns:a="http://schemas.openxmlformats.org/drawingml/2006/main">
            <a:off x="647700" y="49815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3D38"/>
                </a:solidFill>
                <a:latin typeface="Georgia"/>
                <a:ea typeface="Georgia"/>
                <a:cs typeface="Georgia"/>
              </a:defRPr>
            </a:pPr>
            <a:r>
              <a:rPr sz="2400" b="0">
                <a:solidFill>
                  <a:srgbClr val="123D38"/>
                </a:solidFill>
                <a:latin typeface="Georgia"/>
                <a:ea typeface="Georgia"/>
                <a:cs typeface="Georgia"/>
              </a:rPr>
              <a:t>A request still needs to reach the next responsible person</a:t>
            </a:r>
          </a:p>
          <a:p xmlns:a="http://schemas.openxmlformats.org/drawingml/2006/main">
            <a:pPr>
              <a:defRPr sz="2400" b="0">
                <a:solidFill>
                  <a:srgbClr val="123D38"/>
                </a:solidFill>
                <a:latin typeface="Georgia"/>
                <a:ea typeface="Georgia"/>
                <a:cs typeface="Georgia"/>
              </a:defRPr>
            </a:pPr>
            <a:r>
              <a:rPr sz="2400" b="0">
                <a:solidFill>
                  <a:srgbClr val="123D38"/>
                </a:solidFill>
                <a:latin typeface="Georgia"/>
                <a:ea typeface="Georgia"/>
                <a:cs typeface="Georgia"/>
              </a:rPr>
              <a:t>when the network is unavailable.</a:t>
            </a:r>
          </a:p>
        </p:txBody>
      </p:sp>
      <p:sp>
        <p:nvSpPr>
          <p:cNvPr id="9" name="">
            <a:extLst xmlns:a="http://schemas.openxmlformats.org/drawingml/2006/main">
              <a:ext uri="{FF2B5EF4-FFF2-40B4-BE49-F238E27FC236}">
                <a16:creationId xmlns:a16="http://schemas.microsoft.com/office/drawing/2014/main" id="{4F558D92-A485-4EA0-9407-17C41D973944}"/>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UN Bangladesh 2022 response plan and NAWG June 2024 assessment. Different events and geographic coverage.</a:t>
            </a:r>
          </a:p>
        </p:txBody>
      </p:sp>
    </p:spTree>
    <p:extLst>
      <p:ext uri="{BB962C8B-B14F-4D97-AF65-F5344CB8AC3E}">
        <p14:creationId xmlns:p14="http://schemas.microsoft.com/office/powerpoint/2010/main" val="1793761705"/>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878FCEA-EE74-409C-B676-53629C60A5A4}"/>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One delivery journey connects the modules</a:t>
            </a:r>
          </a:p>
        </p:txBody>
      </p:sp>
      <p:sp>
        <p:nvSpPr>
          <p:cNvPr id="2" name="">
            <a:extLst xmlns:a="http://schemas.openxmlformats.org/drawingml/2006/main">
              <a:ext uri="{FF2B5EF4-FFF2-40B4-BE49-F238E27FC236}">
                <a16:creationId xmlns:a16="http://schemas.microsoft.com/office/drawing/2014/main" id="{0E264A32-867A-43C9-8FC1-372C4F2E3F5D}"/>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Clinic request, relay, rerouting, human review and signed receipt.</a:t>
            </a:r>
          </a:p>
        </p:txBody>
      </p:sp>
      <p:sp>
        <p:nvSpPr>
          <p:cNvPr id="3" name="">
            <a:extLst xmlns:a="http://schemas.openxmlformats.org/drawingml/2006/main">
              <a:ext uri="{FF2B5EF4-FFF2-40B4-BE49-F238E27FC236}">
                <a16:creationId xmlns:a16="http://schemas.microsoft.com/office/drawing/2014/main" id="{1908D5BF-4715-48EC-9EAF-A0D363937F20}"/>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4262496-2638-4037-BCF6-B761665FC426}"/>
              </a:ext>
            </a:extLst>
          </p:cNvPr>
          <p:cNvSpPr>
            <a:spLocks xmlns:a="http://schemas.openxmlformats.org/drawingml/2006/main" noGrp="1"/>
          </p:cNvSpPr>
          <p:nvPr/>
        </p:nvSpPr>
        <p:spPr>
          <a:xfrm xmlns:a="http://schemas.openxmlformats.org/drawingml/2006/main">
            <a:off x="1455420" y="2615565"/>
            <a:ext cx="1680210" cy="212026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8C09C7F6-7859-4727-A42F-E084445DEF80}"/>
              </a:ext>
            </a:extLst>
          </p:cNvPr>
          <p:cNvSpPr>
            <a:spLocks xmlns:a="http://schemas.openxmlformats.org/drawingml/2006/main" noGrp="1"/>
          </p:cNvSpPr>
          <p:nvPr/>
        </p:nvSpPr>
        <p:spPr>
          <a:xfrm xmlns:a="http://schemas.openxmlformats.org/drawingml/2006/main">
            <a:off x="1455420" y="2615565"/>
            <a:ext cx="1680210" cy="32004"/>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167899-615D-4077-BA65-FE6103DE1225}"/>
              </a:ext>
            </a:extLst>
          </p:cNvPr>
          <p:cNvSpPr>
            <a:spLocks xmlns:a="http://schemas.openxmlformats.org/drawingml/2006/main" noGrp="1"/>
          </p:cNvSpPr>
          <p:nvPr/>
        </p:nvSpPr>
        <p:spPr>
          <a:xfrm xmlns:a="http://schemas.openxmlformats.org/drawingml/2006/main">
            <a:off x="1591437" y="2751582"/>
            <a:ext cx="145618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34" b="1">
                <a:solidFill>
                  <a:srgbClr val="123D38"/>
                </a:solidFill>
                <a:latin typeface="Arial"/>
                <a:ea typeface="Arial"/>
                <a:cs typeface="Arial"/>
              </a:defRPr>
            </a:pPr>
            <a:r>
              <a:rPr sz="1134" b="1">
                <a:solidFill>
                  <a:srgbClr val="123D38"/>
                </a:solidFill>
                <a:latin typeface="Arial"/>
                <a:ea typeface="Arial"/>
                <a:cs typeface="Arial"/>
              </a:rPr>
              <a:t>01  CLINIC</a:t>
            </a:r>
          </a:p>
        </p:txBody>
      </p:sp>
      <p:sp>
        <p:nvSpPr>
          <p:cNvPr id="7" name="">
            <a:extLst xmlns:a="http://schemas.openxmlformats.org/drawingml/2006/main">
              <a:ext uri="{FF2B5EF4-FFF2-40B4-BE49-F238E27FC236}">
                <a16:creationId xmlns:a16="http://schemas.microsoft.com/office/drawing/2014/main" id="{0FEFB2F8-8411-4AED-A65B-7CF8C5BAB28C}"/>
              </a:ext>
            </a:extLst>
          </p:cNvPr>
          <p:cNvSpPr>
            <a:spLocks xmlns:a="http://schemas.openxmlformats.org/drawingml/2006/main" noGrp="1"/>
          </p:cNvSpPr>
          <p:nvPr/>
        </p:nvSpPr>
        <p:spPr>
          <a:xfrm xmlns:a="http://schemas.openxmlformats.org/drawingml/2006/main">
            <a:off x="1591437" y="3015615"/>
            <a:ext cx="1456182" cy="336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38" b="1">
                <a:solidFill>
                  <a:srgbClr val="172E2B"/>
                </a:solidFill>
                <a:latin typeface="Arial"/>
                <a:ea typeface="Arial"/>
                <a:cs typeface="Arial"/>
              </a:defRPr>
            </a:pPr>
            <a:r>
              <a:rPr sz="1638" b="1">
                <a:solidFill>
                  <a:srgbClr val="172E2B"/>
                </a:solidFill>
                <a:latin typeface="Arial"/>
                <a:ea typeface="Arial"/>
                <a:cs typeface="Arial"/>
              </a:rPr>
              <a:t>Save request</a:t>
            </a:r>
          </a:p>
        </p:txBody>
      </p:sp>
      <p:sp>
        <p:nvSpPr>
          <p:cNvPr id="8" name="">
            <a:extLst xmlns:a="http://schemas.openxmlformats.org/drawingml/2006/main">
              <a:ext uri="{FF2B5EF4-FFF2-40B4-BE49-F238E27FC236}">
                <a16:creationId xmlns:a16="http://schemas.microsoft.com/office/drawing/2014/main" id="{15EE7B8E-0F8F-4B01-871A-A10BA2912062}"/>
              </a:ext>
            </a:extLst>
          </p:cNvPr>
          <p:cNvSpPr>
            <a:spLocks xmlns:a="http://schemas.openxmlformats.org/drawingml/2006/main" noGrp="1"/>
          </p:cNvSpPr>
          <p:nvPr/>
        </p:nvSpPr>
        <p:spPr>
          <a:xfrm xmlns:a="http://schemas.openxmlformats.org/drawingml/2006/main">
            <a:off x="1591437" y="3367659"/>
            <a:ext cx="1440180" cy="1352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Save the request</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on the phone.</a:t>
            </a:r>
          </a:p>
        </p:txBody>
      </p:sp>
      <p:sp>
        <p:nvSpPr>
          <p:cNvPr id="9" name="">
            <a:extLst xmlns:a="http://schemas.openxmlformats.org/drawingml/2006/main">
              <a:ext uri="{FF2B5EF4-FFF2-40B4-BE49-F238E27FC236}">
                <a16:creationId xmlns:a16="http://schemas.microsoft.com/office/drawing/2014/main" id="{08E1E041-521C-4538-8B63-D28BF78A9F18}"/>
              </a:ext>
            </a:extLst>
          </p:cNvPr>
          <p:cNvSpPr>
            <a:spLocks xmlns:a="http://schemas.openxmlformats.org/drawingml/2006/main" noGrp="1"/>
          </p:cNvSpPr>
          <p:nvPr/>
        </p:nvSpPr>
        <p:spPr>
          <a:xfrm xmlns:a="http://schemas.openxmlformats.org/drawingml/2006/main">
            <a:off x="3359658" y="2615565"/>
            <a:ext cx="1680210" cy="212026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BB113B89-0691-44CD-A8B3-F7EEB7063B72}"/>
              </a:ext>
            </a:extLst>
          </p:cNvPr>
          <p:cNvSpPr>
            <a:spLocks xmlns:a="http://schemas.openxmlformats.org/drawingml/2006/main" noGrp="1"/>
          </p:cNvSpPr>
          <p:nvPr/>
        </p:nvSpPr>
        <p:spPr>
          <a:xfrm xmlns:a="http://schemas.openxmlformats.org/drawingml/2006/main">
            <a:off x="3359658" y="2615565"/>
            <a:ext cx="1680210" cy="32004"/>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790DBA-3A48-4CF2-992F-D84BF47EEF20}"/>
              </a:ext>
            </a:extLst>
          </p:cNvPr>
          <p:cNvSpPr>
            <a:spLocks xmlns:a="http://schemas.openxmlformats.org/drawingml/2006/main" noGrp="1"/>
          </p:cNvSpPr>
          <p:nvPr/>
        </p:nvSpPr>
        <p:spPr>
          <a:xfrm xmlns:a="http://schemas.openxmlformats.org/drawingml/2006/main">
            <a:off x="3495675" y="2751582"/>
            <a:ext cx="145618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34" b="1">
                <a:solidFill>
                  <a:srgbClr val="123D38"/>
                </a:solidFill>
                <a:latin typeface="Arial"/>
                <a:ea typeface="Arial"/>
                <a:cs typeface="Arial"/>
              </a:defRPr>
            </a:pPr>
            <a:r>
              <a:rPr sz="1134" b="1">
                <a:solidFill>
                  <a:srgbClr val="123D38"/>
                </a:solidFill>
                <a:latin typeface="Arial"/>
                <a:ea typeface="Arial"/>
                <a:cs typeface="Arial"/>
              </a:rPr>
              <a:t>02  RELAY</a:t>
            </a:r>
          </a:p>
        </p:txBody>
      </p:sp>
      <p:sp>
        <p:nvSpPr>
          <p:cNvPr id="12" name="">
            <a:extLst xmlns:a="http://schemas.openxmlformats.org/drawingml/2006/main">
              <a:ext uri="{FF2B5EF4-FFF2-40B4-BE49-F238E27FC236}">
                <a16:creationId xmlns:a16="http://schemas.microsoft.com/office/drawing/2014/main" id="{CAD492F6-F9E1-48A3-BDD4-0B4FAF532102}"/>
              </a:ext>
            </a:extLst>
          </p:cNvPr>
          <p:cNvSpPr>
            <a:spLocks xmlns:a="http://schemas.openxmlformats.org/drawingml/2006/main" noGrp="1"/>
          </p:cNvSpPr>
          <p:nvPr/>
        </p:nvSpPr>
        <p:spPr>
          <a:xfrm xmlns:a="http://schemas.openxmlformats.org/drawingml/2006/main">
            <a:off x="3495675" y="3015615"/>
            <a:ext cx="1456182" cy="336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38" b="1">
                <a:solidFill>
                  <a:srgbClr val="172E2B"/>
                </a:solidFill>
                <a:latin typeface="Arial"/>
                <a:ea typeface="Arial"/>
                <a:cs typeface="Arial"/>
              </a:defRPr>
            </a:pPr>
            <a:r>
              <a:rPr sz="1638" b="1">
                <a:solidFill>
                  <a:srgbClr val="172E2B"/>
                </a:solidFill>
                <a:latin typeface="Arial"/>
                <a:ea typeface="Arial"/>
                <a:cs typeface="Arial"/>
              </a:rPr>
              <a:t>Carry record</a:t>
            </a:r>
          </a:p>
        </p:txBody>
      </p:sp>
      <p:sp>
        <p:nvSpPr>
          <p:cNvPr id="13" name="">
            <a:extLst xmlns:a="http://schemas.openxmlformats.org/drawingml/2006/main">
              <a:ext uri="{FF2B5EF4-FFF2-40B4-BE49-F238E27FC236}">
                <a16:creationId xmlns:a16="http://schemas.microsoft.com/office/drawing/2014/main" id="{FCD1C988-FB5D-4A36-B8A9-01CBEF0C9CBB}"/>
              </a:ext>
            </a:extLst>
          </p:cNvPr>
          <p:cNvSpPr>
            <a:spLocks xmlns:a="http://schemas.openxmlformats.org/drawingml/2006/main" noGrp="1"/>
          </p:cNvSpPr>
          <p:nvPr/>
        </p:nvSpPr>
        <p:spPr>
          <a:xfrm xmlns:a="http://schemas.openxmlformats.org/drawingml/2006/main">
            <a:off x="3495675" y="3367659"/>
            <a:ext cx="1440180" cy="1352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Persist encrypted</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bytes. Forward</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when peers meet.</a:t>
            </a:r>
          </a:p>
        </p:txBody>
      </p:sp>
      <p:sp>
        <p:nvSpPr>
          <p:cNvPr id="14" name="">
            <a:extLst xmlns:a="http://schemas.openxmlformats.org/drawingml/2006/main">
              <a:ext uri="{FF2B5EF4-FFF2-40B4-BE49-F238E27FC236}">
                <a16:creationId xmlns:a16="http://schemas.microsoft.com/office/drawing/2014/main" id="{9FCC74E0-8AB3-40CA-84FE-D0C483BFBC54}"/>
              </a:ext>
            </a:extLst>
          </p:cNvPr>
          <p:cNvSpPr>
            <a:spLocks xmlns:a="http://schemas.openxmlformats.org/drawingml/2006/main" noGrp="1"/>
          </p:cNvSpPr>
          <p:nvPr/>
        </p:nvSpPr>
        <p:spPr>
          <a:xfrm xmlns:a="http://schemas.openxmlformats.org/drawingml/2006/main">
            <a:off x="5263896" y="2615565"/>
            <a:ext cx="1680210" cy="212026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412E6C02-6D75-426C-81FE-1DAAF716D661}"/>
              </a:ext>
            </a:extLst>
          </p:cNvPr>
          <p:cNvSpPr>
            <a:spLocks xmlns:a="http://schemas.openxmlformats.org/drawingml/2006/main" noGrp="1"/>
          </p:cNvSpPr>
          <p:nvPr/>
        </p:nvSpPr>
        <p:spPr>
          <a:xfrm xmlns:a="http://schemas.openxmlformats.org/drawingml/2006/main">
            <a:off x="5263896" y="2615565"/>
            <a:ext cx="1680210" cy="32004"/>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B5B3C9-82C8-42DB-9332-C65C1AFFEC52}"/>
              </a:ext>
            </a:extLst>
          </p:cNvPr>
          <p:cNvSpPr>
            <a:spLocks xmlns:a="http://schemas.openxmlformats.org/drawingml/2006/main" noGrp="1"/>
          </p:cNvSpPr>
          <p:nvPr/>
        </p:nvSpPr>
        <p:spPr>
          <a:xfrm xmlns:a="http://schemas.openxmlformats.org/drawingml/2006/main">
            <a:off x="5399913" y="2751582"/>
            <a:ext cx="145618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34" b="1">
                <a:solidFill>
                  <a:srgbClr val="216E75"/>
                </a:solidFill>
                <a:latin typeface="Arial"/>
                <a:ea typeface="Arial"/>
                <a:cs typeface="Arial"/>
              </a:defRPr>
            </a:pPr>
            <a:r>
              <a:rPr sz="1134" b="1">
                <a:solidFill>
                  <a:srgbClr val="216E75"/>
                </a:solidFill>
                <a:latin typeface="Arial"/>
                <a:ea typeface="Arial"/>
                <a:cs typeface="Arial"/>
              </a:rPr>
              <a:t>03  ROUTE</a:t>
            </a:r>
          </a:p>
        </p:txBody>
      </p:sp>
      <p:sp>
        <p:nvSpPr>
          <p:cNvPr id="17" name="">
            <a:extLst xmlns:a="http://schemas.openxmlformats.org/drawingml/2006/main">
              <a:ext uri="{FF2B5EF4-FFF2-40B4-BE49-F238E27FC236}">
                <a16:creationId xmlns:a16="http://schemas.microsoft.com/office/drawing/2014/main" id="{13FF369D-AFC6-4371-880D-F1EFF5885283}"/>
              </a:ext>
            </a:extLst>
          </p:cNvPr>
          <p:cNvSpPr>
            <a:spLocks xmlns:a="http://schemas.openxmlformats.org/drawingml/2006/main" noGrp="1"/>
          </p:cNvSpPr>
          <p:nvPr/>
        </p:nvSpPr>
        <p:spPr>
          <a:xfrm xmlns:a="http://schemas.openxmlformats.org/drawingml/2006/main">
            <a:off x="5399913" y="3015615"/>
            <a:ext cx="1456182" cy="336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38" b="1">
                <a:solidFill>
                  <a:srgbClr val="172E2B"/>
                </a:solidFill>
                <a:latin typeface="Arial"/>
                <a:ea typeface="Arial"/>
                <a:cs typeface="Arial"/>
              </a:defRPr>
            </a:pPr>
            <a:r>
              <a:rPr sz="1638" b="1">
                <a:solidFill>
                  <a:srgbClr val="172E2B"/>
                </a:solidFill>
                <a:latin typeface="Arial"/>
                <a:ea typeface="Arial"/>
                <a:cs typeface="Arial"/>
              </a:rPr>
              <a:t>Reroute</a:t>
            </a:r>
          </a:p>
        </p:txBody>
      </p:sp>
      <p:sp>
        <p:nvSpPr>
          <p:cNvPr id="18" name="">
            <a:extLst xmlns:a="http://schemas.openxmlformats.org/drawingml/2006/main">
              <a:ext uri="{FF2B5EF4-FFF2-40B4-BE49-F238E27FC236}">
                <a16:creationId xmlns:a16="http://schemas.microsoft.com/office/drawing/2014/main" id="{85D56C78-152D-4F3B-898B-9171ECE2077C}"/>
              </a:ext>
            </a:extLst>
          </p:cNvPr>
          <p:cNvSpPr>
            <a:spLocks xmlns:a="http://schemas.openxmlformats.org/drawingml/2006/main" noGrp="1"/>
          </p:cNvSpPr>
          <p:nvPr/>
        </p:nvSpPr>
        <p:spPr>
          <a:xfrm xmlns:a="http://schemas.openxmlformats.org/drawingml/2006/main">
            <a:off x="5399913" y="3367659"/>
            <a:ext cx="1440180" cy="1352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A simulated road</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failure selects</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a boat path.</a:t>
            </a:r>
          </a:p>
        </p:txBody>
      </p:sp>
      <p:sp>
        <p:nvSpPr>
          <p:cNvPr id="19" name="">
            <a:extLst xmlns:a="http://schemas.openxmlformats.org/drawingml/2006/main">
              <a:ext uri="{FF2B5EF4-FFF2-40B4-BE49-F238E27FC236}">
                <a16:creationId xmlns:a16="http://schemas.microsoft.com/office/drawing/2014/main" id="{53452F2D-E886-41FD-9111-5B12BFA161ED}"/>
              </a:ext>
            </a:extLst>
          </p:cNvPr>
          <p:cNvSpPr>
            <a:spLocks xmlns:a="http://schemas.openxmlformats.org/drawingml/2006/main" noGrp="1"/>
          </p:cNvSpPr>
          <p:nvPr/>
        </p:nvSpPr>
        <p:spPr>
          <a:xfrm xmlns:a="http://schemas.openxmlformats.org/drawingml/2006/main">
            <a:off x="7168134" y="2615565"/>
            <a:ext cx="1680210" cy="212026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A88D6C8C-1C2F-4333-B1F3-C9C8B7E36938}"/>
              </a:ext>
            </a:extLst>
          </p:cNvPr>
          <p:cNvSpPr>
            <a:spLocks xmlns:a="http://schemas.openxmlformats.org/drawingml/2006/main" noGrp="1"/>
          </p:cNvSpPr>
          <p:nvPr/>
        </p:nvSpPr>
        <p:spPr>
          <a:xfrm xmlns:a="http://schemas.openxmlformats.org/drawingml/2006/main">
            <a:off x="7168134" y="2615565"/>
            <a:ext cx="1680210" cy="32004"/>
          </a:xfrm>
          <a:prstGeom xmlns:a="http://schemas.openxmlformats.org/drawingml/2006/main" prst="rect">
            <a:avLst/>
          </a:prstGeom>
          <a:solidFill xmlns:a="http://schemas.openxmlformats.org/drawingml/2006/main">
            <a:srgbClr val="A9682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68A0E15-A62F-458C-AFA6-9B679E8201A9}"/>
              </a:ext>
            </a:extLst>
          </p:cNvPr>
          <p:cNvSpPr>
            <a:spLocks xmlns:a="http://schemas.openxmlformats.org/drawingml/2006/main" noGrp="1"/>
          </p:cNvSpPr>
          <p:nvPr/>
        </p:nvSpPr>
        <p:spPr>
          <a:xfrm xmlns:a="http://schemas.openxmlformats.org/drawingml/2006/main">
            <a:off x="7304151" y="2751582"/>
            <a:ext cx="145618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34" b="1">
                <a:solidFill>
                  <a:srgbClr val="A96827"/>
                </a:solidFill>
                <a:latin typeface="Arial"/>
                <a:ea typeface="Arial"/>
                <a:cs typeface="Arial"/>
              </a:defRPr>
            </a:pPr>
            <a:r>
              <a:rPr sz="1134" b="1">
                <a:solidFill>
                  <a:srgbClr val="A96827"/>
                </a:solidFill>
                <a:latin typeface="Arial"/>
                <a:ea typeface="Arial"/>
                <a:cs typeface="Arial"/>
              </a:rPr>
              <a:t>04  DECISION</a:t>
            </a:r>
          </a:p>
        </p:txBody>
      </p:sp>
      <p:sp>
        <p:nvSpPr>
          <p:cNvPr id="22" name="">
            <a:extLst xmlns:a="http://schemas.openxmlformats.org/drawingml/2006/main">
              <a:ext uri="{FF2B5EF4-FFF2-40B4-BE49-F238E27FC236}">
                <a16:creationId xmlns:a16="http://schemas.microsoft.com/office/drawing/2014/main" id="{AE29EB53-C006-4340-A09D-D304421DE5F4}"/>
              </a:ext>
            </a:extLst>
          </p:cNvPr>
          <p:cNvSpPr>
            <a:spLocks xmlns:a="http://schemas.openxmlformats.org/drawingml/2006/main" noGrp="1"/>
          </p:cNvSpPr>
          <p:nvPr/>
        </p:nvSpPr>
        <p:spPr>
          <a:xfrm xmlns:a="http://schemas.openxmlformats.org/drawingml/2006/main">
            <a:off x="7304151" y="3015615"/>
            <a:ext cx="1456182" cy="336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38" b="1">
                <a:solidFill>
                  <a:srgbClr val="172E2B"/>
                </a:solidFill>
                <a:latin typeface="Arial"/>
                <a:ea typeface="Arial"/>
                <a:cs typeface="Arial"/>
              </a:defRPr>
            </a:pPr>
            <a:r>
              <a:rPr sz="1638" b="1">
                <a:solidFill>
                  <a:srgbClr val="172E2B"/>
                </a:solidFill>
                <a:latin typeface="Arial"/>
                <a:ea typeface="Arial"/>
                <a:cs typeface="Arial"/>
              </a:rPr>
              <a:t>Review</a:t>
            </a:r>
          </a:p>
        </p:txBody>
      </p:sp>
      <p:sp>
        <p:nvSpPr>
          <p:cNvPr id="23" name="">
            <a:extLst xmlns:a="http://schemas.openxmlformats.org/drawingml/2006/main">
              <a:ext uri="{FF2B5EF4-FFF2-40B4-BE49-F238E27FC236}">
                <a16:creationId xmlns:a16="http://schemas.microsoft.com/office/drawing/2014/main" id="{2180BB9D-C309-4E02-A08C-3AB90221C941}"/>
              </a:ext>
            </a:extLst>
          </p:cNvPr>
          <p:cNvSpPr>
            <a:spLocks xmlns:a="http://schemas.openxmlformats.org/drawingml/2006/main" noGrp="1"/>
          </p:cNvSpPr>
          <p:nvPr/>
        </p:nvSpPr>
        <p:spPr>
          <a:xfrm xmlns:a="http://schemas.openxmlformats.org/drawingml/2006/main">
            <a:off x="7304151" y="3367659"/>
            <a:ext cx="1440180" cy="1352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A coordinator</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reviews the</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proposed change.</a:t>
            </a:r>
          </a:p>
        </p:txBody>
      </p:sp>
      <p:sp>
        <p:nvSpPr>
          <p:cNvPr id="24" name="">
            <a:extLst xmlns:a="http://schemas.openxmlformats.org/drawingml/2006/main">
              <a:ext uri="{FF2B5EF4-FFF2-40B4-BE49-F238E27FC236}">
                <a16:creationId xmlns:a16="http://schemas.microsoft.com/office/drawing/2014/main" id="{76E664C4-0541-417B-BDE5-29564C355D7A}"/>
              </a:ext>
            </a:extLst>
          </p:cNvPr>
          <p:cNvSpPr>
            <a:spLocks xmlns:a="http://schemas.openxmlformats.org/drawingml/2006/main" noGrp="1"/>
          </p:cNvSpPr>
          <p:nvPr/>
        </p:nvSpPr>
        <p:spPr>
          <a:xfrm xmlns:a="http://schemas.openxmlformats.org/drawingml/2006/main">
            <a:off x="9072372" y="2615565"/>
            <a:ext cx="1680210" cy="212026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5" name="">
            <a:extLst xmlns:a="http://schemas.openxmlformats.org/drawingml/2006/main">
              <a:ext uri="{FF2B5EF4-FFF2-40B4-BE49-F238E27FC236}">
                <a16:creationId xmlns:a16="http://schemas.microsoft.com/office/drawing/2014/main" id="{EC0C7316-0273-412B-B8E5-2FBA683063B5}"/>
              </a:ext>
            </a:extLst>
          </p:cNvPr>
          <p:cNvSpPr>
            <a:spLocks xmlns:a="http://schemas.openxmlformats.org/drawingml/2006/main" noGrp="1"/>
          </p:cNvSpPr>
          <p:nvPr/>
        </p:nvSpPr>
        <p:spPr>
          <a:xfrm xmlns:a="http://schemas.openxmlformats.org/drawingml/2006/main">
            <a:off x="9072372" y="2615565"/>
            <a:ext cx="1680210" cy="32004"/>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2809636-F7B4-4C3D-A245-5C25A332BB5E}"/>
              </a:ext>
            </a:extLst>
          </p:cNvPr>
          <p:cNvSpPr>
            <a:spLocks xmlns:a="http://schemas.openxmlformats.org/drawingml/2006/main" noGrp="1"/>
          </p:cNvSpPr>
          <p:nvPr/>
        </p:nvSpPr>
        <p:spPr>
          <a:xfrm xmlns:a="http://schemas.openxmlformats.org/drawingml/2006/main">
            <a:off x="9208389" y="2751582"/>
            <a:ext cx="145618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34" b="1">
                <a:solidFill>
                  <a:srgbClr val="123D38"/>
                </a:solidFill>
                <a:latin typeface="Arial"/>
                <a:ea typeface="Arial"/>
                <a:cs typeface="Arial"/>
              </a:defRPr>
            </a:pPr>
            <a:r>
              <a:rPr sz="1134" b="1">
                <a:solidFill>
                  <a:srgbClr val="123D38"/>
                </a:solidFill>
                <a:latin typeface="Arial"/>
                <a:ea typeface="Arial"/>
                <a:cs typeface="Arial"/>
              </a:rPr>
              <a:t>05  RECIPIENT</a:t>
            </a:r>
          </a:p>
        </p:txBody>
      </p:sp>
      <p:sp>
        <p:nvSpPr>
          <p:cNvPr id="27" name="">
            <a:extLst xmlns:a="http://schemas.openxmlformats.org/drawingml/2006/main">
              <a:ext uri="{FF2B5EF4-FFF2-40B4-BE49-F238E27FC236}">
                <a16:creationId xmlns:a16="http://schemas.microsoft.com/office/drawing/2014/main" id="{3AB50DBF-6024-4E87-8DED-30F230DAB7F2}"/>
              </a:ext>
            </a:extLst>
          </p:cNvPr>
          <p:cNvSpPr>
            <a:spLocks xmlns:a="http://schemas.openxmlformats.org/drawingml/2006/main" noGrp="1"/>
          </p:cNvSpPr>
          <p:nvPr/>
        </p:nvSpPr>
        <p:spPr>
          <a:xfrm xmlns:a="http://schemas.openxmlformats.org/drawingml/2006/main">
            <a:off x="9208389" y="3015615"/>
            <a:ext cx="1456182" cy="336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38" b="1">
                <a:solidFill>
                  <a:srgbClr val="172E2B"/>
                </a:solidFill>
                <a:latin typeface="Arial"/>
                <a:ea typeface="Arial"/>
                <a:cs typeface="Arial"/>
              </a:defRPr>
            </a:pPr>
            <a:r>
              <a:rPr sz="1638" b="1">
                <a:solidFill>
                  <a:srgbClr val="172E2B"/>
                </a:solidFill>
                <a:latin typeface="Arial"/>
                <a:ea typeface="Arial"/>
                <a:cs typeface="Arial"/>
              </a:rPr>
              <a:t>Sign receipt</a:t>
            </a:r>
          </a:p>
        </p:txBody>
      </p:sp>
      <p:sp>
        <p:nvSpPr>
          <p:cNvPr id="28" name="">
            <a:extLst xmlns:a="http://schemas.openxmlformats.org/drawingml/2006/main">
              <a:ext uri="{FF2B5EF4-FFF2-40B4-BE49-F238E27FC236}">
                <a16:creationId xmlns:a16="http://schemas.microsoft.com/office/drawing/2014/main" id="{AE366459-DE9A-490E-8407-28D1C484BE82}"/>
              </a:ext>
            </a:extLst>
          </p:cNvPr>
          <p:cNvSpPr>
            <a:spLocks xmlns:a="http://schemas.openxmlformats.org/drawingml/2006/main" noGrp="1"/>
          </p:cNvSpPr>
          <p:nvPr/>
        </p:nvSpPr>
        <p:spPr>
          <a:xfrm xmlns:a="http://schemas.openxmlformats.org/drawingml/2006/main">
            <a:off x="9208389" y="3367659"/>
            <a:ext cx="1440180" cy="1352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Verify once.</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Reject replay</a:t>
            </a:r>
          </a:p>
          <a:p xmlns:a="http://schemas.openxmlformats.org/drawingml/2006/main">
            <a:pPr>
              <a:defRPr sz="1386" b="0">
                <a:solidFill>
                  <a:srgbClr val="576B6D"/>
                </a:solidFill>
                <a:latin typeface="Arial"/>
                <a:ea typeface="Arial"/>
                <a:cs typeface="Arial"/>
              </a:defRPr>
            </a:pPr>
            <a:r>
              <a:rPr sz="1386" b="0">
                <a:solidFill>
                  <a:srgbClr val="576B6D"/>
                </a:solidFill>
                <a:latin typeface="Arial"/>
                <a:ea typeface="Arial"/>
                <a:cs typeface="Arial"/>
              </a:rPr>
              <a:t>and tampering.</a:t>
            </a:r>
          </a:p>
        </p:txBody>
      </p:sp>
      <p:cxnSp>
        <p:nvCxnSpPr>
          <p:cNvPr id="63" name=""/>
          <p:cNvCxnSpPr>
            <a:stCxn xmlns:a="http://schemas.openxmlformats.org/drawingml/2006/main" id="4" idx="3"/>
            <a:endCxn xmlns:a="http://schemas.openxmlformats.org/drawingml/2006/main" id="9" idx="1"/>
          </p:cNvCxnSpPr>
          <p:nvPr/>
        </p:nvCxnSpPr>
        <p:spPr>
          <a:xfrm xmlns:a="http://schemas.openxmlformats.org/drawingml/2006/main">
            <a:off x="3135630" y="3675698"/>
            <a:ext cx="224028"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4" name=""/>
          <p:cNvCxnSpPr>
            <a:stCxn xmlns:a="http://schemas.openxmlformats.org/drawingml/2006/main" id="9" idx="3"/>
            <a:endCxn xmlns:a="http://schemas.openxmlformats.org/drawingml/2006/main" id="14" idx="1"/>
          </p:cNvCxnSpPr>
          <p:nvPr/>
        </p:nvCxnSpPr>
        <p:spPr>
          <a:xfrm xmlns:a="http://schemas.openxmlformats.org/drawingml/2006/main">
            <a:off x="5039868" y="3675698"/>
            <a:ext cx="224028"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5" name=""/>
          <p:cNvCxnSpPr>
            <a:stCxn xmlns:a="http://schemas.openxmlformats.org/drawingml/2006/main" id="14" idx="3"/>
            <a:endCxn xmlns:a="http://schemas.openxmlformats.org/drawingml/2006/main" id="19" idx="1"/>
          </p:cNvCxnSpPr>
          <p:nvPr/>
        </p:nvCxnSpPr>
        <p:spPr>
          <a:xfrm xmlns:a="http://schemas.openxmlformats.org/drawingml/2006/main">
            <a:off x="6944106" y="3675698"/>
            <a:ext cx="224028"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6" name=""/>
          <p:cNvCxnSpPr>
            <a:stCxn xmlns:a="http://schemas.openxmlformats.org/drawingml/2006/main" id="19" idx="3"/>
            <a:endCxn xmlns:a="http://schemas.openxmlformats.org/drawingml/2006/main" id="24" idx="1"/>
          </p:cNvCxnSpPr>
          <p:nvPr/>
        </p:nvCxnSpPr>
        <p:spPr>
          <a:xfrm xmlns:a="http://schemas.openxmlformats.org/drawingml/2006/main">
            <a:off x="8848344" y="3675698"/>
            <a:ext cx="224028"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33" name="">
            <a:extLst xmlns:a="http://schemas.openxmlformats.org/drawingml/2006/main">
              <a:ext uri="{FF2B5EF4-FFF2-40B4-BE49-F238E27FC236}">
                <a16:creationId xmlns:a16="http://schemas.microsoft.com/office/drawing/2014/main" id="{C2A9ECD7-A35A-44A3-ADFB-A5C82942AFCC}"/>
              </a:ext>
            </a:extLst>
          </p:cNvPr>
          <p:cNvSpPr>
            <a:spLocks xmlns:a="http://schemas.openxmlformats.org/drawingml/2006/main" noGrp="1"/>
          </p:cNvSpPr>
          <p:nvPr/>
        </p:nvSpPr>
        <p:spPr>
          <a:xfrm xmlns:a="http://schemas.openxmlformats.org/drawingml/2006/main">
            <a:off x="1455420" y="5223891"/>
            <a:ext cx="9281160"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27" b="0">
                <a:solidFill>
                  <a:srgbClr val="123D38"/>
                </a:solidFill>
                <a:latin typeface="Arial"/>
                <a:ea typeface="Arial"/>
                <a:cs typeface="Arial"/>
              </a:defRPr>
            </a:pPr>
            <a:r>
              <a:rPr sz="1827" b="0">
                <a:solidFill>
                  <a:srgbClr val="123D38"/>
                </a:solidFill>
                <a:latin typeface="Arial"/>
                <a:ea typeface="Arial"/>
                <a:cs typeface="Arial"/>
              </a:rPr>
              <a:t>A conceptual walkthrough across demonstrated modules</a:t>
            </a:r>
          </a:p>
        </p:txBody>
      </p:sp>
      <p:sp>
        <p:nvSpPr>
          <p:cNvPr id="34" name="">
            <a:extLst xmlns:a="http://schemas.openxmlformats.org/drawingml/2006/main">
              <a:ext uri="{FF2B5EF4-FFF2-40B4-BE49-F238E27FC236}">
                <a16:creationId xmlns:a16="http://schemas.microsoft.com/office/drawing/2014/main" id="{2244FA59-67FA-4839-B893-997BEE926042}"/>
              </a:ext>
            </a:extLst>
          </p:cNvPr>
          <p:cNvSpPr>
            <a:spLocks xmlns:a="http://schemas.openxmlformats.org/drawingml/2006/main" noGrp="1"/>
          </p:cNvSpPr>
          <p:nvPr/>
        </p:nvSpPr>
        <p:spPr>
          <a:xfrm xmlns:a="http://schemas.openxmlformats.org/drawingml/2006/main">
            <a:off x="1455420" y="5671947"/>
            <a:ext cx="928116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49" b="0">
                <a:solidFill>
                  <a:srgbClr val="576B6D"/>
                </a:solidFill>
                <a:latin typeface="Arial"/>
                <a:ea typeface="Arial"/>
                <a:cs typeface="Arial"/>
              </a:defRPr>
            </a:pPr>
            <a:r>
              <a:rPr sz="1449" b="0">
                <a:solidFill>
                  <a:srgbClr val="576B6D"/>
                </a:solidFill>
                <a:latin typeface="Arial"/>
                <a:ea typeface="Arial"/>
                <a:cs typeface="Arial"/>
              </a:rPr>
              <a:t>Screenshots come from separate seeded captures. Physical end-to-end acceptance remains open.</a:t>
            </a:r>
          </a:p>
        </p:txBody>
      </p:sp>
    </p:spTree>
    <p:extLst>
      <p:ext uri="{BB962C8B-B14F-4D97-AF65-F5344CB8AC3E}">
        <p14:creationId xmlns:p14="http://schemas.microsoft.com/office/powerpoint/2010/main" val="1698385364"/>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B35826-E046-4131-AD28-32695367BD83}"/>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clinic can record a request offline</a:t>
            </a:r>
          </a:p>
        </p:txBody>
      </p:sp>
      <p:sp>
        <p:nvSpPr>
          <p:cNvPr id="2" name="">
            <a:extLst xmlns:a="http://schemas.openxmlformats.org/drawingml/2006/main">
              <a:ext uri="{FF2B5EF4-FFF2-40B4-BE49-F238E27FC236}">
                <a16:creationId xmlns:a16="http://schemas.microsoft.com/office/drawing/2014/main" id="{79B49E88-15E2-4FBF-ADB3-F9E871BCB861}"/>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phone owns the local record before any transfer.</a:t>
            </a:r>
          </a:p>
        </p:txBody>
      </p:sp>
      <p:sp>
        <p:nvSpPr>
          <p:cNvPr id="3" name="">
            <a:extLst xmlns:a="http://schemas.openxmlformats.org/drawingml/2006/main">
              <a:ext uri="{FF2B5EF4-FFF2-40B4-BE49-F238E27FC236}">
                <a16:creationId xmlns:a16="http://schemas.microsoft.com/office/drawing/2014/main" id="{92025B23-D5A6-4901-88A7-68EBAD373FEA}"/>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0a2822c1d54283"/>
          <a:stretch xmlns:a="http://schemas.openxmlformats.org/drawingml/2006/main"/>
        </p:blipFill>
        <p:spPr>
          <a:xfrm xmlns:a="http://schemas.openxmlformats.org/drawingml/2006/main">
            <a:off x="678436" y="1990725"/>
            <a:ext cx="1767328" cy="39433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d2b0d5277949e8"/>
          <a:stretch xmlns:a="http://schemas.openxmlformats.org/drawingml/2006/main"/>
        </p:blipFill>
        <p:spPr>
          <a:xfrm xmlns:a="http://schemas.openxmlformats.org/drawingml/2006/main">
            <a:off x="3086546" y="1962150"/>
            <a:ext cx="3342383" cy="4038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D8BDCD-8F9B-47C1-802D-E00B026CFBDA}"/>
              </a:ext>
            </a:extLst>
          </p:cNvPr>
          <p:cNvSpPr>
            <a:spLocks xmlns:a="http://schemas.openxmlformats.org/drawingml/2006/main" noGrp="1"/>
          </p:cNvSpPr>
          <p:nvPr/>
        </p:nvSpPr>
        <p:spPr>
          <a:xfrm xmlns:a="http://schemas.openxmlformats.org/drawingml/2006/main">
            <a:off x="7334250" y="2190750"/>
            <a:ext cx="4000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01  Structured request</a:t>
            </a:r>
          </a:p>
        </p:txBody>
      </p:sp>
      <p:sp>
        <p:nvSpPr>
          <p:cNvPr id="7" name="">
            <a:extLst xmlns:a="http://schemas.openxmlformats.org/drawingml/2006/main">
              <a:ext uri="{FF2B5EF4-FFF2-40B4-BE49-F238E27FC236}">
                <a16:creationId xmlns:a16="http://schemas.microsoft.com/office/drawing/2014/main" id="{42F1C172-9D7D-4C3A-AF05-2810FC010295}"/>
              </a:ext>
            </a:extLst>
          </p:cNvPr>
          <p:cNvSpPr>
            <a:spLocks xmlns:a="http://schemas.openxmlformats.org/drawingml/2006/main" noGrp="1"/>
          </p:cNvSpPr>
          <p:nvPr/>
        </p:nvSpPr>
        <p:spPr>
          <a:xfrm xmlns:a="http://schemas.openxmlformats.org/drawingml/2006/main">
            <a:off x="7334250" y="2657475"/>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Location, supplies and urgency belong to a record the phone can retain.</a:t>
            </a:r>
          </a:p>
        </p:txBody>
      </p:sp>
      <p:sp>
        <p:nvSpPr>
          <p:cNvPr id="8" name="">
            <a:extLst xmlns:a="http://schemas.openxmlformats.org/drawingml/2006/main">
              <a:ext uri="{FF2B5EF4-FFF2-40B4-BE49-F238E27FC236}">
                <a16:creationId xmlns:a16="http://schemas.microsoft.com/office/drawing/2014/main" id="{DD6DEE88-F3DD-48A3-8E85-02A30FFC3413}"/>
              </a:ext>
            </a:extLst>
          </p:cNvPr>
          <p:cNvSpPr>
            <a:spLocks xmlns:a="http://schemas.openxmlformats.org/drawingml/2006/main" noGrp="1"/>
          </p:cNvSpPr>
          <p:nvPr/>
        </p:nvSpPr>
        <p:spPr>
          <a:xfrm xmlns:a="http://schemas.openxmlformats.org/drawingml/2006/main">
            <a:off x="7334250" y="4143375"/>
            <a:ext cx="4000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02  Honest transfer state</a:t>
            </a:r>
          </a:p>
        </p:txBody>
      </p:sp>
      <p:sp>
        <p:nvSpPr>
          <p:cNvPr id="9" name="">
            <a:extLst xmlns:a="http://schemas.openxmlformats.org/drawingml/2006/main">
              <a:ext uri="{FF2B5EF4-FFF2-40B4-BE49-F238E27FC236}">
                <a16:creationId xmlns:a16="http://schemas.microsoft.com/office/drawing/2014/main" id="{C1981BEE-D02A-4B74-AEA8-A3DBDBA196CA}"/>
              </a:ext>
            </a:extLst>
          </p:cNvPr>
          <p:cNvSpPr>
            <a:spLocks xmlns:a="http://schemas.openxmlformats.org/drawingml/2006/main" noGrp="1"/>
          </p:cNvSpPr>
          <p:nvPr/>
        </p:nvSpPr>
        <p:spPr>
          <a:xfrm xmlns:a="http://schemas.openxmlformats.org/drawingml/2006/main">
            <a:off x="7334250" y="46101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Queued, forwarded and accepted remain separate states.</a:t>
            </a:r>
          </a:p>
        </p:txBody>
      </p:sp>
      <p:sp>
        <p:nvSpPr>
          <p:cNvPr id="10" name="">
            <a:extLst xmlns:a="http://schemas.openxmlformats.org/drawingml/2006/main">
              <a:ext uri="{FF2B5EF4-FFF2-40B4-BE49-F238E27FC236}">
                <a16:creationId xmlns:a16="http://schemas.microsoft.com/office/drawing/2014/main" id="{1DA56D0A-E68F-4A36-B252-524C1F965463}"/>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Left: full source capture. Center: enlarged detail crop. Both show the actual application.</a:t>
            </a:r>
          </a:p>
        </p:txBody>
      </p:sp>
    </p:spTree>
    <p:extLst>
      <p:ext uri="{BB962C8B-B14F-4D97-AF65-F5344CB8AC3E}">
        <p14:creationId xmlns:p14="http://schemas.microsoft.com/office/powerpoint/2010/main" val="1601462688"/>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CB13AA6-5C20-4644-9C64-628C7357302A}"/>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relay forwards encrypted contents</a:t>
            </a:r>
          </a:p>
        </p:txBody>
      </p:sp>
      <p:sp>
        <p:nvSpPr>
          <p:cNvPr id="2" name="">
            <a:extLst xmlns:a="http://schemas.openxmlformats.org/drawingml/2006/main">
              <a:ext uri="{FF2B5EF4-FFF2-40B4-BE49-F238E27FC236}">
                <a16:creationId xmlns:a16="http://schemas.microsoft.com/office/drawing/2014/main" id="{FA53DD29-92F2-49FD-9830-6C04ADAF58D6}"/>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Only the intended recipient opens the protected delivery payload.</a:t>
            </a:r>
          </a:p>
        </p:txBody>
      </p:sp>
      <p:sp>
        <p:nvSpPr>
          <p:cNvPr id="3" name="">
            <a:extLst xmlns:a="http://schemas.openxmlformats.org/drawingml/2006/main">
              <a:ext uri="{FF2B5EF4-FFF2-40B4-BE49-F238E27FC236}">
                <a16:creationId xmlns:a16="http://schemas.microsoft.com/office/drawing/2014/main" id="{E8D7AC4A-0724-45AE-A740-6C0B1FC8928C}"/>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56B4355-3AA1-4912-8163-771954DB973B}"/>
              </a:ext>
            </a:extLst>
          </p:cNvPr>
          <p:cNvSpPr>
            <a:spLocks xmlns:a="http://schemas.openxmlformats.org/drawingml/2006/main" noGrp="1"/>
          </p:cNvSpPr>
          <p:nvPr/>
        </p:nvSpPr>
        <p:spPr>
          <a:xfrm xmlns:a="http://schemas.openxmlformats.org/drawingml/2006/main">
            <a:off x="1806893" y="2665095"/>
            <a:ext cx="2370296" cy="188118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662928C5-7C0B-4E3B-806C-00EA96A1C1B0}"/>
              </a:ext>
            </a:extLst>
          </p:cNvPr>
          <p:cNvSpPr>
            <a:spLocks xmlns:a="http://schemas.openxmlformats.org/drawingml/2006/main" noGrp="1"/>
          </p:cNvSpPr>
          <p:nvPr/>
        </p:nvSpPr>
        <p:spPr>
          <a:xfrm xmlns:a="http://schemas.openxmlformats.org/drawingml/2006/main">
            <a:off x="1806893" y="2665095"/>
            <a:ext cx="2370296" cy="30099"/>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98D14E-2F92-49EB-BB25-5CE00DB66130}"/>
              </a:ext>
            </a:extLst>
          </p:cNvPr>
          <p:cNvSpPr>
            <a:spLocks xmlns:a="http://schemas.openxmlformats.org/drawingml/2006/main" noGrp="1"/>
          </p:cNvSpPr>
          <p:nvPr/>
        </p:nvSpPr>
        <p:spPr>
          <a:xfrm xmlns:a="http://schemas.openxmlformats.org/drawingml/2006/main">
            <a:off x="1934813" y="2793016"/>
            <a:ext cx="2159603"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67" b="1">
                <a:solidFill>
                  <a:srgbClr val="123D38"/>
                </a:solidFill>
                <a:latin typeface="Arial"/>
                <a:ea typeface="Arial"/>
                <a:cs typeface="Arial"/>
              </a:defRPr>
            </a:pPr>
            <a:r>
              <a:rPr sz="1067" b="1">
                <a:solidFill>
                  <a:srgbClr val="123D38"/>
                </a:solidFill>
                <a:latin typeface="Arial"/>
                <a:ea typeface="Arial"/>
                <a:cs typeface="Arial"/>
              </a:rPr>
              <a:t>SENDER</a:t>
            </a:r>
          </a:p>
        </p:txBody>
      </p:sp>
      <p:sp>
        <p:nvSpPr>
          <p:cNvPr id="7" name="">
            <a:extLst xmlns:a="http://schemas.openxmlformats.org/drawingml/2006/main">
              <a:ext uri="{FF2B5EF4-FFF2-40B4-BE49-F238E27FC236}">
                <a16:creationId xmlns:a16="http://schemas.microsoft.com/office/drawing/2014/main" id="{E3C77DEE-44A9-48F7-B277-48F4DACA7DCA}"/>
              </a:ext>
            </a:extLst>
          </p:cNvPr>
          <p:cNvSpPr>
            <a:spLocks xmlns:a="http://schemas.openxmlformats.org/drawingml/2006/main" noGrp="1"/>
          </p:cNvSpPr>
          <p:nvPr/>
        </p:nvSpPr>
        <p:spPr>
          <a:xfrm xmlns:a="http://schemas.openxmlformats.org/drawingml/2006/main">
            <a:off x="1934813" y="3041333"/>
            <a:ext cx="2159603" cy="31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41" b="1">
                <a:solidFill>
                  <a:srgbClr val="172E2B"/>
                </a:solidFill>
                <a:latin typeface="Arial"/>
                <a:ea typeface="Arial"/>
                <a:cs typeface="Arial"/>
              </a:defRPr>
            </a:pPr>
            <a:r>
              <a:rPr sz="1541" b="1">
                <a:solidFill>
                  <a:srgbClr val="172E2B"/>
                </a:solidFill>
                <a:latin typeface="Arial"/>
                <a:ea typeface="Arial"/>
                <a:cs typeface="Arial"/>
              </a:rPr>
              <a:t>Seal the event</a:t>
            </a:r>
          </a:p>
        </p:txBody>
      </p:sp>
      <p:sp>
        <p:nvSpPr>
          <p:cNvPr id="8" name="">
            <a:extLst xmlns:a="http://schemas.openxmlformats.org/drawingml/2006/main">
              <a:ext uri="{FF2B5EF4-FFF2-40B4-BE49-F238E27FC236}">
                <a16:creationId xmlns:a16="http://schemas.microsoft.com/office/drawing/2014/main" id="{BCA1B7B7-FCD0-421A-BE5A-33C5B60F0F10}"/>
              </a:ext>
            </a:extLst>
          </p:cNvPr>
          <p:cNvSpPr>
            <a:spLocks xmlns:a="http://schemas.openxmlformats.org/drawingml/2006/main" noGrp="1"/>
          </p:cNvSpPr>
          <p:nvPr/>
        </p:nvSpPr>
        <p:spPr>
          <a:xfrm xmlns:a="http://schemas.openxmlformats.org/drawingml/2006/main">
            <a:off x="1934813" y="3372422"/>
            <a:ext cx="2144554" cy="1158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Protobuf bytes</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Recipient encryption</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Signed envelope</a:t>
            </a:r>
          </a:p>
        </p:txBody>
      </p:sp>
      <p:sp>
        <p:nvSpPr>
          <p:cNvPr id="9" name="">
            <a:extLst xmlns:a="http://schemas.openxmlformats.org/drawingml/2006/main">
              <a:ext uri="{FF2B5EF4-FFF2-40B4-BE49-F238E27FC236}">
                <a16:creationId xmlns:a16="http://schemas.microsoft.com/office/drawing/2014/main" id="{91AEECC2-2A7A-4AF0-BF11-5B02101D6696}"/>
              </a:ext>
            </a:extLst>
          </p:cNvPr>
          <p:cNvSpPr>
            <a:spLocks xmlns:a="http://schemas.openxmlformats.org/drawingml/2006/main" noGrp="1"/>
          </p:cNvSpPr>
          <p:nvPr/>
        </p:nvSpPr>
        <p:spPr>
          <a:xfrm xmlns:a="http://schemas.openxmlformats.org/drawingml/2006/main">
            <a:off x="4892040" y="2213610"/>
            <a:ext cx="2445544" cy="165544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80CEAD50-90DF-40A4-980A-E852DA55712B}"/>
              </a:ext>
            </a:extLst>
          </p:cNvPr>
          <p:cNvSpPr>
            <a:spLocks xmlns:a="http://schemas.openxmlformats.org/drawingml/2006/main" noGrp="1"/>
          </p:cNvSpPr>
          <p:nvPr/>
        </p:nvSpPr>
        <p:spPr>
          <a:xfrm xmlns:a="http://schemas.openxmlformats.org/drawingml/2006/main">
            <a:off x="4892040" y="2213610"/>
            <a:ext cx="2445544" cy="30099"/>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66AFBD-CDE9-4277-98B0-FF2467CBA9AD}"/>
              </a:ext>
            </a:extLst>
          </p:cNvPr>
          <p:cNvSpPr>
            <a:spLocks xmlns:a="http://schemas.openxmlformats.org/drawingml/2006/main" noGrp="1"/>
          </p:cNvSpPr>
          <p:nvPr/>
        </p:nvSpPr>
        <p:spPr>
          <a:xfrm xmlns:a="http://schemas.openxmlformats.org/drawingml/2006/main">
            <a:off x="5019961" y="2341531"/>
            <a:ext cx="2234851"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67" b="1">
                <a:solidFill>
                  <a:srgbClr val="216E75"/>
                </a:solidFill>
                <a:latin typeface="Arial"/>
                <a:ea typeface="Arial"/>
                <a:cs typeface="Arial"/>
              </a:defRPr>
            </a:pPr>
            <a:r>
              <a:rPr sz="1067" b="1">
                <a:solidFill>
                  <a:srgbClr val="216E75"/>
                </a:solidFill>
                <a:latin typeface="Arial"/>
                <a:ea typeface="Arial"/>
                <a:cs typeface="Arial"/>
              </a:rPr>
              <a:t>RELAY CAN CHECK</a:t>
            </a:r>
          </a:p>
        </p:txBody>
      </p:sp>
      <p:sp>
        <p:nvSpPr>
          <p:cNvPr id="12" name="">
            <a:extLst xmlns:a="http://schemas.openxmlformats.org/drawingml/2006/main">
              <a:ext uri="{FF2B5EF4-FFF2-40B4-BE49-F238E27FC236}">
                <a16:creationId xmlns:a16="http://schemas.microsoft.com/office/drawing/2014/main" id="{60ACBC60-A84C-416F-BC6D-6F580CF31CFA}"/>
              </a:ext>
            </a:extLst>
          </p:cNvPr>
          <p:cNvSpPr>
            <a:spLocks xmlns:a="http://schemas.openxmlformats.org/drawingml/2006/main" noGrp="1"/>
          </p:cNvSpPr>
          <p:nvPr/>
        </p:nvSpPr>
        <p:spPr>
          <a:xfrm xmlns:a="http://schemas.openxmlformats.org/drawingml/2006/main">
            <a:off x="5019961" y="2589848"/>
            <a:ext cx="2234851" cy="31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41" b="1">
                <a:solidFill>
                  <a:srgbClr val="172E2B"/>
                </a:solidFill>
                <a:latin typeface="Arial"/>
                <a:ea typeface="Arial"/>
                <a:cs typeface="Arial"/>
              </a:defRPr>
            </a:pPr>
            <a:r>
              <a:rPr sz="1541" b="1">
                <a:solidFill>
                  <a:srgbClr val="172E2B"/>
                </a:solidFill>
                <a:latin typeface="Arial"/>
                <a:ea typeface="Arial"/>
                <a:cs typeface="Arial"/>
              </a:rPr>
              <a:t>Forwarding metadata</a:t>
            </a:r>
          </a:p>
        </p:txBody>
      </p:sp>
      <p:sp>
        <p:nvSpPr>
          <p:cNvPr id="13" name="">
            <a:extLst xmlns:a="http://schemas.openxmlformats.org/drawingml/2006/main">
              <a:ext uri="{FF2B5EF4-FFF2-40B4-BE49-F238E27FC236}">
                <a16:creationId xmlns:a16="http://schemas.microsoft.com/office/drawing/2014/main" id="{EC4F8F68-0927-43D9-9A4B-C6F5B9F719CB}"/>
              </a:ext>
            </a:extLst>
          </p:cNvPr>
          <p:cNvSpPr>
            <a:spLocks xmlns:a="http://schemas.openxmlformats.org/drawingml/2006/main" noGrp="1"/>
          </p:cNvSpPr>
          <p:nvPr/>
        </p:nvSpPr>
        <p:spPr>
          <a:xfrm xmlns:a="http://schemas.openxmlformats.org/drawingml/2006/main">
            <a:off x="5019961" y="2920937"/>
            <a:ext cx="2219801" cy="9330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IDs and destination</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Expiry and hop limits</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Envelope integrity</a:t>
            </a:r>
          </a:p>
        </p:txBody>
      </p:sp>
      <p:sp>
        <p:nvSpPr>
          <p:cNvPr id="14" name="">
            <a:extLst xmlns:a="http://schemas.openxmlformats.org/drawingml/2006/main">
              <a:ext uri="{FF2B5EF4-FFF2-40B4-BE49-F238E27FC236}">
                <a16:creationId xmlns:a16="http://schemas.microsoft.com/office/drawing/2014/main" id="{24D6285E-1082-42F6-9E20-A1A62209BC6C}"/>
              </a:ext>
            </a:extLst>
          </p:cNvPr>
          <p:cNvSpPr>
            <a:spLocks xmlns:a="http://schemas.openxmlformats.org/drawingml/2006/main" noGrp="1"/>
          </p:cNvSpPr>
          <p:nvPr/>
        </p:nvSpPr>
        <p:spPr>
          <a:xfrm xmlns:a="http://schemas.openxmlformats.org/drawingml/2006/main">
            <a:off x="4892040" y="4358164"/>
            <a:ext cx="2445544"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F2E6F34F-4094-40ED-BF35-9621CDA11669}"/>
              </a:ext>
            </a:extLst>
          </p:cNvPr>
          <p:cNvSpPr>
            <a:spLocks xmlns:a="http://schemas.openxmlformats.org/drawingml/2006/main" noGrp="1"/>
          </p:cNvSpPr>
          <p:nvPr/>
        </p:nvSpPr>
        <p:spPr>
          <a:xfrm xmlns:a="http://schemas.openxmlformats.org/drawingml/2006/main">
            <a:off x="4892040" y="4358164"/>
            <a:ext cx="2445544" cy="30099"/>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CA2AA01-7B63-402B-AC96-5D16BB726F50}"/>
              </a:ext>
            </a:extLst>
          </p:cNvPr>
          <p:cNvSpPr>
            <a:spLocks xmlns:a="http://schemas.openxmlformats.org/drawingml/2006/main" noGrp="1"/>
          </p:cNvSpPr>
          <p:nvPr/>
        </p:nvSpPr>
        <p:spPr>
          <a:xfrm xmlns:a="http://schemas.openxmlformats.org/drawingml/2006/main">
            <a:off x="5019961" y="4486085"/>
            <a:ext cx="2234851"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67" b="1">
                <a:solidFill>
                  <a:srgbClr val="123D38"/>
                </a:solidFill>
                <a:latin typeface="Arial"/>
                <a:ea typeface="Arial"/>
                <a:cs typeface="Arial"/>
              </a:defRPr>
            </a:pPr>
            <a:r>
              <a:rPr sz="1067" b="1">
                <a:solidFill>
                  <a:srgbClr val="123D38"/>
                </a:solidFill>
                <a:latin typeface="Arial"/>
                <a:ea typeface="Arial"/>
                <a:cs typeface="Arial"/>
              </a:rPr>
              <a:t>RELAY CANNOT OPEN</a:t>
            </a:r>
          </a:p>
        </p:txBody>
      </p:sp>
      <p:sp>
        <p:nvSpPr>
          <p:cNvPr id="17" name="">
            <a:extLst xmlns:a="http://schemas.openxmlformats.org/drawingml/2006/main">
              <a:ext uri="{FF2B5EF4-FFF2-40B4-BE49-F238E27FC236}">
                <a16:creationId xmlns:a16="http://schemas.microsoft.com/office/drawing/2014/main" id="{AD25F1FF-B40C-40CA-92A5-1B1B81672E72}"/>
              </a:ext>
            </a:extLst>
          </p:cNvPr>
          <p:cNvSpPr>
            <a:spLocks xmlns:a="http://schemas.openxmlformats.org/drawingml/2006/main" noGrp="1"/>
          </p:cNvSpPr>
          <p:nvPr/>
        </p:nvSpPr>
        <p:spPr>
          <a:xfrm xmlns:a="http://schemas.openxmlformats.org/drawingml/2006/main">
            <a:off x="5019961" y="4734401"/>
            <a:ext cx="2234851" cy="31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41" b="1">
                <a:solidFill>
                  <a:srgbClr val="172E2B"/>
                </a:solidFill>
                <a:latin typeface="Arial"/>
                <a:ea typeface="Arial"/>
                <a:cs typeface="Arial"/>
              </a:defRPr>
            </a:pPr>
            <a:r>
              <a:rPr sz="1541" b="1">
                <a:solidFill>
                  <a:srgbClr val="172E2B"/>
                </a:solidFill>
                <a:latin typeface="Arial"/>
                <a:ea typeface="Arial"/>
                <a:cs typeface="Arial"/>
              </a:rPr>
              <a:t>Delivery payload</a:t>
            </a:r>
          </a:p>
        </p:txBody>
      </p:sp>
      <p:sp>
        <p:nvSpPr>
          <p:cNvPr id="18" name="">
            <a:extLst xmlns:a="http://schemas.openxmlformats.org/drawingml/2006/main">
              <a:ext uri="{FF2B5EF4-FFF2-40B4-BE49-F238E27FC236}">
                <a16:creationId xmlns:a16="http://schemas.microsoft.com/office/drawing/2014/main" id="{0E45F80A-7DB8-45E2-86C2-E6FD60BE150C}"/>
              </a:ext>
            </a:extLst>
          </p:cNvPr>
          <p:cNvSpPr>
            <a:spLocks xmlns:a="http://schemas.openxmlformats.org/drawingml/2006/main" noGrp="1"/>
          </p:cNvSpPr>
          <p:nvPr/>
        </p:nvSpPr>
        <p:spPr>
          <a:xfrm xmlns:a="http://schemas.openxmlformats.org/drawingml/2006/main">
            <a:off x="5019961" y="5065490"/>
            <a:ext cx="2219801" cy="782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Recipient encryption</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protects the contents.</a:t>
            </a:r>
          </a:p>
        </p:txBody>
      </p:sp>
      <p:sp>
        <p:nvSpPr>
          <p:cNvPr id="19" name="">
            <a:extLst xmlns:a="http://schemas.openxmlformats.org/drawingml/2006/main">
              <a:ext uri="{FF2B5EF4-FFF2-40B4-BE49-F238E27FC236}">
                <a16:creationId xmlns:a16="http://schemas.microsoft.com/office/drawing/2014/main" id="{CBA63C67-B805-40F4-8E71-DE9DF534FAC2}"/>
              </a:ext>
            </a:extLst>
          </p:cNvPr>
          <p:cNvSpPr>
            <a:spLocks xmlns:a="http://schemas.openxmlformats.org/drawingml/2006/main" noGrp="1"/>
          </p:cNvSpPr>
          <p:nvPr/>
        </p:nvSpPr>
        <p:spPr>
          <a:xfrm xmlns:a="http://schemas.openxmlformats.org/drawingml/2006/main">
            <a:off x="8014811" y="2665095"/>
            <a:ext cx="2370296" cy="188118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A0770426-728A-4FF5-8A0B-1D04F35D4A48}"/>
              </a:ext>
            </a:extLst>
          </p:cNvPr>
          <p:cNvSpPr>
            <a:spLocks xmlns:a="http://schemas.openxmlformats.org/drawingml/2006/main" noGrp="1"/>
          </p:cNvSpPr>
          <p:nvPr/>
        </p:nvSpPr>
        <p:spPr>
          <a:xfrm xmlns:a="http://schemas.openxmlformats.org/drawingml/2006/main">
            <a:off x="8014811" y="2665095"/>
            <a:ext cx="2370296" cy="30099"/>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0468B6C-B73F-4FC4-B8AA-040DD299B830}"/>
              </a:ext>
            </a:extLst>
          </p:cNvPr>
          <p:cNvSpPr>
            <a:spLocks xmlns:a="http://schemas.openxmlformats.org/drawingml/2006/main" noGrp="1"/>
          </p:cNvSpPr>
          <p:nvPr/>
        </p:nvSpPr>
        <p:spPr>
          <a:xfrm xmlns:a="http://schemas.openxmlformats.org/drawingml/2006/main">
            <a:off x="8142732" y="2793016"/>
            <a:ext cx="2159603"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67" b="1">
                <a:solidFill>
                  <a:srgbClr val="123D38"/>
                </a:solidFill>
                <a:latin typeface="Arial"/>
                <a:ea typeface="Arial"/>
                <a:cs typeface="Arial"/>
              </a:defRPr>
            </a:pPr>
            <a:r>
              <a:rPr sz="1067" b="1">
                <a:solidFill>
                  <a:srgbClr val="123D38"/>
                </a:solidFill>
                <a:latin typeface="Arial"/>
                <a:ea typeface="Arial"/>
                <a:cs typeface="Arial"/>
              </a:rPr>
              <a:t>RECIPIENT</a:t>
            </a:r>
          </a:p>
        </p:txBody>
      </p:sp>
      <p:sp>
        <p:nvSpPr>
          <p:cNvPr id="22" name="">
            <a:extLst xmlns:a="http://schemas.openxmlformats.org/drawingml/2006/main">
              <a:ext uri="{FF2B5EF4-FFF2-40B4-BE49-F238E27FC236}">
                <a16:creationId xmlns:a16="http://schemas.microsoft.com/office/drawing/2014/main" id="{1FA4411E-F13D-4E5B-B44A-9C306850CD52}"/>
              </a:ext>
            </a:extLst>
          </p:cNvPr>
          <p:cNvSpPr>
            <a:spLocks xmlns:a="http://schemas.openxmlformats.org/drawingml/2006/main" noGrp="1"/>
          </p:cNvSpPr>
          <p:nvPr/>
        </p:nvSpPr>
        <p:spPr>
          <a:xfrm xmlns:a="http://schemas.openxmlformats.org/drawingml/2006/main">
            <a:off x="8142732" y="3041333"/>
            <a:ext cx="2159603" cy="31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41" b="1">
                <a:solidFill>
                  <a:srgbClr val="172E2B"/>
                </a:solidFill>
                <a:latin typeface="Arial"/>
                <a:ea typeface="Arial"/>
                <a:cs typeface="Arial"/>
              </a:defRPr>
            </a:pPr>
            <a:r>
              <a:rPr sz="1541" b="1">
                <a:solidFill>
                  <a:srgbClr val="172E2B"/>
                </a:solidFill>
                <a:latin typeface="Arial"/>
                <a:ea typeface="Arial"/>
                <a:cs typeface="Arial"/>
              </a:rPr>
              <a:t>Open and verify</a:t>
            </a:r>
          </a:p>
        </p:txBody>
      </p:sp>
      <p:sp>
        <p:nvSpPr>
          <p:cNvPr id="23" name="">
            <a:extLst xmlns:a="http://schemas.openxmlformats.org/drawingml/2006/main">
              <a:ext uri="{FF2B5EF4-FFF2-40B4-BE49-F238E27FC236}">
                <a16:creationId xmlns:a16="http://schemas.microsoft.com/office/drawing/2014/main" id="{94A4412C-101B-4EE2-A0F4-23D4A93F5930}"/>
              </a:ext>
            </a:extLst>
          </p:cNvPr>
          <p:cNvSpPr>
            <a:spLocks xmlns:a="http://schemas.openxmlformats.org/drawingml/2006/main" noGrp="1"/>
          </p:cNvSpPr>
          <p:nvPr/>
        </p:nvSpPr>
        <p:spPr>
          <a:xfrm xmlns:a="http://schemas.openxmlformats.org/drawingml/2006/main">
            <a:off x="8142732" y="3372422"/>
            <a:ext cx="2144554" cy="1158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Decrypt with own key</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Verify trusted fields</a:t>
            </a:r>
          </a:p>
          <a:p xmlns:a="http://schemas.openxmlformats.org/drawingml/2006/main">
            <a:pPr>
              <a:defRPr sz="1304" b="0">
                <a:solidFill>
                  <a:srgbClr val="576B6D"/>
                </a:solidFill>
                <a:latin typeface="Arial"/>
                <a:ea typeface="Arial"/>
                <a:cs typeface="Arial"/>
              </a:defRPr>
            </a:pPr>
            <a:r>
              <a:rPr sz="1304" b="0">
                <a:solidFill>
                  <a:srgbClr val="576B6D"/>
                </a:solidFill>
                <a:latin typeface="Arial"/>
                <a:ea typeface="Arial"/>
                <a:cs typeface="Arial"/>
              </a:rPr>
              <a:t>Apply accepted event</a:t>
            </a:r>
          </a:p>
        </p:txBody>
      </p:sp>
      <p:cxnSp>
        <p:nvCxnSpPr>
          <p:cNvPr id="54" name=""/>
          <p:cNvCxnSpPr>
            <a:stCxn xmlns:a="http://schemas.openxmlformats.org/drawingml/2006/main" id="4" idx="3"/>
            <a:endCxn xmlns:a="http://schemas.openxmlformats.org/drawingml/2006/main" id="9" idx="1"/>
          </p:cNvCxnSpPr>
          <p:nvPr/>
        </p:nvCxnSpPr>
        <p:spPr>
          <a:xfrm xmlns:a="http://schemas.openxmlformats.org/drawingml/2006/main" flipV="1">
            <a:off x="4177189" y="3041333"/>
            <a:ext cx="714851" cy="564357"/>
          </a:xfrm>
          <a:prstGeom xmlns:a="http://schemas.openxmlformats.org/drawingml/2006/main" prst="bentConnector3">
            <a:avLst>
              <a:gd name="adj1" fmla="val 50000"/>
            </a:avLst>
          </a:prstGeom>
          <a:ln xmlns:a="http://schemas.openxmlformats.org/drawingml/2006/main" w="20955">
            <a:solidFill>
              <a:srgbClr val="216E75"/>
            </a:solidFill>
            <a:prstDash val="solid"/>
            <a:tailEnd type="arrow" w="med" len="med"/>
          </a:ln>
        </p:spPr>
      </p:cxnSp>
      <p:cxnSp>
        <p:nvCxnSpPr>
          <p:cNvPr id="55" name=""/>
          <p:cNvCxnSpPr>
            <a:stCxn xmlns:a="http://schemas.openxmlformats.org/drawingml/2006/main" id="9" idx="3"/>
            <a:endCxn xmlns:a="http://schemas.openxmlformats.org/drawingml/2006/main" id="19" idx="1"/>
          </p:cNvCxnSpPr>
          <p:nvPr/>
        </p:nvCxnSpPr>
        <p:spPr>
          <a:xfrm xmlns:a="http://schemas.openxmlformats.org/drawingml/2006/main">
            <a:off x="7337584" y="3041333"/>
            <a:ext cx="677227" cy="564357"/>
          </a:xfrm>
          <a:prstGeom xmlns:a="http://schemas.openxmlformats.org/drawingml/2006/main" prst="bentConnector3">
            <a:avLst>
              <a:gd name="adj1" fmla="val 50000"/>
            </a:avLst>
          </a:prstGeom>
          <a:ln xmlns:a="http://schemas.openxmlformats.org/drawingml/2006/main" w="20955">
            <a:solidFill>
              <a:srgbClr val="216E75"/>
            </a:solidFill>
            <a:prstDash val="solid"/>
            <a:tailEnd type="arrow" w="med" len="med"/>
          </a:ln>
        </p:spPr>
      </p:cxnSp>
      <p:sp>
        <p:nvSpPr>
          <p:cNvPr id="26" name="">
            <a:extLst xmlns:a="http://schemas.openxmlformats.org/drawingml/2006/main">
              <a:ext uri="{FF2B5EF4-FFF2-40B4-BE49-F238E27FC236}">
                <a16:creationId xmlns:a16="http://schemas.microsoft.com/office/drawing/2014/main" id="{07E98647-6302-440C-9B32-B639832E1C8E}"/>
              </a:ext>
            </a:extLst>
          </p:cNvPr>
          <p:cNvSpPr>
            <a:spLocks xmlns:a="http://schemas.openxmlformats.org/drawingml/2006/main" noGrp="1"/>
          </p:cNvSpPr>
          <p:nvPr/>
        </p:nvSpPr>
        <p:spPr>
          <a:xfrm xmlns:a="http://schemas.openxmlformats.org/drawingml/2006/main">
            <a:off x="1844516" y="5042916"/>
            <a:ext cx="8615839" cy="270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2" b="0">
                <a:solidFill>
                  <a:srgbClr val="123D38"/>
                </a:solidFill>
                <a:latin typeface="Arial"/>
                <a:ea typeface="Arial"/>
                <a:cs typeface="Arial"/>
              </a:defRPr>
            </a:pPr>
            <a:r>
              <a:rPr sz="1422" b="0">
                <a:solidFill>
                  <a:srgbClr val="123D38"/>
                </a:solidFill>
                <a:latin typeface="Arial"/>
                <a:ea typeface="Arial"/>
                <a:cs typeface="Arial"/>
              </a:rPr>
              <a:t>AES-256-GCM payload encryption</a:t>
            </a:r>
          </a:p>
        </p:txBody>
      </p:sp>
      <p:sp>
        <p:nvSpPr>
          <p:cNvPr id="27" name="">
            <a:extLst xmlns:a="http://schemas.openxmlformats.org/drawingml/2006/main">
              <a:ext uri="{FF2B5EF4-FFF2-40B4-BE49-F238E27FC236}">
                <a16:creationId xmlns:a16="http://schemas.microsoft.com/office/drawing/2014/main" id="{0F4A0B87-55BD-438C-A698-6EEE06DCF085}"/>
              </a:ext>
            </a:extLst>
          </p:cNvPr>
          <p:cNvSpPr>
            <a:spLocks xmlns:a="http://schemas.openxmlformats.org/drawingml/2006/main" noGrp="1"/>
          </p:cNvSpPr>
          <p:nvPr/>
        </p:nvSpPr>
        <p:spPr>
          <a:xfrm xmlns:a="http://schemas.openxmlformats.org/drawingml/2006/main">
            <a:off x="1844516" y="5366480"/>
            <a:ext cx="8615839" cy="263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63" b="0">
                <a:solidFill>
                  <a:srgbClr val="576B6D"/>
                </a:solidFill>
                <a:latin typeface="Arial"/>
                <a:ea typeface="Arial"/>
                <a:cs typeface="Arial"/>
              </a:defRPr>
            </a:pPr>
            <a:r>
              <a:rPr sz="1363" b="0">
                <a:solidFill>
                  <a:srgbClr val="576B6D"/>
                </a:solidFill>
                <a:latin typeface="Arial"/>
                <a:ea typeface="Arial"/>
                <a:cs typeface="Arial"/>
              </a:rPr>
              <a:t>RSA-OAEP recipient key wrapping</a:t>
            </a:r>
          </a:p>
        </p:txBody>
      </p:sp>
      <p:sp>
        <p:nvSpPr>
          <p:cNvPr id="28" name="">
            <a:extLst xmlns:a="http://schemas.openxmlformats.org/drawingml/2006/main">
              <a:ext uri="{FF2B5EF4-FFF2-40B4-BE49-F238E27FC236}">
                <a16:creationId xmlns:a16="http://schemas.microsoft.com/office/drawing/2014/main" id="{878AB72C-10B4-4531-9C9E-40A7472FEB9B}"/>
              </a:ext>
            </a:extLst>
          </p:cNvPr>
          <p:cNvSpPr>
            <a:spLocks xmlns:a="http://schemas.openxmlformats.org/drawingml/2006/main" noGrp="1"/>
          </p:cNvSpPr>
          <p:nvPr/>
        </p:nvSpPr>
        <p:spPr>
          <a:xfrm xmlns:a="http://schemas.openxmlformats.org/drawingml/2006/main">
            <a:off x="7939564" y="5050441"/>
            <a:ext cx="2520791" cy="263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63" b="0">
                <a:solidFill>
                  <a:srgbClr val="216E75"/>
                </a:solidFill>
                <a:latin typeface="Arial"/>
                <a:ea typeface="Arial"/>
                <a:cs typeface="Arial"/>
              </a:defRPr>
            </a:pPr>
            <a:r>
              <a:rPr sz="1363" b="0">
                <a:solidFill>
                  <a:srgbClr val="216E75"/>
                </a:solidFill>
                <a:latin typeface="Arial"/>
                <a:ea typeface="Arial"/>
                <a:cs typeface="Arial"/>
              </a:rPr>
              <a:t>Persist before acknowledgement</a:t>
            </a:r>
          </a:p>
        </p:txBody>
      </p:sp>
      <p:sp>
        <p:nvSpPr>
          <p:cNvPr id="29" name="">
            <a:extLst xmlns:a="http://schemas.openxmlformats.org/drawingml/2006/main">
              <a:ext uri="{FF2B5EF4-FFF2-40B4-BE49-F238E27FC236}">
                <a16:creationId xmlns:a16="http://schemas.microsoft.com/office/drawing/2014/main" id="{F988A880-3079-4285-A3F2-C7632CAD7ABE}"/>
              </a:ext>
            </a:extLst>
          </p:cNvPr>
          <p:cNvSpPr>
            <a:spLocks xmlns:a="http://schemas.openxmlformats.org/drawingml/2006/main" noGrp="1"/>
          </p:cNvSpPr>
          <p:nvPr/>
        </p:nvSpPr>
        <p:spPr>
          <a:xfrm xmlns:a="http://schemas.openxmlformats.org/drawingml/2006/main">
            <a:off x="7939564" y="5366480"/>
            <a:ext cx="2520791" cy="263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63" b="0">
                <a:solidFill>
                  <a:srgbClr val="576B6D"/>
                </a:solidFill>
                <a:latin typeface="Arial"/>
                <a:ea typeface="Arial"/>
                <a:cs typeface="Arial"/>
              </a:defRPr>
            </a:pPr>
            <a:r>
              <a:rPr sz="1363" b="0">
                <a:solidFill>
                  <a:srgbClr val="576B6D"/>
                </a:solidFill>
                <a:latin typeface="Arial"/>
                <a:ea typeface="Arial"/>
                <a:cs typeface="Arial"/>
              </a:rPr>
              <a:t>Receipt ≠ domain acceptance</a:t>
            </a:r>
          </a:p>
        </p:txBody>
      </p:sp>
      <p:sp>
        <p:nvSpPr>
          <p:cNvPr id="30" name="">
            <a:extLst xmlns:a="http://schemas.openxmlformats.org/drawingml/2006/main">
              <a:ext uri="{FF2B5EF4-FFF2-40B4-BE49-F238E27FC236}">
                <a16:creationId xmlns:a16="http://schemas.microsoft.com/office/drawing/2014/main" id="{B9858BD9-A413-42C3-BC63-458D308602E1}"/>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Metadata remains available for forwarding. Payload encryption does not hide every communication pattern.</a:t>
            </a:r>
          </a:p>
        </p:txBody>
      </p:sp>
    </p:spTree>
    <p:extLst>
      <p:ext uri="{BB962C8B-B14F-4D97-AF65-F5344CB8AC3E}">
        <p14:creationId xmlns:p14="http://schemas.microsoft.com/office/powerpoint/2010/main" val="245317481"/>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68F265-AA4A-429E-AB1A-72CA4184A56A}"/>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A failed road changes the phone’s route</a:t>
            </a:r>
          </a:p>
        </p:txBody>
      </p:sp>
      <p:sp>
        <p:nvSpPr>
          <p:cNvPr id="2" name="">
            <a:extLst xmlns:a="http://schemas.openxmlformats.org/drawingml/2006/main">
              <a:ext uri="{FF2B5EF4-FFF2-40B4-BE49-F238E27FC236}">
                <a16:creationId xmlns:a16="http://schemas.microsoft.com/office/drawing/2014/main" id="{D45D6A3F-991B-4AD5-95F0-5F125DC71141}"/>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seeded E3 failure selects the boat alternative E6 and E7.</a:t>
            </a:r>
          </a:p>
        </p:txBody>
      </p:sp>
      <p:sp>
        <p:nvSpPr>
          <p:cNvPr id="3" name="">
            <a:extLst xmlns:a="http://schemas.openxmlformats.org/drawingml/2006/main">
              <a:ext uri="{FF2B5EF4-FFF2-40B4-BE49-F238E27FC236}">
                <a16:creationId xmlns:a16="http://schemas.microsoft.com/office/drawing/2014/main" id="{7EC2DFE7-8C35-4C05-8028-C351FB1476AF}"/>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3F55C217-6BFC-4CDA-819D-46C35137E984}"/>
              </a:ext>
            </a:extLst>
          </p:cNvPr>
          <p:cNvSpPr>
            <a:spLocks xmlns:a="http://schemas.openxmlformats.org/drawingml/2006/main" noGrp="1"/>
          </p:cNvSpPr>
          <p:nvPr/>
        </p:nvSpPr>
        <p:spPr>
          <a:xfrm xmlns:a="http://schemas.openxmlformats.org/drawingml/2006/main">
            <a:off x="609600" y="21336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123D38"/>
                </a:solidFill>
                <a:latin typeface="Georgia"/>
                <a:ea typeface="Georgia"/>
                <a:cs typeface="Georgia"/>
              </a:defRPr>
            </a:pPr>
            <a:r>
              <a:rPr sz="3600" b="0">
                <a:solidFill>
                  <a:srgbClr val="123D38"/>
                </a:solidFill>
                <a:latin typeface="Georgia"/>
                <a:ea typeface="Georgia"/>
                <a:cs typeface="Georgia"/>
              </a:rPr>
              <a:t>Truck</a:t>
            </a:r>
          </a:p>
        </p:txBody>
      </p:sp>
      <p:sp>
        <p:nvSpPr>
          <p:cNvPr id="5" name="">
            <a:extLst xmlns:a="http://schemas.openxmlformats.org/drawingml/2006/main">
              <a:ext uri="{FF2B5EF4-FFF2-40B4-BE49-F238E27FC236}">
                <a16:creationId xmlns:a16="http://schemas.microsoft.com/office/drawing/2014/main" id="{15C4D888-59DE-403A-86D9-85CF4AC682C7}"/>
              </a:ext>
            </a:extLst>
          </p:cNvPr>
          <p:cNvSpPr>
            <a:spLocks xmlns:a="http://schemas.openxmlformats.org/drawingml/2006/main" noGrp="1"/>
          </p:cNvSpPr>
          <p:nvPr/>
        </p:nvSpPr>
        <p:spPr>
          <a:xfrm xmlns:a="http://schemas.openxmlformats.org/drawingml/2006/main">
            <a:off x="638175" y="2847975"/>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E2B"/>
                </a:solidFill>
                <a:latin typeface="Arial"/>
                <a:ea typeface="Arial"/>
                <a:cs typeface="Arial"/>
              </a:defRPr>
            </a:pPr>
            <a:r>
              <a:rPr sz="2250" b="0">
                <a:solidFill>
                  <a:srgbClr val="172E2B"/>
                </a:solidFill>
                <a:latin typeface="Arial"/>
                <a:ea typeface="Arial"/>
                <a:cs typeface="Arial"/>
              </a:rPr>
              <a:t>E1 and E3</a:t>
            </a:r>
          </a:p>
        </p:txBody>
      </p:sp>
      <p:sp>
        <p:nvSpPr>
          <p:cNvPr id="6" name="">
            <a:extLst xmlns:a="http://schemas.openxmlformats.org/drawingml/2006/main">
              <a:ext uri="{FF2B5EF4-FFF2-40B4-BE49-F238E27FC236}">
                <a16:creationId xmlns:a16="http://schemas.microsoft.com/office/drawing/2014/main" id="{059493A0-9FF2-4022-9F22-BCDAFE9E2453}"/>
              </a:ext>
            </a:extLst>
          </p:cNvPr>
          <p:cNvSpPr>
            <a:spLocks xmlns:a="http://schemas.openxmlformats.org/drawingml/2006/main" noGrp="1"/>
          </p:cNvSpPr>
          <p:nvPr/>
        </p:nvSpPr>
        <p:spPr>
          <a:xfrm xmlns:a="http://schemas.openxmlformats.org/drawingml/2006/main">
            <a:off x="609600" y="37814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216E75"/>
                </a:solidFill>
                <a:latin typeface="Georgia"/>
                <a:ea typeface="Georgia"/>
                <a:cs typeface="Georgia"/>
              </a:defRPr>
            </a:pPr>
            <a:r>
              <a:rPr sz="3375" b="0">
                <a:solidFill>
                  <a:srgbClr val="216E75"/>
                </a:solidFill>
                <a:latin typeface="Georgia"/>
                <a:ea typeface="Georgia"/>
                <a:cs typeface="Georgia"/>
              </a:rPr>
              <a:t>Boat after failure</a:t>
            </a:r>
          </a:p>
        </p:txBody>
      </p:sp>
      <p:sp>
        <p:nvSpPr>
          <p:cNvPr id="7" name="">
            <a:extLst xmlns:a="http://schemas.openxmlformats.org/drawingml/2006/main">
              <a:ext uri="{FF2B5EF4-FFF2-40B4-BE49-F238E27FC236}">
                <a16:creationId xmlns:a16="http://schemas.microsoft.com/office/drawing/2014/main" id="{A68DA2B6-1CFD-4C85-96DC-9396AF136571}"/>
              </a:ext>
            </a:extLst>
          </p:cNvPr>
          <p:cNvSpPr>
            <a:spLocks xmlns:a="http://schemas.openxmlformats.org/drawingml/2006/main" noGrp="1"/>
          </p:cNvSpPr>
          <p:nvPr/>
        </p:nvSpPr>
        <p:spPr>
          <a:xfrm xmlns:a="http://schemas.openxmlformats.org/drawingml/2006/main">
            <a:off x="638175" y="452437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E2B"/>
                </a:solidFill>
                <a:latin typeface="Arial"/>
                <a:ea typeface="Arial"/>
                <a:cs typeface="Arial"/>
              </a:defRPr>
            </a:pPr>
            <a:r>
              <a:rPr sz="2250" b="0">
                <a:solidFill>
                  <a:srgbClr val="172E2B"/>
                </a:solidFill>
                <a:latin typeface="Arial"/>
                <a:ea typeface="Arial"/>
                <a:cs typeface="Arial"/>
              </a:rPr>
              <a:t>E6 and E7</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d1c63cdb6ce4318"/>
          <a:stretch xmlns:a="http://schemas.openxmlformats.org/drawingml/2006/main"/>
        </p:blipFill>
        <p:spPr>
          <a:xfrm xmlns:a="http://schemas.openxmlformats.org/drawingml/2006/main">
            <a:off x="6943753" y="1943100"/>
            <a:ext cx="3638494" cy="41052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366731D-4067-4ED1-BC70-103912BA0048}"/>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Enlarged source detail. Route failure and vehicles are simulated. Target-phone performance requires measurement.</a:t>
            </a:r>
          </a:p>
        </p:txBody>
      </p:sp>
    </p:spTree>
    <p:extLst>
      <p:ext uri="{BB962C8B-B14F-4D97-AF65-F5344CB8AC3E}">
        <p14:creationId xmlns:p14="http://schemas.microsoft.com/office/powerpoint/2010/main" val="1738111596"/>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E1FD90-170B-4758-AC30-CDDE00634FDB}"/>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A coordinator confirms the priority change</a:t>
            </a:r>
          </a:p>
        </p:txBody>
      </p:sp>
      <p:sp>
        <p:nvSpPr>
          <p:cNvPr id="2" name="">
            <a:extLst xmlns:a="http://schemas.openxmlformats.org/drawingml/2006/main">
              <a:ext uri="{FF2B5EF4-FFF2-40B4-BE49-F238E27FC236}">
                <a16:creationId xmlns:a16="http://schemas.microsoft.com/office/drawing/2014/main" id="{51A8E4A2-159D-4D1F-8D83-581141150C27}"/>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proposal explains the deadline pressure and safe drop.</a:t>
            </a:r>
          </a:p>
        </p:txBody>
      </p:sp>
      <p:sp>
        <p:nvSpPr>
          <p:cNvPr id="3" name="">
            <a:extLst xmlns:a="http://schemas.openxmlformats.org/drawingml/2006/main">
              <a:ext uri="{FF2B5EF4-FFF2-40B4-BE49-F238E27FC236}">
                <a16:creationId xmlns:a16="http://schemas.microsoft.com/office/drawing/2014/main" id="{9C219B56-D370-41B7-A675-24300C7400BA}"/>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089689579db4e1b"/>
          <a:stretch xmlns:a="http://schemas.openxmlformats.org/drawingml/2006/main"/>
        </p:blipFill>
        <p:spPr>
          <a:xfrm xmlns:a="http://schemas.openxmlformats.org/drawingml/2006/main">
            <a:off x="1273464" y="2095500"/>
            <a:ext cx="4387273"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644D93C-B9B6-4137-A5D1-CACDAA5232FB}"/>
              </a:ext>
            </a:extLst>
          </p:cNvPr>
          <p:cNvSpPr>
            <a:spLocks xmlns:a="http://schemas.openxmlformats.org/drawingml/2006/main" noGrp="1"/>
          </p:cNvSpPr>
          <p:nvPr/>
        </p:nvSpPr>
        <p:spPr>
          <a:xfrm xmlns:a="http://schemas.openxmlformats.org/drawingml/2006/main">
            <a:off x="6905625" y="2247900"/>
            <a:ext cx="4476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01  Explain the tradeoff</a:t>
            </a:r>
          </a:p>
        </p:txBody>
      </p:sp>
      <p:sp>
        <p:nvSpPr>
          <p:cNvPr id="6" name="">
            <a:extLst xmlns:a="http://schemas.openxmlformats.org/drawingml/2006/main">
              <a:ext uri="{FF2B5EF4-FFF2-40B4-BE49-F238E27FC236}">
                <a16:creationId xmlns:a16="http://schemas.microsoft.com/office/drawing/2014/main" id="{12086CEF-08FE-4B0A-93A6-D26D4C984694}"/>
              </a:ext>
            </a:extLst>
          </p:cNvPr>
          <p:cNvSpPr>
            <a:spLocks xmlns:a="http://schemas.openxmlformats.org/drawingml/2006/main" noGrp="1"/>
          </p:cNvSpPr>
          <p:nvPr/>
        </p:nvSpPr>
        <p:spPr>
          <a:xfrm xmlns:a="http://schemas.openxmlformats.org/drawingml/2006/main">
            <a:off x="6905625" y="2714625"/>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The longer boat route threatens the urgent delivery deadline.</a:t>
            </a:r>
          </a:p>
        </p:txBody>
      </p:sp>
      <p:sp>
        <p:nvSpPr>
          <p:cNvPr id="7" name="">
            <a:extLst xmlns:a="http://schemas.openxmlformats.org/drawingml/2006/main">
              <a:ext uri="{FF2B5EF4-FFF2-40B4-BE49-F238E27FC236}">
                <a16:creationId xmlns:a16="http://schemas.microsoft.com/office/drawing/2014/main" id="{594E2575-84C0-4419-91BE-18B628E59C91}"/>
              </a:ext>
            </a:extLst>
          </p:cNvPr>
          <p:cNvSpPr>
            <a:spLocks xmlns:a="http://schemas.openxmlformats.org/drawingml/2006/main" noGrp="1"/>
          </p:cNvSpPr>
          <p:nvPr/>
        </p:nvSpPr>
        <p:spPr>
          <a:xfrm xmlns:a="http://schemas.openxmlformats.org/drawingml/2006/main">
            <a:off x="6905625" y="4171950"/>
            <a:ext cx="4476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02  Retain the decision</a:t>
            </a:r>
          </a:p>
        </p:txBody>
      </p:sp>
      <p:sp>
        <p:nvSpPr>
          <p:cNvPr id="8" name="">
            <a:extLst xmlns:a="http://schemas.openxmlformats.org/drawingml/2006/main">
              <a:ext uri="{FF2B5EF4-FFF2-40B4-BE49-F238E27FC236}">
                <a16:creationId xmlns:a16="http://schemas.microsoft.com/office/drawing/2014/main" id="{F8B050C5-FF01-44D6-A22E-82860D5DCD56}"/>
              </a:ext>
            </a:extLst>
          </p:cNvPr>
          <p:cNvSpPr>
            <a:spLocks xmlns:a="http://schemas.openxmlformats.org/drawingml/2006/main" noGrp="1"/>
          </p:cNvSpPr>
          <p:nvPr/>
        </p:nvSpPr>
        <p:spPr>
          <a:xfrm xmlns:a="http://schemas.openxmlformats.org/drawingml/2006/main">
            <a:off x="6905625" y="4638675"/>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A person confirms the assignment change and its reason.</a:t>
            </a:r>
          </a:p>
        </p:txBody>
      </p:sp>
      <p:sp>
        <p:nvSpPr>
          <p:cNvPr id="9" name="">
            <a:extLst xmlns:a="http://schemas.openxmlformats.org/drawingml/2006/main">
              <a:ext uri="{FF2B5EF4-FFF2-40B4-BE49-F238E27FC236}">
                <a16:creationId xmlns:a16="http://schemas.microsoft.com/office/drawing/2014/main" id="{1B13BC4F-1396-4171-A230-8E18D4222582}"/>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Enlarged source detail. Simulated cargo and environmental inputs remain labelled in the application.</a:t>
            </a:r>
          </a:p>
        </p:txBody>
      </p:sp>
    </p:spTree>
    <p:extLst>
      <p:ext uri="{BB962C8B-B14F-4D97-AF65-F5344CB8AC3E}">
        <p14:creationId xmlns:p14="http://schemas.microsoft.com/office/powerpoint/2010/main" val="1284094794"/>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B5A009-B87F-4431-991E-F2CE58B03496}"/>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A signed handoff accepts custody once</a:t>
            </a:r>
          </a:p>
        </p:txBody>
      </p:sp>
      <p:sp>
        <p:nvSpPr>
          <p:cNvPr id="2" name="">
            <a:extLst xmlns:a="http://schemas.openxmlformats.org/drawingml/2006/main">
              <a:ext uri="{FF2B5EF4-FFF2-40B4-BE49-F238E27FC236}">
                <a16:creationId xmlns:a16="http://schemas.microsoft.com/office/drawing/2014/main" id="{A7DB4024-BF53-450B-8019-F1335B249704}"/>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Replay and altered offers must leave custody unchanged.</a:t>
            </a:r>
          </a:p>
        </p:txBody>
      </p:sp>
      <p:sp>
        <p:nvSpPr>
          <p:cNvPr id="3" name="">
            <a:extLst xmlns:a="http://schemas.openxmlformats.org/drawingml/2006/main">
              <a:ext uri="{FF2B5EF4-FFF2-40B4-BE49-F238E27FC236}">
                <a16:creationId xmlns:a16="http://schemas.microsoft.com/office/drawing/2014/main" id="{78F106C0-C30F-41E5-88AB-2C43B16B0A86}"/>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0ae97712ea641c8"/>
          <a:stretch xmlns:a="http://schemas.openxmlformats.org/drawingml/2006/main"/>
        </p:blipFill>
        <p:spPr>
          <a:xfrm xmlns:a="http://schemas.openxmlformats.org/drawingml/2006/main">
            <a:off x="742950" y="2542586"/>
            <a:ext cx="3276600" cy="27634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1CD0F6-A5CB-4DE1-982D-F84F86121A7B}"/>
              </a:ext>
            </a:extLst>
          </p:cNvPr>
          <p:cNvSpPr>
            <a:spLocks xmlns:a="http://schemas.openxmlformats.org/drawingml/2006/main" noGrp="1"/>
          </p:cNvSpPr>
          <p:nvPr/>
        </p:nvSpPr>
        <p:spPr>
          <a:xfrm xmlns:a="http://schemas.openxmlformats.org/drawingml/2006/main">
            <a:off x="742950" y="5772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23D38"/>
                </a:solidFill>
                <a:latin typeface="Arial"/>
                <a:ea typeface="Arial"/>
                <a:cs typeface="Arial"/>
              </a:defRPr>
            </a:pPr>
            <a:r>
              <a:rPr sz="1800" b="1">
                <a:solidFill>
                  <a:srgbClr val="123D38"/>
                </a:solidFill>
                <a:latin typeface="Arial"/>
                <a:ea typeface="Arial"/>
                <a:cs typeface="Arial"/>
              </a:rPr>
              <a:t>Accepted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6c98d0cc06041bb"/>
          <a:stretch xmlns:a="http://schemas.openxmlformats.org/drawingml/2006/main"/>
        </p:blipFill>
        <p:spPr>
          <a:xfrm xmlns:a="http://schemas.openxmlformats.org/drawingml/2006/main">
            <a:off x="4505325" y="2542586"/>
            <a:ext cx="3276600" cy="276342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D19D16-77BB-4F95-A32C-C0F230F17089}"/>
              </a:ext>
            </a:extLst>
          </p:cNvPr>
          <p:cNvSpPr>
            <a:spLocks xmlns:a="http://schemas.openxmlformats.org/drawingml/2006/main" noGrp="1"/>
          </p:cNvSpPr>
          <p:nvPr/>
        </p:nvSpPr>
        <p:spPr>
          <a:xfrm xmlns:a="http://schemas.openxmlformats.org/drawingml/2006/main">
            <a:off x="4505325" y="5772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23D38"/>
                </a:solidFill>
                <a:latin typeface="Arial"/>
                <a:ea typeface="Arial"/>
                <a:cs typeface="Arial"/>
              </a:defRPr>
            </a:pPr>
            <a:r>
              <a:rPr sz="1800" b="1">
                <a:solidFill>
                  <a:srgbClr val="123D38"/>
                </a:solidFill>
                <a:latin typeface="Arial"/>
                <a:ea typeface="Arial"/>
                <a:cs typeface="Arial"/>
              </a:rPr>
              <a:t>Replay rejected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247c3a422b9487c"/>
          <a:stretch xmlns:a="http://schemas.openxmlformats.org/drawingml/2006/main"/>
        </p:blipFill>
        <p:spPr>
          <a:xfrm xmlns:a="http://schemas.openxmlformats.org/drawingml/2006/main">
            <a:off x="8267700" y="2542586"/>
            <a:ext cx="3276600" cy="276342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8A4421-761F-4A09-8976-4E034A7DEBC2}"/>
              </a:ext>
            </a:extLst>
          </p:cNvPr>
          <p:cNvSpPr>
            <a:spLocks xmlns:a="http://schemas.openxmlformats.org/drawingml/2006/main" noGrp="1"/>
          </p:cNvSpPr>
          <p:nvPr/>
        </p:nvSpPr>
        <p:spPr>
          <a:xfrm xmlns:a="http://schemas.openxmlformats.org/drawingml/2006/main">
            <a:off x="8267700" y="5772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23D38"/>
                </a:solidFill>
                <a:latin typeface="Arial"/>
                <a:ea typeface="Arial"/>
                <a:cs typeface="Arial"/>
              </a:defRPr>
            </a:pPr>
            <a:r>
              <a:rPr sz="1800" b="1">
                <a:solidFill>
                  <a:srgbClr val="123D38"/>
                </a:solidFill>
                <a:latin typeface="Arial"/>
                <a:ea typeface="Arial"/>
                <a:cs typeface="Arial"/>
              </a:rPr>
              <a:t>Tamper rejected</a:t>
            </a:r>
          </a:p>
        </p:txBody>
      </p:sp>
      <p:sp>
        <p:nvSpPr>
          <p:cNvPr id="10" name="">
            <a:extLst xmlns:a="http://schemas.openxmlformats.org/drawingml/2006/main">
              <a:ext uri="{FF2B5EF4-FFF2-40B4-BE49-F238E27FC236}">
                <a16:creationId xmlns:a16="http://schemas.microsoft.com/office/drawing/2014/main" id="{90D951A7-F177-45DA-A364-C6202A41D4A2}"/>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Enlarged source details. Full captures appear in the report. Physical camera acceptance remains open.</a:t>
            </a:r>
          </a:p>
        </p:txBody>
      </p:sp>
    </p:spTree>
    <p:extLst>
      <p:ext uri="{BB962C8B-B14F-4D97-AF65-F5344CB8AC3E}">
        <p14:creationId xmlns:p14="http://schemas.microsoft.com/office/powerpoint/2010/main" val="348400255"/>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40234AD-9D6B-4AA6-A729-489D60C9F2C0}"/>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first buyer owns preparedness</a:t>
            </a:r>
          </a:p>
        </p:txBody>
      </p:sp>
      <p:sp>
        <p:nvSpPr>
          <p:cNvPr id="2" name="">
            <a:extLst xmlns:a="http://schemas.openxmlformats.org/drawingml/2006/main">
              <a:ext uri="{FF2B5EF4-FFF2-40B4-BE49-F238E27FC236}">
                <a16:creationId xmlns:a16="http://schemas.microsoft.com/office/drawing/2014/main" id="{777D0801-A0EA-4DE4-A3D7-48A3E1A95530}"/>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An institutional sponsor needs a named operational owner.</a:t>
            </a:r>
          </a:p>
        </p:txBody>
      </p:sp>
      <p:sp>
        <p:nvSpPr>
          <p:cNvPr id="3" name="">
            <a:extLst xmlns:a="http://schemas.openxmlformats.org/drawingml/2006/main">
              <a:ext uri="{FF2B5EF4-FFF2-40B4-BE49-F238E27FC236}">
                <a16:creationId xmlns:a16="http://schemas.microsoft.com/office/drawing/2014/main" id="{4E834E08-F20F-4AC9-8217-03199E6D3FB2}"/>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6696F2D3-CB79-4E24-A673-DB22B53B1B1F}"/>
              </a:ext>
            </a:extLst>
          </p:cNvPr>
          <p:cNvSpPr>
            <a:spLocks xmlns:a="http://schemas.openxmlformats.org/drawingml/2006/main" noGrp="1"/>
          </p:cNvSpPr>
          <p:nvPr/>
        </p:nvSpPr>
        <p:spPr>
          <a:xfrm xmlns:a="http://schemas.openxmlformats.org/drawingml/2006/main">
            <a:off x="1676400" y="2124075"/>
            <a:ext cx="259080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FC3320F7-E20F-47D8-AF51-5273EA6363D2}"/>
              </a:ext>
            </a:extLst>
          </p:cNvPr>
          <p:cNvSpPr>
            <a:spLocks xmlns:a="http://schemas.openxmlformats.org/drawingml/2006/main" noGrp="1"/>
          </p:cNvSpPr>
          <p:nvPr/>
        </p:nvSpPr>
        <p:spPr>
          <a:xfrm xmlns:a="http://schemas.openxmlformats.org/drawingml/2006/main">
            <a:off x="1676400" y="2124075"/>
            <a:ext cx="2590800" cy="30480"/>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FA9D9E1-CD23-47A8-9420-B685C4609FE0}"/>
              </a:ext>
            </a:extLst>
          </p:cNvPr>
          <p:cNvSpPr>
            <a:spLocks xmlns:a="http://schemas.openxmlformats.org/drawingml/2006/main" noGrp="1"/>
          </p:cNvSpPr>
          <p:nvPr/>
        </p:nvSpPr>
        <p:spPr>
          <a:xfrm xmlns:a="http://schemas.openxmlformats.org/drawingml/2006/main">
            <a:off x="1805940" y="2253615"/>
            <a:ext cx="23774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80" b="1">
                <a:solidFill>
                  <a:srgbClr val="123D38"/>
                </a:solidFill>
                <a:latin typeface="Arial"/>
                <a:ea typeface="Arial"/>
                <a:cs typeface="Arial"/>
              </a:defRPr>
            </a:pPr>
            <a:r>
              <a:rPr sz="1080" b="1">
                <a:solidFill>
                  <a:srgbClr val="123D38"/>
                </a:solidFill>
                <a:latin typeface="Arial"/>
                <a:ea typeface="Arial"/>
                <a:cs typeface="Arial"/>
              </a:rPr>
              <a:t>USES THE PRODUCT</a:t>
            </a:r>
          </a:p>
        </p:txBody>
      </p:sp>
      <p:sp>
        <p:nvSpPr>
          <p:cNvPr id="7" name="">
            <a:extLst xmlns:a="http://schemas.openxmlformats.org/drawingml/2006/main">
              <a:ext uri="{FF2B5EF4-FFF2-40B4-BE49-F238E27FC236}">
                <a16:creationId xmlns:a16="http://schemas.microsoft.com/office/drawing/2014/main" id="{08519417-4898-4008-87C6-CE721BC7AE9D}"/>
              </a:ext>
            </a:extLst>
          </p:cNvPr>
          <p:cNvSpPr>
            <a:spLocks xmlns:a="http://schemas.openxmlformats.org/drawingml/2006/main" noGrp="1"/>
          </p:cNvSpPr>
          <p:nvPr/>
        </p:nvSpPr>
        <p:spPr>
          <a:xfrm xmlns:a="http://schemas.openxmlformats.org/drawingml/2006/main">
            <a:off x="1805940" y="2505075"/>
            <a:ext cx="237744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60" b="1">
                <a:solidFill>
                  <a:srgbClr val="172E2B"/>
                </a:solidFill>
                <a:latin typeface="Arial"/>
                <a:ea typeface="Arial"/>
                <a:cs typeface="Arial"/>
              </a:defRPr>
            </a:pPr>
            <a:r>
              <a:rPr sz="1560" b="1">
                <a:solidFill>
                  <a:srgbClr val="172E2B"/>
                </a:solidFill>
                <a:latin typeface="Arial"/>
                <a:ea typeface="Arial"/>
                <a:cs typeface="Arial"/>
              </a:rPr>
              <a:t>Field operator</a:t>
            </a:r>
          </a:p>
        </p:txBody>
      </p:sp>
      <p:sp>
        <p:nvSpPr>
          <p:cNvPr id="8" name="">
            <a:extLst xmlns:a="http://schemas.openxmlformats.org/drawingml/2006/main">
              <a:ext uri="{FF2B5EF4-FFF2-40B4-BE49-F238E27FC236}">
                <a16:creationId xmlns:a16="http://schemas.microsoft.com/office/drawing/2014/main" id="{B0DF727F-CB96-431E-8F3C-E3EF772DC3B3}"/>
              </a:ext>
            </a:extLst>
          </p:cNvPr>
          <p:cNvSpPr>
            <a:spLocks xmlns:a="http://schemas.openxmlformats.org/drawingml/2006/main" noGrp="1"/>
          </p:cNvSpPr>
          <p:nvPr/>
        </p:nvSpPr>
        <p:spPr>
          <a:xfrm xmlns:a="http://schemas.openxmlformats.org/drawingml/2006/main">
            <a:off x="1805940" y="2840355"/>
            <a:ext cx="2362200" cy="10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Records requests</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Carries encrypted messages</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Verifies a handoff</a:t>
            </a:r>
          </a:p>
        </p:txBody>
      </p:sp>
      <p:sp>
        <p:nvSpPr>
          <p:cNvPr id="9" name="">
            <a:extLst xmlns:a="http://schemas.openxmlformats.org/drawingml/2006/main">
              <a:ext uri="{FF2B5EF4-FFF2-40B4-BE49-F238E27FC236}">
                <a16:creationId xmlns:a16="http://schemas.microsoft.com/office/drawing/2014/main" id="{39691B22-C23C-4F37-9568-B24432178C89}"/>
              </a:ext>
            </a:extLst>
          </p:cNvPr>
          <p:cNvSpPr>
            <a:spLocks xmlns:a="http://schemas.openxmlformats.org/drawingml/2006/main" noGrp="1"/>
          </p:cNvSpPr>
          <p:nvPr/>
        </p:nvSpPr>
        <p:spPr>
          <a:xfrm xmlns:a="http://schemas.openxmlformats.org/drawingml/2006/main">
            <a:off x="4800600" y="2124075"/>
            <a:ext cx="259080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406042A4-F940-4066-AD86-28BFC46A2D4C}"/>
              </a:ext>
            </a:extLst>
          </p:cNvPr>
          <p:cNvSpPr>
            <a:spLocks xmlns:a="http://schemas.openxmlformats.org/drawingml/2006/main" noGrp="1"/>
          </p:cNvSpPr>
          <p:nvPr/>
        </p:nvSpPr>
        <p:spPr>
          <a:xfrm xmlns:a="http://schemas.openxmlformats.org/drawingml/2006/main">
            <a:off x="4800600" y="2124075"/>
            <a:ext cx="2590800" cy="30480"/>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C68AFB-01B8-498C-BA7A-F56325E725E8}"/>
              </a:ext>
            </a:extLst>
          </p:cNvPr>
          <p:cNvSpPr>
            <a:spLocks xmlns:a="http://schemas.openxmlformats.org/drawingml/2006/main" noGrp="1"/>
          </p:cNvSpPr>
          <p:nvPr/>
        </p:nvSpPr>
        <p:spPr>
          <a:xfrm xmlns:a="http://schemas.openxmlformats.org/drawingml/2006/main">
            <a:off x="4930140" y="2253615"/>
            <a:ext cx="23774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80" b="1">
                <a:solidFill>
                  <a:srgbClr val="216E75"/>
                </a:solidFill>
                <a:latin typeface="Arial"/>
                <a:ea typeface="Arial"/>
                <a:cs typeface="Arial"/>
              </a:defRPr>
            </a:pPr>
            <a:r>
              <a:rPr sz="1080" b="1">
                <a:solidFill>
                  <a:srgbClr val="216E75"/>
                </a:solidFill>
                <a:latin typeface="Arial"/>
                <a:ea typeface="Arial"/>
                <a:cs typeface="Arial"/>
              </a:rPr>
              <a:t>APPROVES ADOPTION</a:t>
            </a:r>
          </a:p>
        </p:txBody>
      </p:sp>
      <p:sp>
        <p:nvSpPr>
          <p:cNvPr id="12" name="">
            <a:extLst xmlns:a="http://schemas.openxmlformats.org/drawingml/2006/main">
              <a:ext uri="{FF2B5EF4-FFF2-40B4-BE49-F238E27FC236}">
                <a16:creationId xmlns:a16="http://schemas.microsoft.com/office/drawing/2014/main" id="{3AE5B0A4-FE7C-472D-AF82-37CB8EB52EBF}"/>
              </a:ext>
            </a:extLst>
          </p:cNvPr>
          <p:cNvSpPr>
            <a:spLocks xmlns:a="http://schemas.openxmlformats.org/drawingml/2006/main" noGrp="1"/>
          </p:cNvSpPr>
          <p:nvPr/>
        </p:nvSpPr>
        <p:spPr>
          <a:xfrm xmlns:a="http://schemas.openxmlformats.org/drawingml/2006/main">
            <a:off x="4930140" y="2505075"/>
            <a:ext cx="237744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60" b="1">
                <a:solidFill>
                  <a:srgbClr val="172E2B"/>
                </a:solidFill>
                <a:latin typeface="Arial"/>
                <a:ea typeface="Arial"/>
                <a:cs typeface="Arial"/>
              </a:defRPr>
            </a:pPr>
            <a:r>
              <a:rPr sz="1560" b="1">
                <a:solidFill>
                  <a:srgbClr val="172E2B"/>
                </a:solidFill>
                <a:latin typeface="Arial"/>
                <a:ea typeface="Arial"/>
                <a:cs typeface="Arial"/>
              </a:rPr>
              <a:t>Institutional sponsor</a:t>
            </a:r>
          </a:p>
        </p:txBody>
      </p:sp>
      <p:sp>
        <p:nvSpPr>
          <p:cNvPr id="13" name="">
            <a:extLst xmlns:a="http://schemas.openxmlformats.org/drawingml/2006/main">
              <a:ext uri="{FF2B5EF4-FFF2-40B4-BE49-F238E27FC236}">
                <a16:creationId xmlns:a16="http://schemas.microsoft.com/office/drawing/2014/main" id="{9F5884AC-01F6-4EBE-B670-1480CB098B51}"/>
              </a:ext>
            </a:extLst>
          </p:cNvPr>
          <p:cNvSpPr>
            <a:spLocks xmlns:a="http://schemas.openxmlformats.org/drawingml/2006/main" noGrp="1"/>
          </p:cNvSpPr>
          <p:nvPr/>
        </p:nvSpPr>
        <p:spPr>
          <a:xfrm xmlns:a="http://schemas.openxmlformats.org/drawingml/2006/main">
            <a:off x="4930140" y="2840355"/>
            <a:ext cx="2362200" cy="10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Government or NGO team</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Budget and procurement</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Named operational owner</a:t>
            </a:r>
          </a:p>
        </p:txBody>
      </p:sp>
      <p:sp>
        <p:nvSpPr>
          <p:cNvPr id="14" name="">
            <a:extLst xmlns:a="http://schemas.openxmlformats.org/drawingml/2006/main">
              <a:ext uri="{FF2B5EF4-FFF2-40B4-BE49-F238E27FC236}">
                <a16:creationId xmlns:a16="http://schemas.microsoft.com/office/drawing/2014/main" id="{5F9082E7-3002-4D42-8E29-1926C1B95FE0}"/>
              </a:ext>
            </a:extLst>
          </p:cNvPr>
          <p:cNvSpPr>
            <a:spLocks xmlns:a="http://schemas.openxmlformats.org/drawingml/2006/main" noGrp="1"/>
          </p:cNvSpPr>
          <p:nvPr/>
        </p:nvSpPr>
        <p:spPr>
          <a:xfrm xmlns:a="http://schemas.openxmlformats.org/drawingml/2006/main">
            <a:off x="7924800" y="2124075"/>
            <a:ext cx="259080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08AA0156-C22C-4A33-A7E4-972007A27E3E}"/>
              </a:ext>
            </a:extLst>
          </p:cNvPr>
          <p:cNvSpPr>
            <a:spLocks xmlns:a="http://schemas.openxmlformats.org/drawingml/2006/main" noGrp="1"/>
          </p:cNvSpPr>
          <p:nvPr/>
        </p:nvSpPr>
        <p:spPr>
          <a:xfrm xmlns:a="http://schemas.openxmlformats.org/drawingml/2006/main">
            <a:off x="7924800" y="2124075"/>
            <a:ext cx="2590800" cy="30480"/>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6DCA93-6F97-4499-A407-03E67C179CB6}"/>
              </a:ext>
            </a:extLst>
          </p:cNvPr>
          <p:cNvSpPr>
            <a:spLocks xmlns:a="http://schemas.openxmlformats.org/drawingml/2006/main" noGrp="1"/>
          </p:cNvSpPr>
          <p:nvPr/>
        </p:nvSpPr>
        <p:spPr>
          <a:xfrm xmlns:a="http://schemas.openxmlformats.org/drawingml/2006/main">
            <a:off x="8054340" y="2253615"/>
            <a:ext cx="23774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80" b="1">
                <a:solidFill>
                  <a:srgbClr val="123D38"/>
                </a:solidFill>
                <a:latin typeface="Arial"/>
                <a:ea typeface="Arial"/>
                <a:cs typeface="Arial"/>
              </a:defRPr>
            </a:pPr>
            <a:r>
              <a:rPr sz="1080" b="1">
                <a:solidFill>
                  <a:srgbClr val="123D38"/>
                </a:solidFill>
                <a:latin typeface="Arial"/>
                <a:ea typeface="Arial"/>
                <a:cs typeface="Arial"/>
              </a:rPr>
              <a:t>RECEIVES THE BENEFIT</a:t>
            </a:r>
          </a:p>
        </p:txBody>
      </p:sp>
      <p:sp>
        <p:nvSpPr>
          <p:cNvPr id="17" name="">
            <a:extLst xmlns:a="http://schemas.openxmlformats.org/drawingml/2006/main">
              <a:ext uri="{FF2B5EF4-FFF2-40B4-BE49-F238E27FC236}">
                <a16:creationId xmlns:a16="http://schemas.microsoft.com/office/drawing/2014/main" id="{8996AAFC-C184-48FE-ACA6-B2D55EB1285E}"/>
              </a:ext>
            </a:extLst>
          </p:cNvPr>
          <p:cNvSpPr>
            <a:spLocks xmlns:a="http://schemas.openxmlformats.org/drawingml/2006/main" noGrp="1"/>
          </p:cNvSpPr>
          <p:nvPr/>
        </p:nvSpPr>
        <p:spPr>
          <a:xfrm xmlns:a="http://schemas.openxmlformats.org/drawingml/2006/main">
            <a:off x="8054340" y="2505075"/>
            <a:ext cx="237744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60" b="1">
                <a:solidFill>
                  <a:srgbClr val="172E2B"/>
                </a:solidFill>
                <a:latin typeface="Arial"/>
                <a:ea typeface="Arial"/>
                <a:cs typeface="Arial"/>
              </a:defRPr>
            </a:pPr>
            <a:r>
              <a:rPr sz="1560" b="1">
                <a:solidFill>
                  <a:srgbClr val="172E2B"/>
                </a:solidFill>
                <a:latin typeface="Arial"/>
                <a:ea typeface="Arial"/>
                <a:cs typeface="Arial"/>
              </a:rPr>
              <a:t>Community</a:t>
            </a:r>
          </a:p>
        </p:txBody>
      </p:sp>
      <p:sp>
        <p:nvSpPr>
          <p:cNvPr id="18" name="">
            <a:extLst xmlns:a="http://schemas.openxmlformats.org/drawingml/2006/main">
              <a:ext uri="{FF2B5EF4-FFF2-40B4-BE49-F238E27FC236}">
                <a16:creationId xmlns:a16="http://schemas.microsoft.com/office/drawing/2014/main" id="{A421CADE-1640-45B2-8DC6-E9685CF6324D}"/>
              </a:ext>
            </a:extLst>
          </p:cNvPr>
          <p:cNvSpPr>
            <a:spLocks xmlns:a="http://schemas.openxmlformats.org/drawingml/2006/main" noGrp="1"/>
          </p:cNvSpPr>
          <p:nvPr/>
        </p:nvSpPr>
        <p:spPr>
          <a:xfrm xmlns:a="http://schemas.openxmlformats.org/drawingml/2006/main">
            <a:off x="8054340" y="2840355"/>
            <a:ext cx="2362200" cy="10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Continuity of supply records</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Accountable delivery</a:t>
            </a:r>
          </a:p>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Outcomes to be measured</a:t>
            </a:r>
          </a:p>
        </p:txBody>
      </p:sp>
      <p:sp>
        <p:nvSpPr>
          <p:cNvPr id="19" name="">
            <a:extLst xmlns:a="http://schemas.openxmlformats.org/drawingml/2006/main">
              <a:ext uri="{FF2B5EF4-FFF2-40B4-BE49-F238E27FC236}">
                <a16:creationId xmlns:a16="http://schemas.microsoft.com/office/drawing/2014/main" id="{E4DA0C0B-354C-4835-9855-B4331FEE71C7}"/>
              </a:ext>
            </a:extLst>
          </p:cNvPr>
          <p:cNvSpPr>
            <a:spLocks xmlns:a="http://schemas.openxmlformats.org/drawingml/2006/main" noGrp="1"/>
          </p:cNvSpPr>
          <p:nvPr/>
        </p:nvSpPr>
        <p:spPr>
          <a:xfrm xmlns:a="http://schemas.openxmlformats.org/drawingml/2006/main">
            <a:off x="3657600" y="4791075"/>
            <a:ext cx="48768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A77DD2B2-A157-4A4F-8BF2-DDA0F0BE50CE}"/>
              </a:ext>
            </a:extLst>
          </p:cNvPr>
          <p:cNvSpPr>
            <a:spLocks xmlns:a="http://schemas.openxmlformats.org/drawingml/2006/main" noGrp="1"/>
          </p:cNvSpPr>
          <p:nvPr/>
        </p:nvSpPr>
        <p:spPr>
          <a:xfrm xmlns:a="http://schemas.openxmlformats.org/drawingml/2006/main">
            <a:off x="3657600" y="4791075"/>
            <a:ext cx="4876800" cy="30480"/>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221C9CD-C3B0-40DB-A8AF-B850574A8C75}"/>
              </a:ext>
            </a:extLst>
          </p:cNvPr>
          <p:cNvSpPr>
            <a:spLocks xmlns:a="http://schemas.openxmlformats.org/drawingml/2006/main" noGrp="1"/>
          </p:cNvSpPr>
          <p:nvPr/>
        </p:nvSpPr>
        <p:spPr>
          <a:xfrm xmlns:a="http://schemas.openxmlformats.org/drawingml/2006/main">
            <a:off x="3787140" y="4920615"/>
            <a:ext cx="46634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80" b="1">
                <a:solidFill>
                  <a:srgbClr val="123D38"/>
                </a:solidFill>
                <a:latin typeface="Arial"/>
                <a:ea typeface="Arial"/>
                <a:cs typeface="Arial"/>
              </a:defRPr>
            </a:pPr>
            <a:r>
              <a:rPr sz="1080" b="1">
                <a:solidFill>
                  <a:srgbClr val="123D38"/>
                </a:solidFill>
                <a:latin typeface="Arial"/>
                <a:ea typeface="Arial"/>
                <a:cs typeface="Arial"/>
              </a:rPr>
              <a:t>DEPLOYMENT RESPONSIBILITY</a:t>
            </a:r>
          </a:p>
        </p:txBody>
      </p:sp>
      <p:sp>
        <p:nvSpPr>
          <p:cNvPr id="22" name="">
            <a:extLst xmlns:a="http://schemas.openxmlformats.org/drawingml/2006/main">
              <a:ext uri="{FF2B5EF4-FFF2-40B4-BE49-F238E27FC236}">
                <a16:creationId xmlns:a16="http://schemas.microsoft.com/office/drawing/2014/main" id="{58FD2924-D809-468D-B15F-75863D45132F}"/>
              </a:ext>
            </a:extLst>
          </p:cNvPr>
          <p:cNvSpPr>
            <a:spLocks xmlns:a="http://schemas.openxmlformats.org/drawingml/2006/main" noGrp="1"/>
          </p:cNvSpPr>
          <p:nvPr/>
        </p:nvSpPr>
        <p:spPr>
          <a:xfrm xmlns:a="http://schemas.openxmlformats.org/drawingml/2006/main">
            <a:off x="3787140" y="5172075"/>
            <a:ext cx="466344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60" b="1">
                <a:solidFill>
                  <a:srgbClr val="172E2B"/>
                </a:solidFill>
                <a:latin typeface="Arial"/>
                <a:ea typeface="Arial"/>
                <a:cs typeface="Arial"/>
              </a:defRPr>
            </a:pPr>
            <a:r>
              <a:rPr sz="1560" b="1">
                <a:solidFill>
                  <a:srgbClr val="172E2B"/>
                </a:solidFill>
                <a:latin typeface="Arial"/>
                <a:ea typeface="Arial"/>
                <a:cs typeface="Arial"/>
              </a:rPr>
              <a:t>Keep the system ready between events</a:t>
            </a:r>
          </a:p>
        </p:txBody>
      </p:sp>
      <p:sp>
        <p:nvSpPr>
          <p:cNvPr id="23" name="">
            <a:extLst xmlns:a="http://schemas.openxmlformats.org/drawingml/2006/main">
              <a:ext uri="{FF2B5EF4-FFF2-40B4-BE49-F238E27FC236}">
                <a16:creationId xmlns:a16="http://schemas.microsoft.com/office/drawing/2014/main" id="{3DFBBDB5-6B4F-4F2D-AC8C-0DD3836C11D3}"/>
              </a:ext>
            </a:extLst>
          </p:cNvPr>
          <p:cNvSpPr>
            <a:spLocks xmlns:a="http://schemas.openxmlformats.org/drawingml/2006/main" noGrp="1"/>
          </p:cNvSpPr>
          <p:nvPr/>
        </p:nvSpPr>
        <p:spPr>
          <a:xfrm xmlns:a="http://schemas.openxmlformats.org/drawingml/2006/main">
            <a:off x="3787140" y="5507355"/>
            <a:ext cx="4648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20" b="0">
                <a:solidFill>
                  <a:srgbClr val="576B6D"/>
                </a:solidFill>
                <a:latin typeface="Arial"/>
                <a:ea typeface="Arial"/>
                <a:cs typeface="Arial"/>
              </a:defRPr>
            </a:pPr>
            <a:r>
              <a:rPr sz="1320" b="0">
                <a:solidFill>
                  <a:srgbClr val="576B6D"/>
                </a:solidFill>
                <a:latin typeface="Arial"/>
                <a:ea typeface="Arial"/>
                <a:cs typeface="Arial"/>
              </a:rPr>
              <a:t>Training, devices, maps, credentials and support</a:t>
            </a:r>
          </a:p>
        </p:txBody>
      </p:sp>
      <p:cxnSp>
        <p:nvCxnSpPr>
          <p:cNvPr id="50" name=""/>
          <p:cNvCxnSpPr>
            <a:stCxn xmlns:a="http://schemas.openxmlformats.org/drawingml/2006/main" id="9" idx="2"/>
            <a:endCxn xmlns:a="http://schemas.openxmlformats.org/drawingml/2006/main" id="19" idx="0"/>
          </p:cNvCxnSpPr>
          <p:nvPr/>
        </p:nvCxnSpPr>
        <p:spPr>
          <a:xfrm xmlns:a="http://schemas.openxmlformats.org/drawingml/2006/main">
            <a:off x="6096000" y="3876675"/>
            <a:ext cx="0" cy="91440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25" name="">
            <a:extLst xmlns:a="http://schemas.openxmlformats.org/drawingml/2006/main">
              <a:ext uri="{FF2B5EF4-FFF2-40B4-BE49-F238E27FC236}">
                <a16:creationId xmlns:a16="http://schemas.microsoft.com/office/drawing/2014/main" id="{AA573B4B-048F-4B04-AF5B-A2EE2F8AC075}"/>
              </a:ext>
            </a:extLst>
          </p:cNvPr>
          <p:cNvSpPr>
            <a:spLocks xmlns:a="http://schemas.openxmlformats.org/drawingml/2006/main" noGrp="1"/>
          </p:cNvSpPr>
          <p:nvPr/>
        </p:nvSpPr>
        <p:spPr>
          <a:xfrm xmlns:a="http://schemas.openxmlformats.org/drawingml/2006/main">
            <a:off x="1676400" y="1712595"/>
            <a:ext cx="88392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40" b="0">
                <a:solidFill>
                  <a:srgbClr val="A96827"/>
                </a:solidFill>
                <a:latin typeface="Arial"/>
                <a:ea typeface="Arial"/>
                <a:cs typeface="Arial"/>
              </a:defRPr>
            </a:pPr>
            <a:r>
              <a:rPr sz="1440" b="0">
                <a:solidFill>
                  <a:srgbClr val="A96827"/>
                </a:solidFill>
                <a:latin typeface="Arial"/>
                <a:ea typeface="Arial"/>
                <a:cs typeface="Arial"/>
              </a:rPr>
              <a:t>Buyer hypothesis. Interviews and willingness to pay remain unvalidated.</a:t>
            </a:r>
          </a:p>
        </p:txBody>
      </p:sp>
      <p:sp>
        <p:nvSpPr>
          <p:cNvPr id="26" name="">
            <a:extLst xmlns:a="http://schemas.openxmlformats.org/drawingml/2006/main">
              <a:ext uri="{FF2B5EF4-FFF2-40B4-BE49-F238E27FC236}">
                <a16:creationId xmlns:a16="http://schemas.microsoft.com/office/drawing/2014/main" id="{1B40972E-351F-4FB8-98B3-6A282B56F783}"/>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Proposed roles. Field users, budget owners and community beneficiaries are different groups.</a:t>
            </a:r>
          </a:p>
        </p:txBody>
      </p:sp>
    </p:spTree>
    <p:extLst>
      <p:ext uri="{BB962C8B-B14F-4D97-AF65-F5344CB8AC3E}">
        <p14:creationId xmlns:p14="http://schemas.microsoft.com/office/powerpoint/2010/main" val="350833049"/>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DC9C56-DDF8-488B-B0EE-D37A044DCA39}"/>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integrated workflow must earn adoption</a:t>
            </a:r>
          </a:p>
        </p:txBody>
      </p:sp>
      <p:sp>
        <p:nvSpPr>
          <p:cNvPr id="2" name="">
            <a:extLst xmlns:a="http://schemas.openxmlformats.org/drawingml/2006/main">
              <a:ext uri="{FF2B5EF4-FFF2-40B4-BE49-F238E27FC236}">
                <a16:creationId xmlns:a16="http://schemas.microsoft.com/office/drawing/2014/main" id="{E6E1BACB-1848-4939-8477-26779C9D08B2}"/>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comparison starts with each alternative’s documented strength.</a:t>
            </a:r>
          </a:p>
        </p:txBody>
      </p:sp>
      <p:sp>
        <p:nvSpPr>
          <p:cNvPr id="3" name="">
            <a:extLst xmlns:a="http://schemas.openxmlformats.org/drawingml/2006/main">
              <a:ext uri="{FF2B5EF4-FFF2-40B4-BE49-F238E27FC236}">
                <a16:creationId xmlns:a16="http://schemas.microsoft.com/office/drawing/2014/main" id="{490615F7-74BF-4878-AE10-119504321E81}"/>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10</a:t>
            </a:r>
          </a:p>
        </p:txBody>
      </p:sp>
      <p:graphicFrame>
        <p:nvGraphicFramePr>
          <p:cNvPr id="9" name=""/>
          <p:cNvGraphicFramePr/>
          <p:nvPr/>
        </p:nvGraphicFramePr>
        <p:xfrm>
          <a:off xmlns:a="http://schemas.openxmlformats.org/drawingml/2006/main" x="609600" y="2028825"/>
          <a:ext xmlns:a="http://schemas.openxmlformats.org/drawingml/2006/main" cx="10972800" cy="3667125"/>
        </p:xfrm>
        <a:graphic xmlns:a="http://schemas.openxmlformats.org/drawingml/2006/main">
          <a:graphicData uri="http://schemas.openxmlformats.org/drawingml/2006/table">
            <a:tbl>
              <a:tblPr/>
              <a:tblGrid>
                <a:gridCol w="2095500"/>
                <a:gridCol w="3714750"/>
                <a:gridCol w="5162550"/>
              </a:tblGrid>
              <a:tr h="611188">
                <a:tc>
                  <a:txBody>
                    <a:bodyPr/>
                    <a:lstStyle/>
                    <a:p>
                      <a:r>
                        <a:rPr sz="1650" b="1">
                          <a:solidFill>
                            <a:srgbClr val="FFFFFF"/>
                          </a:solidFill>
                          <a:latin typeface="Arial"/>
                          <a:ea typeface="Arial"/>
                          <a:cs typeface="Arial"/>
                        </a:rPr>
                        <a:t>Alternative</a:t>
                      </a:r>
                    </a:p>
                  </a:txBody>
                  <a:tcPr marL="91440" marR="91440" marT="45720" marB="45720">
                    <a:solidFill>
                      <a:srgbClr val="123D38"/>
                    </a:solidFill>
                  </a:tcPr>
                </a:tc>
                <a:tc>
                  <a:txBody>
                    <a:bodyPr/>
                    <a:lstStyle/>
                    <a:p>
                      <a:r>
                        <a:rPr sz="1650" b="1">
                          <a:solidFill>
                            <a:srgbClr val="FFFFFF"/>
                          </a:solidFill>
                          <a:latin typeface="Arial"/>
                          <a:ea typeface="Arial"/>
                          <a:cs typeface="Arial"/>
                        </a:rPr>
                        <a:t>Documented strength</a:t>
                      </a:r>
                    </a:p>
                  </a:txBody>
                  <a:tcPr marL="91440" marR="91440" marT="45720" marB="45720">
                    <a:solidFill>
                      <a:srgbClr val="123D38"/>
                    </a:solidFill>
                  </a:tcPr>
                </a:tc>
                <a:tc>
                  <a:txBody>
                    <a:bodyPr/>
                    <a:lstStyle/>
                    <a:p>
                      <a:r>
                        <a:rPr sz="1650" b="1">
                          <a:solidFill>
                            <a:srgbClr val="FFFFFF"/>
                          </a:solidFill>
                          <a:latin typeface="Arial"/>
                          <a:ea typeface="Arial"/>
                          <a:cs typeface="Arial"/>
                        </a:rPr>
                        <a:t>Digital Delta adoption question</a:t>
                      </a:r>
                    </a:p>
                  </a:txBody>
                  <a:tcPr marL="91440" marR="91440" marT="45720" marB="45720">
                    <a:solidFill>
                      <a:srgbClr val="123D38"/>
                    </a:solidFill>
                  </a:tcPr>
                </a:tc>
              </a:tr>
              <a:tr h="611188">
                <a:tc>
                  <a:txBody>
                    <a:bodyPr/>
                    <a:lstStyle/>
                    <a:p>
                      <a:r>
                        <a:rPr sz="1650" b="0">
                          <a:solidFill>
                            <a:srgbClr val="172E2B"/>
                          </a:solidFill>
                          <a:latin typeface="Arial"/>
                          <a:ea typeface="Arial"/>
                          <a:cs typeface="Arial"/>
                        </a:rPr>
                        <a:t>Sahana Eden</a:t>
                      </a:r>
                    </a:p>
                  </a:txBody>
                  <a:tcPr marL="91440" marR="91440" marT="45720" marB="45720">
                    <a:solidFill>
                      <a:srgbClr val="FFFFFF"/>
                    </a:solidFill>
                  </a:tcPr>
                </a:tc>
                <a:tc>
                  <a:txBody>
                    <a:bodyPr/>
                    <a:lstStyle/>
                    <a:p>
                      <a:r>
                        <a:rPr sz="1650" b="0">
                          <a:solidFill>
                            <a:srgbClr val="172E2B"/>
                          </a:solidFill>
                          <a:latin typeface="Arial"/>
                          <a:ea typeface="Arial"/>
                          <a:cs typeface="Arial"/>
                        </a:rPr>
                        <a:t>Relief inventory and logistics</a:t>
                      </a:r>
                    </a:p>
                  </a:txBody>
                  <a:tcPr marL="91440" marR="91440" marT="45720" marB="45720">
                    <a:solidFill>
                      <a:srgbClr val="FFFFFF"/>
                    </a:solidFill>
                  </a:tcPr>
                </a:tc>
                <a:tc>
                  <a:txBody>
                    <a:bodyPr/>
                    <a:lstStyle/>
                    <a:p>
                      <a:r>
                        <a:rPr sz="1650" b="0">
                          <a:solidFill>
                            <a:srgbClr val="172E2B"/>
                          </a:solidFill>
                          <a:latin typeface="Arial"/>
                          <a:ea typeface="Arial"/>
                          <a:cs typeface="Arial"/>
                        </a:rPr>
                        <a:t>Does phone continuity add value?</a:t>
                      </a:r>
                    </a:p>
                  </a:txBody>
                  <a:tcPr marL="91440" marR="91440" marT="45720" marB="45720">
                    <a:solidFill>
                      <a:srgbClr val="FFFFFF"/>
                    </a:solidFill>
                  </a:tcPr>
                </a:tc>
              </a:tr>
              <a:tr h="611188">
                <a:tc>
                  <a:txBody>
                    <a:bodyPr/>
                    <a:lstStyle/>
                    <a:p>
                      <a:r>
                        <a:rPr sz="1650" b="0">
                          <a:solidFill>
                            <a:srgbClr val="172E2B"/>
                          </a:solidFill>
                          <a:latin typeface="Arial"/>
                          <a:ea typeface="Arial"/>
                          <a:cs typeface="Arial"/>
                        </a:rPr>
                        <a:t>KoboCollect</a:t>
                      </a:r>
                    </a:p>
                  </a:txBody>
                  <a:tcPr marL="91440" marR="91440" marT="45720" marB="45720">
                    <a:solidFill>
                      <a:srgbClr val="EDF3EF"/>
                    </a:solidFill>
                  </a:tcPr>
                </a:tc>
                <a:tc>
                  <a:txBody>
                    <a:bodyPr/>
                    <a:lstStyle/>
                    <a:p>
                      <a:r>
                        <a:rPr sz="1650" b="0">
                          <a:solidFill>
                            <a:srgbClr val="172E2B"/>
                          </a:solidFill>
                          <a:latin typeface="Arial"/>
                          <a:ea typeface="Arial"/>
                          <a:cs typeface="Arial"/>
                        </a:rPr>
                        <a:t>Offline assessment collection</a:t>
                      </a:r>
                    </a:p>
                  </a:txBody>
                  <a:tcPr marL="91440" marR="91440" marT="45720" marB="45720">
                    <a:solidFill>
                      <a:srgbClr val="EDF3EF"/>
                    </a:solidFill>
                  </a:tcPr>
                </a:tc>
                <a:tc>
                  <a:txBody>
                    <a:bodyPr/>
                    <a:lstStyle/>
                    <a:p>
                      <a:r>
                        <a:rPr sz="1650" b="0">
                          <a:solidFill>
                            <a:srgbClr val="172E2B"/>
                          </a:solidFill>
                          <a:latin typeface="Arial"/>
                          <a:ea typeface="Arial"/>
                          <a:cs typeface="Arial"/>
                        </a:rPr>
                        <a:t>Does custody need a separate workflow?</a:t>
                      </a:r>
                    </a:p>
                  </a:txBody>
                  <a:tcPr marL="91440" marR="91440" marT="45720" marB="45720">
                    <a:solidFill>
                      <a:srgbClr val="EDF3EF"/>
                    </a:solidFill>
                  </a:tcPr>
                </a:tc>
              </a:tr>
              <a:tr h="611188">
                <a:tc>
                  <a:txBody>
                    <a:bodyPr/>
                    <a:lstStyle/>
                    <a:p>
                      <a:r>
                        <a:rPr sz="1650" b="0">
                          <a:solidFill>
                            <a:srgbClr val="172E2B"/>
                          </a:solidFill>
                          <a:latin typeface="Arial"/>
                          <a:ea typeface="Arial"/>
                          <a:cs typeface="Arial"/>
                        </a:rPr>
                        <a:t>Ushahidi</a:t>
                      </a:r>
                    </a:p>
                  </a:txBody>
                  <a:tcPr marL="91440" marR="91440" marT="45720" marB="45720">
                    <a:solidFill>
                      <a:srgbClr val="FFFFFF"/>
                    </a:solidFill>
                  </a:tcPr>
                </a:tc>
                <a:tc>
                  <a:txBody>
                    <a:bodyPr/>
                    <a:lstStyle/>
                    <a:p>
                      <a:r>
                        <a:rPr sz="1650" b="0">
                          <a:solidFill>
                            <a:srgbClr val="172E2B"/>
                          </a:solidFill>
                          <a:latin typeface="Arial"/>
                          <a:ea typeface="Arial"/>
                          <a:cs typeface="Arial"/>
                        </a:rPr>
                        <a:t>Reports and incident mapping</a:t>
                      </a:r>
                    </a:p>
                  </a:txBody>
                  <a:tcPr marL="91440" marR="91440" marT="45720" marB="45720">
                    <a:solidFill>
                      <a:srgbClr val="FFFFFF"/>
                    </a:solidFill>
                  </a:tcPr>
                </a:tc>
                <a:tc>
                  <a:txBody>
                    <a:bodyPr/>
                    <a:lstStyle/>
                    <a:p>
                      <a:r>
                        <a:rPr sz="1650" b="0">
                          <a:solidFill>
                            <a:srgbClr val="172E2B"/>
                          </a:solidFill>
                          <a:latin typeface="Arial"/>
                          <a:ea typeface="Arial"/>
                          <a:cs typeface="Arial"/>
                        </a:rPr>
                        <a:t>Can verified events complement reporting?</a:t>
                      </a:r>
                    </a:p>
                  </a:txBody>
                  <a:tcPr marL="91440" marR="91440" marT="45720" marB="45720">
                    <a:solidFill>
                      <a:srgbClr val="FFFFFF"/>
                    </a:solidFill>
                  </a:tcPr>
                </a:tc>
              </a:tr>
              <a:tr h="611188">
                <a:tc>
                  <a:txBody>
                    <a:bodyPr/>
                    <a:lstStyle/>
                    <a:p>
                      <a:r>
                        <a:rPr sz="1650" b="0">
                          <a:solidFill>
                            <a:srgbClr val="172E2B"/>
                          </a:solidFill>
                          <a:latin typeface="Arial"/>
                          <a:ea typeface="Arial"/>
                          <a:cs typeface="Arial"/>
                        </a:rPr>
                        <a:t>Briar</a:t>
                      </a:r>
                    </a:p>
                  </a:txBody>
                  <a:tcPr marL="91440" marR="91440" marT="45720" marB="45720">
                    <a:solidFill>
                      <a:srgbClr val="EDF3EF"/>
                    </a:solidFill>
                  </a:tcPr>
                </a:tc>
                <a:tc>
                  <a:txBody>
                    <a:bodyPr/>
                    <a:lstStyle/>
                    <a:p>
                      <a:r>
                        <a:rPr sz="1650" b="0">
                          <a:solidFill>
                            <a:srgbClr val="172E2B"/>
                          </a:solidFill>
                          <a:latin typeface="Arial"/>
                          <a:ea typeface="Arial"/>
                          <a:cs typeface="Arial"/>
                        </a:rPr>
                        <a:t>Encrypted nearby messaging</a:t>
                      </a:r>
                    </a:p>
                  </a:txBody>
                  <a:tcPr marL="91440" marR="91440" marT="45720" marB="45720">
                    <a:solidFill>
                      <a:srgbClr val="EDF3EF"/>
                    </a:solidFill>
                  </a:tcPr>
                </a:tc>
                <a:tc>
                  <a:txBody>
                    <a:bodyPr/>
                    <a:lstStyle/>
                    <a:p>
                      <a:r>
                        <a:rPr sz="1650" b="0">
                          <a:solidFill>
                            <a:srgbClr val="172E2B"/>
                          </a:solidFill>
                          <a:latin typeface="Arial"/>
                          <a:ea typeface="Arial"/>
                          <a:cs typeface="Arial"/>
                        </a:rPr>
                        <a:t>Are structured logistics rules worth training?</a:t>
                      </a:r>
                    </a:p>
                  </a:txBody>
                  <a:tcPr marL="91440" marR="91440" marT="45720" marB="45720">
                    <a:solidFill>
                      <a:srgbClr val="EDF3EF"/>
                    </a:solidFill>
                  </a:tcPr>
                </a:tc>
              </a:tr>
              <a:tr h="611188">
                <a:tc>
                  <a:txBody>
                    <a:bodyPr/>
                    <a:lstStyle/>
                    <a:p>
                      <a:r>
                        <a:rPr sz="1650" b="0">
                          <a:solidFill>
                            <a:srgbClr val="172E2B"/>
                          </a:solidFill>
                          <a:latin typeface="Arial"/>
                          <a:ea typeface="Arial"/>
                          <a:cs typeface="Arial"/>
                        </a:rPr>
                        <a:t>Meshtastic</a:t>
                      </a:r>
                    </a:p>
                  </a:txBody>
                  <a:tcPr marL="91440" marR="91440" marT="45720" marB="45720">
                    <a:solidFill>
                      <a:srgbClr val="FFFFFF"/>
                    </a:solidFill>
                  </a:tcPr>
                </a:tc>
                <a:tc>
                  <a:txBody>
                    <a:bodyPr/>
                    <a:lstStyle/>
                    <a:p>
                      <a:r>
                        <a:rPr sz="1650" b="0">
                          <a:solidFill>
                            <a:srgbClr val="172E2B"/>
                          </a:solidFill>
                          <a:latin typeface="Arial"/>
                          <a:ea typeface="Arial"/>
                          <a:cs typeface="Arial"/>
                        </a:rPr>
                        <a:t>LoRa mesh messaging</a:t>
                      </a:r>
                    </a:p>
                  </a:txBody>
                  <a:tcPr marL="91440" marR="91440" marT="45720" marB="45720">
                    <a:solidFill>
                      <a:srgbClr val="FFFFFF"/>
                    </a:solidFill>
                  </a:tcPr>
                </a:tc>
                <a:tc>
                  <a:txBody>
                    <a:bodyPr/>
                    <a:lstStyle/>
                    <a:p>
                      <a:r>
                        <a:rPr sz="1650" b="0">
                          <a:solidFill>
                            <a:srgbClr val="172E2B"/>
                          </a:solidFill>
                          <a:latin typeface="Arial"/>
                          <a:ea typeface="Arial"/>
                          <a:cs typeface="Arial"/>
                        </a:rPr>
                        <a:t>Can existing phones meet the relay need?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E8E7EE5-A784-4CF9-993B-8960A610407C}"/>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Positioning hypothesis. A missing feature in reviewed documentation is not proof that a competitor cannot provide it.</a:t>
            </a:r>
          </a:p>
        </p:txBody>
      </p:sp>
    </p:spTree>
    <p:extLst>
      <p:ext uri="{BB962C8B-B14F-4D97-AF65-F5344CB8AC3E}">
        <p14:creationId xmlns:p14="http://schemas.microsoft.com/office/powerpoint/2010/main" val="1761517008"/>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6BA9656-40A0-48B3-B169-83CE178425CF}"/>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offer is a preparedness service</a:t>
            </a:r>
          </a:p>
        </p:txBody>
      </p:sp>
      <p:sp>
        <p:nvSpPr>
          <p:cNvPr id="2" name="">
            <a:extLst xmlns:a="http://schemas.openxmlformats.org/drawingml/2006/main">
              <a:ext uri="{FF2B5EF4-FFF2-40B4-BE49-F238E27FC236}">
                <a16:creationId xmlns:a16="http://schemas.microsoft.com/office/drawing/2014/main" id="{0A44244D-A0D5-4107-805E-8F5E4035AD98}"/>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Configuration, measured exercises and agreed support surround the software.</a:t>
            </a:r>
          </a:p>
        </p:txBody>
      </p:sp>
      <p:sp>
        <p:nvSpPr>
          <p:cNvPr id="3" name="">
            <a:extLst xmlns:a="http://schemas.openxmlformats.org/drawingml/2006/main">
              <a:ext uri="{FF2B5EF4-FFF2-40B4-BE49-F238E27FC236}">
                <a16:creationId xmlns:a16="http://schemas.microsoft.com/office/drawing/2014/main" id="{9C3135DF-EDDD-4482-8009-0A148DC3C11C}"/>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F171827-37F7-49F3-9E04-2E892C845ACA}"/>
              </a:ext>
            </a:extLst>
          </p:cNvPr>
          <p:cNvSpPr>
            <a:spLocks xmlns:a="http://schemas.openxmlformats.org/drawingml/2006/main" noGrp="1"/>
          </p:cNvSpPr>
          <p:nvPr/>
        </p:nvSpPr>
        <p:spPr>
          <a:xfrm xmlns:a="http://schemas.openxmlformats.org/drawingml/2006/main">
            <a:off x="1565910" y="2388870"/>
            <a:ext cx="2655570"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385CD2B3-1B6C-4128-93DA-B7107075889E}"/>
              </a:ext>
            </a:extLst>
          </p:cNvPr>
          <p:cNvSpPr>
            <a:spLocks xmlns:a="http://schemas.openxmlformats.org/drawingml/2006/main" noGrp="1"/>
          </p:cNvSpPr>
          <p:nvPr/>
        </p:nvSpPr>
        <p:spPr>
          <a:xfrm xmlns:a="http://schemas.openxmlformats.org/drawingml/2006/main">
            <a:off x="1565910" y="2388870"/>
            <a:ext cx="2655570"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E6B7A6-BE5C-493D-9002-68493FA0F0E2}"/>
              </a:ext>
            </a:extLst>
          </p:cNvPr>
          <p:cNvSpPr>
            <a:spLocks xmlns:a="http://schemas.openxmlformats.org/drawingml/2006/main" noGrp="1"/>
          </p:cNvSpPr>
          <p:nvPr/>
        </p:nvSpPr>
        <p:spPr>
          <a:xfrm xmlns:a="http://schemas.openxmlformats.org/drawingml/2006/main">
            <a:off x="1698689" y="2521649"/>
            <a:ext cx="243687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INITIAL ENGAGEMENT</a:t>
            </a:r>
          </a:p>
        </p:txBody>
      </p:sp>
      <p:sp>
        <p:nvSpPr>
          <p:cNvPr id="7" name="">
            <a:extLst xmlns:a="http://schemas.openxmlformats.org/drawingml/2006/main">
              <a:ext uri="{FF2B5EF4-FFF2-40B4-BE49-F238E27FC236}">
                <a16:creationId xmlns:a16="http://schemas.microsoft.com/office/drawing/2014/main" id="{C125C36D-B5E8-43FA-B635-AB9DAEB26390}"/>
              </a:ext>
            </a:extLst>
          </p:cNvPr>
          <p:cNvSpPr>
            <a:spLocks xmlns:a="http://schemas.openxmlformats.org/drawingml/2006/main" noGrp="1"/>
          </p:cNvSpPr>
          <p:nvPr/>
        </p:nvSpPr>
        <p:spPr>
          <a:xfrm xmlns:a="http://schemas.openxmlformats.org/drawingml/2006/main">
            <a:off x="1698689" y="2779395"/>
            <a:ext cx="243687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Prepare the exercise</a:t>
            </a:r>
          </a:p>
        </p:txBody>
      </p:sp>
      <p:sp>
        <p:nvSpPr>
          <p:cNvPr id="8" name="">
            <a:extLst xmlns:a="http://schemas.openxmlformats.org/drawingml/2006/main">
              <a:ext uri="{FF2B5EF4-FFF2-40B4-BE49-F238E27FC236}">
                <a16:creationId xmlns:a16="http://schemas.microsoft.com/office/drawing/2014/main" id="{F7FCE386-F868-4417-A105-709B2147D8DA}"/>
              </a:ext>
            </a:extLst>
          </p:cNvPr>
          <p:cNvSpPr>
            <a:spLocks xmlns:a="http://schemas.openxmlformats.org/drawingml/2006/main" noGrp="1"/>
          </p:cNvSpPr>
          <p:nvPr/>
        </p:nvSpPr>
        <p:spPr>
          <a:xfrm xmlns:a="http://schemas.openxmlformats.org/drawingml/2006/main">
            <a:off x="1698689" y="3123057"/>
            <a:ext cx="2421255"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Workflow configuration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Devices and identities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Bundled maps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Bilingual training</a:t>
            </a:r>
          </a:p>
        </p:txBody>
      </p:sp>
      <p:sp>
        <p:nvSpPr>
          <p:cNvPr id="9" name="">
            <a:extLst xmlns:a="http://schemas.openxmlformats.org/drawingml/2006/main">
              <a:ext uri="{FF2B5EF4-FFF2-40B4-BE49-F238E27FC236}">
                <a16:creationId xmlns:a16="http://schemas.microsoft.com/office/drawing/2014/main" id="{672BEBDC-8C24-4038-B2B5-986B6E19B2F5}"/>
              </a:ext>
            </a:extLst>
          </p:cNvPr>
          <p:cNvSpPr>
            <a:spLocks xmlns:a="http://schemas.openxmlformats.org/drawingml/2006/main" noGrp="1"/>
          </p:cNvSpPr>
          <p:nvPr/>
        </p:nvSpPr>
        <p:spPr>
          <a:xfrm xmlns:a="http://schemas.openxmlformats.org/drawingml/2006/main">
            <a:off x="4768215" y="2388870"/>
            <a:ext cx="2655570"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51E1BCBD-3336-41DB-B5D8-93847E0E9AED}"/>
              </a:ext>
            </a:extLst>
          </p:cNvPr>
          <p:cNvSpPr>
            <a:spLocks xmlns:a="http://schemas.openxmlformats.org/drawingml/2006/main" noGrp="1"/>
          </p:cNvSpPr>
          <p:nvPr/>
        </p:nvSpPr>
        <p:spPr>
          <a:xfrm xmlns:a="http://schemas.openxmlformats.org/drawingml/2006/main">
            <a:off x="4768215" y="2388870"/>
            <a:ext cx="2655570" cy="31242"/>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21F307-2BA2-4E73-9FE1-46118D31859C}"/>
              </a:ext>
            </a:extLst>
          </p:cNvPr>
          <p:cNvSpPr>
            <a:spLocks xmlns:a="http://schemas.openxmlformats.org/drawingml/2006/main" noGrp="1"/>
          </p:cNvSpPr>
          <p:nvPr/>
        </p:nvSpPr>
        <p:spPr>
          <a:xfrm xmlns:a="http://schemas.openxmlformats.org/drawingml/2006/main">
            <a:off x="4900994" y="2521649"/>
            <a:ext cx="243687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216E75"/>
                </a:solidFill>
                <a:latin typeface="Arial"/>
                <a:ea typeface="Arial"/>
                <a:cs typeface="Arial"/>
              </a:defRPr>
            </a:pPr>
            <a:r>
              <a:rPr sz="1107" b="1">
                <a:solidFill>
                  <a:srgbClr val="216E75"/>
                </a:solidFill>
                <a:latin typeface="Arial"/>
                <a:ea typeface="Arial"/>
                <a:cs typeface="Arial"/>
              </a:rPr>
              <a:t>ACCEPTANCE</a:t>
            </a:r>
          </a:p>
        </p:txBody>
      </p:sp>
      <p:sp>
        <p:nvSpPr>
          <p:cNvPr id="12" name="">
            <a:extLst xmlns:a="http://schemas.openxmlformats.org/drawingml/2006/main">
              <a:ext uri="{FF2B5EF4-FFF2-40B4-BE49-F238E27FC236}">
                <a16:creationId xmlns:a16="http://schemas.microsoft.com/office/drawing/2014/main" id="{8609D8B3-C685-4304-AF56-987D0400AE45}"/>
              </a:ext>
            </a:extLst>
          </p:cNvPr>
          <p:cNvSpPr>
            <a:spLocks xmlns:a="http://schemas.openxmlformats.org/drawingml/2006/main" noGrp="1"/>
          </p:cNvSpPr>
          <p:nvPr/>
        </p:nvSpPr>
        <p:spPr>
          <a:xfrm xmlns:a="http://schemas.openxmlformats.org/drawingml/2006/main">
            <a:off x="4900994" y="2779395"/>
            <a:ext cx="243687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Produce evidence</a:t>
            </a:r>
          </a:p>
        </p:txBody>
      </p:sp>
      <p:sp>
        <p:nvSpPr>
          <p:cNvPr id="13" name="">
            <a:extLst xmlns:a="http://schemas.openxmlformats.org/drawingml/2006/main">
              <a:ext uri="{FF2B5EF4-FFF2-40B4-BE49-F238E27FC236}">
                <a16:creationId xmlns:a16="http://schemas.microsoft.com/office/drawing/2014/main" id="{3373D578-D474-48B6-A59B-189F7F135A50}"/>
              </a:ext>
            </a:extLst>
          </p:cNvPr>
          <p:cNvSpPr>
            <a:spLocks xmlns:a="http://schemas.openxmlformats.org/drawingml/2006/main" noGrp="1"/>
          </p:cNvSpPr>
          <p:nvPr/>
        </p:nvSpPr>
        <p:spPr>
          <a:xfrm xmlns:a="http://schemas.openxmlformats.org/drawingml/2006/main">
            <a:off x="4900994" y="3123057"/>
            <a:ext cx="2421255"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Supervised scenario</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Baseline comparison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Failure and recovery log</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Sponsor review</a:t>
            </a:r>
          </a:p>
        </p:txBody>
      </p:sp>
      <p:sp>
        <p:nvSpPr>
          <p:cNvPr id="14" name="">
            <a:extLst xmlns:a="http://schemas.openxmlformats.org/drawingml/2006/main">
              <a:ext uri="{FF2B5EF4-FFF2-40B4-BE49-F238E27FC236}">
                <a16:creationId xmlns:a16="http://schemas.microsoft.com/office/drawing/2014/main" id="{FEE53C7E-0C26-4033-BDCA-1405954B5308}"/>
              </a:ext>
            </a:extLst>
          </p:cNvPr>
          <p:cNvSpPr>
            <a:spLocks xmlns:a="http://schemas.openxmlformats.org/drawingml/2006/main" noGrp="1"/>
          </p:cNvSpPr>
          <p:nvPr/>
        </p:nvSpPr>
        <p:spPr>
          <a:xfrm xmlns:a="http://schemas.openxmlformats.org/drawingml/2006/main">
            <a:off x="7970520" y="2388870"/>
            <a:ext cx="2655570"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BB7BCC1C-4A7D-48AF-BD91-E779F4F57161}"/>
              </a:ext>
            </a:extLst>
          </p:cNvPr>
          <p:cNvSpPr>
            <a:spLocks xmlns:a="http://schemas.openxmlformats.org/drawingml/2006/main" noGrp="1"/>
          </p:cNvSpPr>
          <p:nvPr/>
        </p:nvSpPr>
        <p:spPr>
          <a:xfrm xmlns:a="http://schemas.openxmlformats.org/drawingml/2006/main">
            <a:off x="7970520" y="2388870"/>
            <a:ext cx="2655570"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2E7384-9901-458D-91D8-681CE9A60A26}"/>
              </a:ext>
            </a:extLst>
          </p:cNvPr>
          <p:cNvSpPr>
            <a:spLocks xmlns:a="http://schemas.openxmlformats.org/drawingml/2006/main" noGrp="1"/>
          </p:cNvSpPr>
          <p:nvPr/>
        </p:nvSpPr>
        <p:spPr>
          <a:xfrm xmlns:a="http://schemas.openxmlformats.org/drawingml/2006/main">
            <a:off x="8103299" y="2521649"/>
            <a:ext cx="243687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ONGOING AGREEMENT</a:t>
            </a:r>
          </a:p>
        </p:txBody>
      </p:sp>
      <p:sp>
        <p:nvSpPr>
          <p:cNvPr id="17" name="">
            <a:extLst xmlns:a="http://schemas.openxmlformats.org/drawingml/2006/main">
              <a:ext uri="{FF2B5EF4-FFF2-40B4-BE49-F238E27FC236}">
                <a16:creationId xmlns:a16="http://schemas.microsoft.com/office/drawing/2014/main" id="{7B311858-D769-4CAD-B31F-933618146E6F}"/>
              </a:ext>
            </a:extLst>
          </p:cNvPr>
          <p:cNvSpPr>
            <a:spLocks xmlns:a="http://schemas.openxmlformats.org/drawingml/2006/main" noGrp="1"/>
          </p:cNvSpPr>
          <p:nvPr/>
        </p:nvSpPr>
        <p:spPr>
          <a:xfrm xmlns:a="http://schemas.openxmlformats.org/drawingml/2006/main">
            <a:off x="8103299" y="2779395"/>
            <a:ext cx="243687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Maintain readiness</a:t>
            </a:r>
          </a:p>
        </p:txBody>
      </p:sp>
      <p:sp>
        <p:nvSpPr>
          <p:cNvPr id="18" name="">
            <a:extLst xmlns:a="http://schemas.openxmlformats.org/drawingml/2006/main">
              <a:ext uri="{FF2B5EF4-FFF2-40B4-BE49-F238E27FC236}">
                <a16:creationId xmlns:a16="http://schemas.microsoft.com/office/drawing/2014/main" id="{303C2D49-37E1-4590-834E-16C2458CC1EB}"/>
              </a:ext>
            </a:extLst>
          </p:cNvPr>
          <p:cNvSpPr>
            <a:spLocks xmlns:a="http://schemas.openxmlformats.org/drawingml/2006/main" noGrp="1"/>
          </p:cNvSpPr>
          <p:nvPr/>
        </p:nvSpPr>
        <p:spPr>
          <a:xfrm xmlns:a="http://schemas.openxmlformats.org/drawingml/2006/main">
            <a:off x="8103299" y="3123057"/>
            <a:ext cx="2421255"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Release maintenance</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Map refreshes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Credential administration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Seasonal rehearsals</a:t>
            </a:r>
          </a:p>
        </p:txBody>
      </p:sp>
      <p:cxnSp>
        <p:nvCxnSpPr>
          <p:cNvPr id="42" name=""/>
          <p:cNvCxnSpPr>
            <a:stCxn xmlns:a="http://schemas.openxmlformats.org/drawingml/2006/main" id="4" idx="3"/>
            <a:endCxn xmlns:a="http://schemas.openxmlformats.org/drawingml/2006/main" id="9" idx="1"/>
          </p:cNvCxnSpPr>
          <p:nvPr/>
        </p:nvCxnSpPr>
        <p:spPr>
          <a:xfrm xmlns:a="http://schemas.openxmlformats.org/drawingml/2006/main">
            <a:off x="4221480" y="3443288"/>
            <a:ext cx="546735"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43" name=""/>
          <p:cNvCxnSpPr>
            <a:stCxn xmlns:a="http://schemas.openxmlformats.org/drawingml/2006/main" id="9" idx="3"/>
            <a:endCxn xmlns:a="http://schemas.openxmlformats.org/drawingml/2006/main" id="14" idx="1"/>
          </p:cNvCxnSpPr>
          <p:nvPr/>
        </p:nvCxnSpPr>
        <p:spPr>
          <a:xfrm xmlns:a="http://schemas.openxmlformats.org/drawingml/2006/main">
            <a:off x="7423785" y="3443288"/>
            <a:ext cx="546735"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21" name="">
            <a:extLst xmlns:a="http://schemas.openxmlformats.org/drawingml/2006/main">
              <a:ext uri="{FF2B5EF4-FFF2-40B4-BE49-F238E27FC236}">
                <a16:creationId xmlns:a16="http://schemas.microsoft.com/office/drawing/2014/main" id="{93EAF7F7-037E-427D-8B19-EAD7B2CC3AD8}"/>
              </a:ext>
            </a:extLst>
          </p:cNvPr>
          <p:cNvSpPr>
            <a:spLocks xmlns:a="http://schemas.openxmlformats.org/drawingml/2006/main" noGrp="1"/>
          </p:cNvSpPr>
          <p:nvPr/>
        </p:nvSpPr>
        <p:spPr>
          <a:xfrm xmlns:a="http://schemas.openxmlformats.org/drawingml/2006/main">
            <a:off x="1565910" y="4997577"/>
            <a:ext cx="906018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2" b="0">
                <a:solidFill>
                  <a:srgbClr val="123D38"/>
                </a:solidFill>
                <a:latin typeface="Arial"/>
                <a:ea typeface="Arial"/>
                <a:cs typeface="Arial"/>
              </a:defRPr>
            </a:pPr>
            <a:r>
              <a:rPr sz="1722" b="0">
                <a:solidFill>
                  <a:srgbClr val="123D38"/>
                </a:solidFill>
                <a:latin typeface="Arial"/>
                <a:ea typeface="Arial"/>
                <a:cs typeface="Arial"/>
              </a:rPr>
              <a:t>The proposed commercial unit is an institutional service engagement.</a:t>
            </a:r>
          </a:p>
        </p:txBody>
      </p:sp>
      <p:sp>
        <p:nvSpPr>
          <p:cNvPr id="22" name="">
            <a:extLst xmlns:a="http://schemas.openxmlformats.org/drawingml/2006/main">
              <a:ext uri="{FF2B5EF4-FFF2-40B4-BE49-F238E27FC236}">
                <a16:creationId xmlns:a16="http://schemas.microsoft.com/office/drawing/2014/main" id="{B6FE8A5C-AB29-4239-A451-99A12ABE0E3D}"/>
              </a:ext>
            </a:extLst>
          </p:cNvPr>
          <p:cNvSpPr>
            <a:spLocks xmlns:a="http://schemas.openxmlformats.org/drawingml/2006/main" noGrp="1"/>
          </p:cNvSpPr>
          <p:nvPr/>
        </p:nvSpPr>
        <p:spPr>
          <a:xfrm xmlns:a="http://schemas.openxmlformats.org/drawingml/2006/main">
            <a:off x="1565910" y="5489638"/>
            <a:ext cx="9060180"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15" b="0">
                <a:solidFill>
                  <a:srgbClr val="576B6D"/>
                </a:solidFill>
                <a:latin typeface="Arial"/>
                <a:ea typeface="Arial"/>
                <a:cs typeface="Arial"/>
              </a:defRPr>
            </a:pPr>
            <a:r>
              <a:rPr sz="1415" b="0">
                <a:solidFill>
                  <a:srgbClr val="576B6D"/>
                </a:solidFill>
                <a:latin typeface="Arial"/>
                <a:ea typeface="Arial"/>
                <a:cs typeface="Arial"/>
              </a:rPr>
              <a:t>Pricing and repeat demand require validation. Sensitive data is not a revenue product.</a:t>
            </a:r>
          </a:p>
        </p:txBody>
      </p:sp>
      <p:sp>
        <p:nvSpPr>
          <p:cNvPr id="23" name="">
            <a:extLst xmlns:a="http://schemas.openxmlformats.org/drawingml/2006/main">
              <a:ext uri="{FF2B5EF4-FFF2-40B4-BE49-F238E27FC236}">
                <a16:creationId xmlns:a16="http://schemas.microsoft.com/office/drawing/2014/main" id="{AC8F113C-CF23-4216-B100-8E599467BB7D}"/>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Initial engagement and recurring support are commercial hypotheses to test with buyers.</a:t>
            </a:r>
          </a:p>
        </p:txBody>
      </p:sp>
    </p:spTree>
    <p:extLst>
      <p:ext uri="{BB962C8B-B14F-4D97-AF65-F5344CB8AC3E}">
        <p14:creationId xmlns:p14="http://schemas.microsoft.com/office/powerpoint/2010/main" val="2086806783"/>
      </p:ext>
    </p:extLst>
  </p:cSld>
</p:sld>
</file>

<file path=ppt/slides/slide1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822CAC-CF85-43BB-8A19-E428475FBB81}"/>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illustrative pilot totals BDT 517,500</a:t>
            </a:r>
          </a:p>
        </p:txBody>
      </p:sp>
      <p:sp>
        <p:nvSpPr>
          <p:cNvPr id="2" name="">
            <a:extLst xmlns:a="http://schemas.openxmlformats.org/drawingml/2006/main">
              <a:ext uri="{FF2B5EF4-FFF2-40B4-BE49-F238E27FC236}">
                <a16:creationId xmlns:a16="http://schemas.microsoft.com/office/drawing/2014/main" id="{E9F6C9D4-2A81-4E94-96E4-3AC25CF3ADD4}"/>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 12-week planning model with six exercise phones and 15% contingency.</a:t>
            </a:r>
          </a:p>
        </p:txBody>
      </p:sp>
      <p:sp>
        <p:nvSpPr>
          <p:cNvPr id="3" name="">
            <a:extLst xmlns:a="http://schemas.openxmlformats.org/drawingml/2006/main">
              <a:ext uri="{FF2B5EF4-FFF2-40B4-BE49-F238E27FC236}">
                <a16:creationId xmlns:a16="http://schemas.microsoft.com/office/drawing/2014/main" id="{E2AEBE92-5B89-4649-A66C-5E78C1CD6D82}"/>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12</a:t>
            </a:r>
          </a:p>
        </p:txBody>
      </p:sp>
      <p:graphicFrame>
        <p:nvGraphicFramePr>
          <p:cNvPr id="9" name="Chart"/>
          <p:cNvGraphicFramePr/>
          <p:nvPr/>
        </p:nvGraphicFramePr>
        <p:xfrm>
          <a:off xmlns:a="http://schemas.openxmlformats.org/drawingml/2006/main" x="600075" y="2057400"/>
          <a:ext xmlns:a="http://schemas.openxmlformats.org/drawingml/2006/main" cx="10839450" cy="3781425"/>
        </p:xfrm>
        <a:graphic xmlns:a="http://schemas.openxmlformats.org/drawingml/2006/main">
          <a:graphicData uri="http://schemas.openxmlformats.org/drawingml/2006/chart">
            <c:chart xmlns:r="http://schemas.openxmlformats.org/officeDocument/2006/relationships" xmlns:c="http://schemas.openxmlformats.org/drawingml/2006/chart" r:id="R84439cfad8a94912"/>
          </a:graphicData>
        </a:graphic>
      </p:graphicFrame>
      <p:sp>
        <p:nvSpPr>
          <p:cNvPr id="5" name="">
            <a:extLst xmlns:a="http://schemas.openxmlformats.org/drawingml/2006/main">
              <a:ext uri="{FF2B5EF4-FFF2-40B4-BE49-F238E27FC236}">
                <a16:creationId xmlns:a16="http://schemas.microsoft.com/office/drawing/2014/main" id="{37B9B2AF-FDBA-41A7-A628-4D2EF2BD4710}"/>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Illustrative BDT assumptions, not market quotations. The report contains quantities, rates and exclusions.</a:t>
            </a:r>
          </a:p>
        </p:txBody>
      </p:sp>
    </p:spTree>
    <p:extLst>
      <p:ext uri="{BB962C8B-B14F-4D97-AF65-F5344CB8AC3E}">
        <p14:creationId xmlns:p14="http://schemas.microsoft.com/office/powerpoint/2010/main" val="1000343390"/>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EDEC98-5395-4EEE-98F8-889C47878899}"/>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Software evidence supports a physical pilot</a:t>
            </a:r>
          </a:p>
        </p:txBody>
      </p:sp>
      <p:sp>
        <p:nvSpPr>
          <p:cNvPr id="2" name="">
            <a:extLst xmlns:a="http://schemas.openxmlformats.org/drawingml/2006/main">
              <a:ext uri="{FF2B5EF4-FFF2-40B4-BE49-F238E27FC236}">
                <a16:creationId xmlns:a16="http://schemas.microsoft.com/office/drawing/2014/main" id="{189AF18C-778C-455F-86F4-7EDB9CA6F96C}"/>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next gate is a supervised test on real phones.</a:t>
            </a:r>
          </a:p>
        </p:txBody>
      </p:sp>
      <p:sp>
        <p:nvSpPr>
          <p:cNvPr id="3" name="">
            <a:extLst xmlns:a="http://schemas.openxmlformats.org/drawingml/2006/main">
              <a:ext uri="{FF2B5EF4-FFF2-40B4-BE49-F238E27FC236}">
                <a16:creationId xmlns:a16="http://schemas.microsoft.com/office/drawing/2014/main" id="{4CA5BC11-306A-4925-96A1-98EB20A7E19D}"/>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13</a:t>
            </a:r>
          </a:p>
        </p:txBody>
      </p:sp>
      <p:graphicFrame>
        <p:nvGraphicFramePr>
          <p:cNvPr id="9" name=""/>
          <p:cNvGraphicFramePr/>
          <p:nvPr/>
        </p:nvGraphicFramePr>
        <p:xfrm>
          <a:off xmlns:a="http://schemas.openxmlformats.org/drawingml/2006/main" x="609600" y="2076450"/>
          <a:ext xmlns:a="http://schemas.openxmlformats.org/drawingml/2006/main" cx="10972800" cy="3514725"/>
        </p:xfrm>
        <a:graphic xmlns:a="http://schemas.openxmlformats.org/drawingml/2006/main">
          <a:graphicData uri="http://schemas.openxmlformats.org/drawingml/2006/table">
            <a:tbl>
              <a:tblPr/>
              <a:tblGrid>
                <a:gridCol w="5391150"/>
                <a:gridCol w="5581650"/>
              </a:tblGrid>
              <a:tr h="585788">
                <a:tc>
                  <a:txBody>
                    <a:bodyPr/>
                    <a:lstStyle/>
                    <a:p>
                      <a:r>
                        <a:rPr sz="1725" b="1">
                          <a:solidFill>
                            <a:srgbClr val="FFFFFF"/>
                          </a:solidFill>
                          <a:latin typeface="Arial"/>
                          <a:ea typeface="Arial"/>
                          <a:cs typeface="Arial"/>
                        </a:rPr>
                        <a:t>Recorded evidence</a:t>
                      </a:r>
                    </a:p>
                  </a:txBody>
                  <a:tcPr marL="91440" marR="91440" marT="45720" marB="45720">
                    <a:solidFill>
                      <a:srgbClr val="123D38"/>
                    </a:solidFill>
                  </a:tcPr>
                </a:tc>
                <a:tc>
                  <a:txBody>
                    <a:bodyPr/>
                    <a:lstStyle/>
                    <a:p>
                      <a:r>
                        <a:rPr sz="1725" b="1">
                          <a:solidFill>
                            <a:srgbClr val="FFFFFF"/>
                          </a:solidFill>
                          <a:latin typeface="Arial"/>
                          <a:ea typeface="Arial"/>
                          <a:cs typeface="Arial"/>
                        </a:rPr>
                        <a:t>Next acceptance evidence</a:t>
                      </a:r>
                    </a:p>
                  </a:txBody>
                  <a:tcPr marL="91440" marR="91440" marT="45720" marB="45720">
                    <a:solidFill>
                      <a:srgbClr val="123D38"/>
                    </a:solidFill>
                  </a:tcPr>
                </a:tc>
              </a:tr>
              <a:tr h="585788">
                <a:tc>
                  <a:txBody>
                    <a:bodyPr/>
                    <a:lstStyle/>
                    <a:p>
                      <a:r>
                        <a:rPr sz="1725" b="0">
                          <a:solidFill>
                            <a:srgbClr val="172E2B"/>
                          </a:solidFill>
                          <a:latin typeface="Arial"/>
                          <a:ea typeface="Arial"/>
                          <a:cs typeface="Arial"/>
                        </a:rPr>
                        <a:t>60 journeys on each of two Android emulators</a:t>
                      </a:r>
                    </a:p>
                  </a:txBody>
                  <a:tcPr marL="91440" marR="91440" marT="45720" marB="45720">
                    <a:solidFill>
                      <a:srgbClr val="FFFFFF"/>
                    </a:solidFill>
                  </a:tcPr>
                </a:tc>
                <a:tc>
                  <a:txBody>
                    <a:bodyPr/>
                    <a:lstStyle/>
                    <a:p>
                      <a:r>
                        <a:rPr sz="1725" b="0">
                          <a:solidFill>
                            <a:srgbClr val="172E2B"/>
                          </a:solidFill>
                          <a:latin typeface="Arial"/>
                          <a:ea typeface="Arial"/>
                          <a:cs typeface="Arial"/>
                        </a:rPr>
                        <a:t>Three-phone relay and recovery</a:t>
                      </a:r>
                    </a:p>
                  </a:txBody>
                  <a:tcPr marL="91440" marR="91440" marT="45720" marB="45720">
                    <a:solidFill>
                      <a:srgbClr val="FFFFFF"/>
                    </a:solidFill>
                  </a:tcPr>
                </a:tc>
              </a:tr>
              <a:tr h="585788">
                <a:tc>
                  <a:txBody>
                    <a:bodyPr/>
                    <a:lstStyle/>
                    <a:p>
                      <a:r>
                        <a:rPr sz="1725" b="0">
                          <a:solidFill>
                            <a:srgbClr val="172E2B"/>
                          </a:solidFill>
                          <a:latin typeface="Arial"/>
                          <a:ea typeface="Arial"/>
                          <a:cs typeface="Arial"/>
                        </a:rPr>
                        <a:t>Signed receipt acceptance and rejection</a:t>
                      </a:r>
                    </a:p>
                  </a:txBody>
                  <a:tcPr marL="91440" marR="91440" marT="45720" marB="45720">
                    <a:solidFill>
                      <a:srgbClr val="EDF3EF"/>
                    </a:solidFill>
                  </a:tcPr>
                </a:tc>
                <a:tc>
                  <a:txBody>
                    <a:bodyPr/>
                    <a:lstStyle/>
                    <a:p>
                      <a:r>
                        <a:rPr sz="1725" b="0">
                          <a:solidFill>
                            <a:srgbClr val="172E2B"/>
                          </a:solidFill>
                          <a:latin typeface="Arial"/>
                          <a:ea typeface="Arial"/>
                          <a:cs typeface="Arial"/>
                        </a:rPr>
                        <a:t>Camera verification in airplane mode</a:t>
                      </a:r>
                    </a:p>
                  </a:txBody>
                  <a:tcPr marL="91440" marR="91440" marT="45720" marB="45720">
                    <a:solidFill>
                      <a:srgbClr val="EDF3EF"/>
                    </a:solidFill>
                  </a:tcPr>
                </a:tc>
              </a:tr>
              <a:tr h="585788">
                <a:tc>
                  <a:txBody>
                    <a:bodyPr/>
                    <a:lstStyle/>
                    <a:p>
                      <a:r>
                        <a:rPr sz="1725" b="0">
                          <a:solidFill>
                            <a:srgbClr val="172E2B"/>
                          </a:solidFill>
                          <a:latin typeface="Arial"/>
                          <a:ea typeface="Arial"/>
                          <a:cs typeface="Arial"/>
                        </a:rPr>
                        <a:t>Bundled bilingual and model workflows</a:t>
                      </a:r>
                    </a:p>
                  </a:txBody>
                  <a:tcPr marL="91440" marR="91440" marT="45720" marB="45720">
                    <a:solidFill>
                      <a:srgbClr val="FFFFFF"/>
                    </a:solidFill>
                  </a:tcPr>
                </a:tc>
                <a:tc>
                  <a:txBody>
                    <a:bodyPr/>
                    <a:lstStyle/>
                    <a:p>
                      <a:r>
                        <a:rPr sz="1725" b="0">
                          <a:solidFill>
                            <a:srgbClr val="172E2B"/>
                          </a:solidFill>
                          <a:latin typeface="Arial"/>
                          <a:ea typeface="Arial"/>
                          <a:cs typeface="Arial"/>
                        </a:rPr>
                        <a:t>Human task completion and accessibility</a:t>
                      </a:r>
                    </a:p>
                  </a:txBody>
                  <a:tcPr marL="91440" marR="91440" marT="45720" marB="45720">
                    <a:solidFill>
                      <a:srgbClr val="FFFFFF"/>
                    </a:solidFill>
                  </a:tcPr>
                </a:tc>
              </a:tr>
              <a:tr h="585788">
                <a:tc>
                  <a:txBody>
                    <a:bodyPr/>
                    <a:lstStyle/>
                    <a:p>
                      <a:r>
                        <a:rPr sz="1725" b="0">
                          <a:solidFill>
                            <a:srgbClr val="172E2B"/>
                          </a:solidFill>
                          <a:latin typeface="Arial"/>
                          <a:ea typeface="Arial"/>
                          <a:cs typeface="Arial"/>
                        </a:rPr>
                        <a:t>Local observer replay after disconnection</a:t>
                      </a:r>
                    </a:p>
                  </a:txBody>
                  <a:tcPr marL="91440" marR="91440" marT="45720" marB="45720">
                    <a:solidFill>
                      <a:srgbClr val="EDF3EF"/>
                    </a:solidFill>
                  </a:tcPr>
                </a:tc>
                <a:tc>
                  <a:txBody>
                    <a:bodyPr/>
                    <a:lstStyle/>
                    <a:p>
                      <a:r>
                        <a:rPr sz="1725" b="0">
                          <a:solidFill>
                            <a:srgbClr val="172E2B"/>
                          </a:solidFill>
                          <a:latin typeface="Arial"/>
                          <a:ea typeface="Arial"/>
                          <a:cs typeface="Arial"/>
                        </a:rPr>
                        <a:t>Phone continuity with the laptop off</a:t>
                      </a:r>
                    </a:p>
                  </a:txBody>
                  <a:tcPr marL="91440" marR="91440" marT="45720" marB="45720">
                    <a:solidFill>
                      <a:srgbClr val="EDF3EF"/>
                    </a:solidFill>
                  </a:tcPr>
                </a:tc>
              </a:tr>
              <a:tr h="585788">
                <a:tc>
                  <a:txBody>
                    <a:bodyPr/>
                    <a:lstStyle/>
                    <a:p>
                      <a:r>
                        <a:rPr sz="1725" b="0">
                          <a:solidFill>
                            <a:srgbClr val="172E2B"/>
                          </a:solidFill>
                          <a:latin typeface="Arial"/>
                          <a:ea typeface="Arial"/>
                          <a:cs typeface="Arial"/>
                        </a:rPr>
                        <a:t>Reproducible local verification scripts</a:t>
                      </a:r>
                    </a:p>
                  </a:txBody>
                  <a:tcPr marL="91440" marR="91440" marT="45720" marB="45720">
                    <a:solidFill>
                      <a:srgbClr val="FFFFFF"/>
                    </a:solidFill>
                  </a:tcPr>
                </a:tc>
                <a:tc>
                  <a:txBody>
                    <a:bodyPr/>
                    <a:lstStyle/>
                    <a:p>
                      <a:r>
                        <a:rPr sz="1725" b="0">
                          <a:solidFill>
                            <a:srgbClr val="172E2B"/>
                          </a:solidFill>
                          <a:latin typeface="Arial"/>
                          <a:ea typeface="Arial"/>
                          <a:cs typeface="Arial"/>
                        </a:rPr>
                        <a:t>Target-phone battery, memory and latency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665B4C8-4F10-44CD-8A5D-6057EB4390D3}"/>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Existing dated evidence. The 10,000-stream laptop test measures connection capacity, not physical mesh readiness.</a:t>
            </a:r>
          </a:p>
        </p:txBody>
      </p:sp>
    </p:spTree>
    <p:extLst>
      <p:ext uri="{BB962C8B-B14F-4D97-AF65-F5344CB8AC3E}">
        <p14:creationId xmlns:p14="http://schemas.microsoft.com/office/powerpoint/2010/main" val="100726659"/>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F58DF-F30C-4723-B7E3-04737C7B3EB3}"/>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next step is one controlled exercise</a:t>
            </a:r>
          </a:p>
        </p:txBody>
      </p:sp>
      <p:sp>
        <p:nvSpPr>
          <p:cNvPr id="2" name="">
            <a:extLst xmlns:a="http://schemas.openxmlformats.org/drawingml/2006/main">
              <a:ext uri="{FF2B5EF4-FFF2-40B4-BE49-F238E27FC236}">
                <a16:creationId xmlns:a16="http://schemas.microsoft.com/office/drawing/2014/main" id="{17F0BCCC-593A-4D7C-AE02-6E64AD6C8E33}"/>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 sponsor, an operational owner and a measured delivery scenario.</a:t>
            </a:r>
          </a:p>
        </p:txBody>
      </p:sp>
      <p:sp>
        <p:nvSpPr>
          <p:cNvPr id="3" name="">
            <a:extLst xmlns:a="http://schemas.openxmlformats.org/drawingml/2006/main">
              <a:ext uri="{FF2B5EF4-FFF2-40B4-BE49-F238E27FC236}">
                <a16:creationId xmlns:a16="http://schemas.microsoft.com/office/drawing/2014/main" id="{4469510D-D051-4607-8494-B21E31957575}"/>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6B1CA099-83E2-4764-957D-FDBA0CFA2396}"/>
              </a:ext>
            </a:extLst>
          </p:cNvPr>
          <p:cNvSpPr>
            <a:spLocks xmlns:a="http://schemas.openxmlformats.org/drawingml/2006/main" noGrp="1"/>
          </p:cNvSpPr>
          <p:nvPr/>
        </p:nvSpPr>
        <p:spPr>
          <a:xfrm xmlns:a="http://schemas.openxmlformats.org/drawingml/2006/main">
            <a:off x="619125" y="2447925"/>
            <a:ext cx="49053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123D38"/>
                </a:solidFill>
                <a:latin typeface="Georgia"/>
                <a:ea typeface="Georgia"/>
                <a:cs typeface="Georgia"/>
              </a:defRPr>
            </a:pPr>
            <a:r>
              <a:rPr sz="3000" b="0">
                <a:solidFill>
                  <a:srgbClr val="123D38"/>
                </a:solidFill>
                <a:latin typeface="Georgia"/>
                <a:ea typeface="Georgia"/>
                <a:cs typeface="Georgia"/>
              </a:rPr>
              <a:t>One referral chain.</a:t>
            </a:r>
          </a:p>
          <a:p xmlns:a="http://schemas.openxmlformats.org/drawingml/2006/main">
            <a:pPr>
              <a:defRPr sz="3000" b="0">
                <a:solidFill>
                  <a:srgbClr val="123D38"/>
                </a:solidFill>
                <a:latin typeface="Georgia"/>
                <a:ea typeface="Georgia"/>
                <a:cs typeface="Georgia"/>
              </a:defRPr>
            </a:pPr>
            <a:r>
              <a:rPr sz="3000" b="0">
                <a:solidFill>
                  <a:srgbClr val="123D38"/>
                </a:solidFill>
                <a:latin typeface="Georgia"/>
                <a:ea typeface="Georgia"/>
                <a:cs typeface="Georgia"/>
              </a:rPr>
              <a:t>A clear acceptance decision.</a:t>
            </a:r>
          </a:p>
        </p:txBody>
      </p:sp>
      <p:sp>
        <p:nvSpPr>
          <p:cNvPr id="5" name="">
            <a:extLst xmlns:a="http://schemas.openxmlformats.org/drawingml/2006/main">
              <a:ext uri="{FF2B5EF4-FFF2-40B4-BE49-F238E27FC236}">
                <a16:creationId xmlns:a16="http://schemas.microsoft.com/office/drawing/2014/main" id="{577D1237-9C1C-4CC6-B9D0-738E8000E497}"/>
              </a:ext>
            </a:extLst>
          </p:cNvPr>
          <p:cNvSpPr>
            <a:spLocks xmlns:a="http://schemas.openxmlformats.org/drawingml/2006/main" noGrp="1"/>
          </p:cNvSpPr>
          <p:nvPr/>
        </p:nvSpPr>
        <p:spPr>
          <a:xfrm xmlns:a="http://schemas.openxmlformats.org/drawingml/2006/main">
            <a:off x="628650" y="4572000"/>
            <a:ext cx="5095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Touhidul Alam Seyam</a:t>
            </a:r>
          </a:p>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BGC Trust University Bangladesh</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6aefcfca0fb4705"/>
          <a:stretch xmlns:a="http://schemas.openxmlformats.org/drawingml/2006/main"/>
        </p:blipFill>
        <p:spPr>
          <a:xfrm xmlns:a="http://schemas.openxmlformats.org/drawingml/2006/main">
            <a:off x="6267450" y="2149475"/>
            <a:ext cx="5295900" cy="3530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F9C415F-1C65-4382-B162-DC5BF9A5BE29}"/>
              </a:ext>
            </a:extLst>
          </p:cNvPr>
          <p:cNvSpPr>
            <a:spLocks xmlns:a="http://schemas.openxmlformats.org/drawingml/2006/main" noGrp="1"/>
          </p:cNvSpPr>
          <p:nvPr/>
        </p:nvSpPr>
        <p:spPr>
          <a:xfrm xmlns:a="http://schemas.openxmlformats.org/drawingml/2006/main">
            <a:off x="6267450" y="5848350"/>
            <a:ext cx="485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Concept illustration</a:t>
            </a:r>
          </a:p>
        </p:txBody>
      </p:sp>
    </p:spTree>
    <p:extLst>
      <p:ext uri="{BB962C8B-B14F-4D97-AF65-F5344CB8AC3E}">
        <p14:creationId xmlns:p14="http://schemas.microsoft.com/office/powerpoint/2010/main" val="883912721"/>
      </p:ext>
    </p:extLst>
  </p:cSld>
</p:sld>
</file>

<file path=ppt/slides/slide1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0D01C37-ED79-472E-B937-757CDEE47DBE}"/>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phone owns its operational stack</a:t>
            </a:r>
          </a:p>
        </p:txBody>
      </p:sp>
      <p:sp>
        <p:nvSpPr>
          <p:cNvPr id="2" name="">
            <a:extLst xmlns:a="http://schemas.openxmlformats.org/drawingml/2006/main">
              <a:ext uri="{FF2B5EF4-FFF2-40B4-BE49-F238E27FC236}">
                <a16:creationId xmlns:a16="http://schemas.microsoft.com/office/drawing/2014/main" id="{5B677C7C-C78A-400E-ACF2-5A6D56651C93}"/>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8972B49F-61B6-4BE6-AB22-13B5675BD494}"/>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6ECDEEE2-EEA2-4AB4-80AB-9407A36C7058}"/>
              </a:ext>
            </a:extLst>
          </p:cNvPr>
          <p:cNvSpPr>
            <a:spLocks xmlns:a="http://schemas.openxmlformats.org/drawingml/2006/main" noGrp="1"/>
          </p:cNvSpPr>
          <p:nvPr/>
        </p:nvSpPr>
        <p:spPr>
          <a:xfrm xmlns:a="http://schemas.openxmlformats.org/drawingml/2006/main">
            <a:off x="2232660" y="1881188"/>
            <a:ext cx="7726680" cy="92868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BC51EB7C-D58D-49D9-9703-4EEB017A35D9}"/>
              </a:ext>
            </a:extLst>
          </p:cNvPr>
          <p:cNvSpPr>
            <a:spLocks xmlns:a="http://schemas.openxmlformats.org/drawingml/2006/main" noGrp="1"/>
          </p:cNvSpPr>
          <p:nvPr/>
        </p:nvSpPr>
        <p:spPr>
          <a:xfrm xmlns:a="http://schemas.openxmlformats.org/drawingml/2006/main">
            <a:off x="2232660" y="1881188"/>
            <a:ext cx="7726680"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181186-10FC-4F5F-99B7-995F4CE2B13F}"/>
              </a:ext>
            </a:extLst>
          </p:cNvPr>
          <p:cNvSpPr>
            <a:spLocks xmlns:a="http://schemas.openxmlformats.org/drawingml/2006/main" noGrp="1"/>
          </p:cNvSpPr>
          <p:nvPr/>
        </p:nvSpPr>
        <p:spPr>
          <a:xfrm xmlns:a="http://schemas.openxmlformats.org/drawingml/2006/main">
            <a:off x="2358962" y="2007489"/>
            <a:ext cx="751865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INTERFACE</a:t>
            </a:r>
          </a:p>
        </p:txBody>
      </p:sp>
      <p:sp>
        <p:nvSpPr>
          <p:cNvPr id="7" name="">
            <a:extLst xmlns:a="http://schemas.openxmlformats.org/drawingml/2006/main">
              <a:ext uri="{FF2B5EF4-FFF2-40B4-BE49-F238E27FC236}">
                <a16:creationId xmlns:a16="http://schemas.microsoft.com/office/drawing/2014/main" id="{671A22E8-BC0C-4BCB-BA06-55BEE68F5126}"/>
              </a:ext>
            </a:extLst>
          </p:cNvPr>
          <p:cNvSpPr>
            <a:spLocks xmlns:a="http://schemas.openxmlformats.org/drawingml/2006/main" noGrp="1"/>
          </p:cNvSpPr>
          <p:nvPr/>
        </p:nvSpPr>
        <p:spPr>
          <a:xfrm xmlns:a="http://schemas.openxmlformats.org/drawingml/2006/main">
            <a:off x="2358962" y="2252663"/>
            <a:ext cx="7518654"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Compose and ViewModels</a:t>
            </a:r>
          </a:p>
        </p:txBody>
      </p:sp>
      <p:sp>
        <p:nvSpPr>
          <p:cNvPr id="8" name="">
            <a:extLst xmlns:a="http://schemas.openxmlformats.org/drawingml/2006/main">
              <a:ext uri="{FF2B5EF4-FFF2-40B4-BE49-F238E27FC236}">
                <a16:creationId xmlns:a16="http://schemas.microsoft.com/office/drawing/2014/main" id="{3EF79F05-2D37-401D-A6A0-9F64B0F3C197}"/>
              </a:ext>
            </a:extLst>
          </p:cNvPr>
          <p:cNvSpPr>
            <a:spLocks xmlns:a="http://schemas.openxmlformats.org/drawingml/2006/main" noGrp="1"/>
          </p:cNvSpPr>
          <p:nvPr/>
        </p:nvSpPr>
        <p:spPr>
          <a:xfrm xmlns:a="http://schemas.openxmlformats.org/drawingml/2006/main">
            <a:off x="2358962" y="2579561"/>
            <a:ext cx="7503795" cy="215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Bundled Bangla and English read the same local mission.</a:t>
            </a:r>
          </a:p>
        </p:txBody>
      </p:sp>
      <p:sp>
        <p:nvSpPr>
          <p:cNvPr id="9" name="">
            <a:extLst xmlns:a="http://schemas.openxmlformats.org/drawingml/2006/main">
              <a:ext uri="{FF2B5EF4-FFF2-40B4-BE49-F238E27FC236}">
                <a16:creationId xmlns:a16="http://schemas.microsoft.com/office/drawing/2014/main" id="{CB9D5E14-8D5A-445F-9D7C-F1C4909E19AC}"/>
              </a:ext>
            </a:extLst>
          </p:cNvPr>
          <p:cNvSpPr>
            <a:spLocks xmlns:a="http://schemas.openxmlformats.org/drawingml/2006/main" noGrp="1"/>
          </p:cNvSpPr>
          <p:nvPr/>
        </p:nvSpPr>
        <p:spPr>
          <a:xfrm xmlns:a="http://schemas.openxmlformats.org/drawingml/2006/main">
            <a:off x="2232660" y="3240786"/>
            <a:ext cx="7726680" cy="965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FE55A3C5-F231-4CDA-8930-DB719BE6E0E8}"/>
              </a:ext>
            </a:extLst>
          </p:cNvPr>
          <p:cNvSpPr>
            <a:spLocks xmlns:a="http://schemas.openxmlformats.org/drawingml/2006/main" noGrp="1"/>
          </p:cNvSpPr>
          <p:nvPr/>
        </p:nvSpPr>
        <p:spPr>
          <a:xfrm xmlns:a="http://schemas.openxmlformats.org/drawingml/2006/main">
            <a:off x="2232660" y="3240786"/>
            <a:ext cx="7726680"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6A28F2-7901-4A3D-AE96-8A1628683AE9}"/>
              </a:ext>
            </a:extLst>
          </p:cNvPr>
          <p:cNvSpPr>
            <a:spLocks xmlns:a="http://schemas.openxmlformats.org/drawingml/2006/main" noGrp="1"/>
          </p:cNvSpPr>
          <p:nvPr/>
        </p:nvSpPr>
        <p:spPr>
          <a:xfrm xmlns:a="http://schemas.openxmlformats.org/drawingml/2006/main">
            <a:off x="2358962" y="3367088"/>
            <a:ext cx="751865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DOMAIN</a:t>
            </a:r>
          </a:p>
        </p:txBody>
      </p:sp>
      <p:sp>
        <p:nvSpPr>
          <p:cNvPr id="12" name="">
            <a:extLst xmlns:a="http://schemas.openxmlformats.org/drawingml/2006/main">
              <a:ext uri="{FF2B5EF4-FFF2-40B4-BE49-F238E27FC236}">
                <a16:creationId xmlns:a16="http://schemas.microsoft.com/office/drawing/2014/main" id="{A52F7AE5-4ABF-4EBB-A7A1-042B7ADC27C9}"/>
              </a:ext>
            </a:extLst>
          </p:cNvPr>
          <p:cNvSpPr>
            <a:spLocks xmlns:a="http://schemas.openxmlformats.org/drawingml/2006/main" noGrp="1"/>
          </p:cNvSpPr>
          <p:nvPr/>
        </p:nvSpPr>
        <p:spPr>
          <a:xfrm xmlns:a="http://schemas.openxmlformats.org/drawingml/2006/main">
            <a:off x="2358962" y="3612261"/>
            <a:ext cx="7518654"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Policies and repositories</a:t>
            </a:r>
          </a:p>
        </p:txBody>
      </p:sp>
      <p:sp>
        <p:nvSpPr>
          <p:cNvPr id="13" name="">
            <a:extLst xmlns:a="http://schemas.openxmlformats.org/drawingml/2006/main">
              <a:ext uri="{FF2B5EF4-FFF2-40B4-BE49-F238E27FC236}">
                <a16:creationId xmlns:a16="http://schemas.microsoft.com/office/drawing/2014/main" id="{88956BE4-84DE-41FC-B53F-A8D08514D91B}"/>
              </a:ext>
            </a:extLst>
          </p:cNvPr>
          <p:cNvSpPr>
            <a:spLocks xmlns:a="http://schemas.openxmlformats.org/drawingml/2006/main" noGrp="1"/>
          </p:cNvSpPr>
          <p:nvPr/>
        </p:nvSpPr>
        <p:spPr>
          <a:xfrm xmlns:a="http://schemas.openxmlformats.org/drawingml/2006/main">
            <a:off x="2358962" y="3939159"/>
            <a:ext cx="7503795" cy="252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Identity, conflicts, routing, priority and custody.</a:t>
            </a:r>
          </a:p>
        </p:txBody>
      </p:sp>
      <p:sp>
        <p:nvSpPr>
          <p:cNvPr id="14" name="">
            <a:extLst xmlns:a="http://schemas.openxmlformats.org/drawingml/2006/main">
              <a:ext uri="{FF2B5EF4-FFF2-40B4-BE49-F238E27FC236}">
                <a16:creationId xmlns:a16="http://schemas.microsoft.com/office/drawing/2014/main" id="{FD771A3E-EE30-421C-A5B4-340A48778DC8}"/>
              </a:ext>
            </a:extLst>
          </p:cNvPr>
          <p:cNvSpPr>
            <a:spLocks xmlns:a="http://schemas.openxmlformats.org/drawingml/2006/main" noGrp="1"/>
          </p:cNvSpPr>
          <p:nvPr/>
        </p:nvSpPr>
        <p:spPr>
          <a:xfrm xmlns:a="http://schemas.openxmlformats.org/drawingml/2006/main">
            <a:off x="1898333" y="4771263"/>
            <a:ext cx="2563178"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745711F6-1CD9-4A0A-834A-D6CBA6CF82B0}"/>
              </a:ext>
            </a:extLst>
          </p:cNvPr>
          <p:cNvSpPr>
            <a:spLocks xmlns:a="http://schemas.openxmlformats.org/drawingml/2006/main" noGrp="1"/>
          </p:cNvSpPr>
          <p:nvPr/>
        </p:nvSpPr>
        <p:spPr>
          <a:xfrm xmlns:a="http://schemas.openxmlformats.org/drawingml/2006/main">
            <a:off x="1898333" y="4771263"/>
            <a:ext cx="2563178"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A2900E5-166D-4B66-9623-1F2BC1916FCC}"/>
              </a:ext>
            </a:extLst>
          </p:cNvPr>
          <p:cNvSpPr>
            <a:spLocks xmlns:a="http://schemas.openxmlformats.org/drawingml/2006/main" noGrp="1"/>
          </p:cNvSpPr>
          <p:nvPr/>
        </p:nvSpPr>
        <p:spPr>
          <a:xfrm xmlns:a="http://schemas.openxmlformats.org/drawingml/2006/main">
            <a:off x="2024634" y="4897565"/>
            <a:ext cx="235515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PERSISTENCE</a:t>
            </a:r>
          </a:p>
        </p:txBody>
      </p:sp>
      <p:sp>
        <p:nvSpPr>
          <p:cNvPr id="17" name="">
            <a:extLst xmlns:a="http://schemas.openxmlformats.org/drawingml/2006/main">
              <a:ext uri="{FF2B5EF4-FFF2-40B4-BE49-F238E27FC236}">
                <a16:creationId xmlns:a16="http://schemas.microsoft.com/office/drawing/2014/main" id="{5C21650D-7752-47E6-9520-CD7A7D453098}"/>
              </a:ext>
            </a:extLst>
          </p:cNvPr>
          <p:cNvSpPr>
            <a:spLocks xmlns:a="http://schemas.openxmlformats.org/drawingml/2006/main" noGrp="1"/>
          </p:cNvSpPr>
          <p:nvPr/>
        </p:nvSpPr>
        <p:spPr>
          <a:xfrm xmlns:a="http://schemas.openxmlformats.org/drawingml/2006/main">
            <a:off x="2024634" y="5142738"/>
            <a:ext cx="2355152"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Room and DataStore</a:t>
            </a:r>
          </a:p>
        </p:txBody>
      </p:sp>
      <p:sp>
        <p:nvSpPr>
          <p:cNvPr id="18" name="">
            <a:extLst xmlns:a="http://schemas.openxmlformats.org/drawingml/2006/main">
              <a:ext uri="{FF2B5EF4-FFF2-40B4-BE49-F238E27FC236}">
                <a16:creationId xmlns:a16="http://schemas.microsoft.com/office/drawing/2014/main" id="{851CAEBB-C1F6-4F50-B3A9-DBCECEEAEEBA}"/>
              </a:ext>
            </a:extLst>
          </p:cNvPr>
          <p:cNvSpPr>
            <a:spLocks xmlns:a="http://schemas.openxmlformats.org/drawingml/2006/main" noGrp="1"/>
          </p:cNvSpPr>
          <p:nvPr/>
        </p:nvSpPr>
        <p:spPr>
          <a:xfrm xmlns:a="http://schemas.openxmlformats.org/drawingml/2006/main">
            <a:off x="2024634" y="5469636"/>
            <a:ext cx="2340293"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Events, queues and profile</a:t>
            </a:r>
          </a:p>
        </p:txBody>
      </p:sp>
      <p:sp>
        <p:nvSpPr>
          <p:cNvPr id="19" name="">
            <a:extLst xmlns:a="http://schemas.openxmlformats.org/drawingml/2006/main">
              <a:ext uri="{FF2B5EF4-FFF2-40B4-BE49-F238E27FC236}">
                <a16:creationId xmlns:a16="http://schemas.microsoft.com/office/drawing/2014/main" id="{6EDC2BFE-CBD2-4EF0-A70F-2E330CF84E85}"/>
              </a:ext>
            </a:extLst>
          </p:cNvPr>
          <p:cNvSpPr>
            <a:spLocks xmlns:a="http://schemas.openxmlformats.org/drawingml/2006/main" noGrp="1"/>
          </p:cNvSpPr>
          <p:nvPr/>
        </p:nvSpPr>
        <p:spPr>
          <a:xfrm xmlns:a="http://schemas.openxmlformats.org/drawingml/2006/main">
            <a:off x="4795838" y="4771263"/>
            <a:ext cx="2563178"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20346DBB-83A4-4CC4-B7AE-0AC28217D385}"/>
              </a:ext>
            </a:extLst>
          </p:cNvPr>
          <p:cNvSpPr>
            <a:spLocks xmlns:a="http://schemas.openxmlformats.org/drawingml/2006/main" noGrp="1"/>
          </p:cNvSpPr>
          <p:nvPr/>
        </p:nvSpPr>
        <p:spPr>
          <a:xfrm xmlns:a="http://schemas.openxmlformats.org/drawingml/2006/main">
            <a:off x="4795838" y="4771263"/>
            <a:ext cx="2563178"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7B4FA82-954A-4D00-A947-51DFFFA92BE3}"/>
              </a:ext>
            </a:extLst>
          </p:cNvPr>
          <p:cNvSpPr>
            <a:spLocks xmlns:a="http://schemas.openxmlformats.org/drawingml/2006/main" noGrp="1"/>
          </p:cNvSpPr>
          <p:nvPr/>
        </p:nvSpPr>
        <p:spPr>
          <a:xfrm xmlns:a="http://schemas.openxmlformats.org/drawingml/2006/main">
            <a:off x="4922139" y="4897565"/>
            <a:ext cx="235515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LOCAL CAPABILITY</a:t>
            </a:r>
          </a:p>
        </p:txBody>
      </p:sp>
      <p:sp>
        <p:nvSpPr>
          <p:cNvPr id="22" name="">
            <a:extLst xmlns:a="http://schemas.openxmlformats.org/drawingml/2006/main">
              <a:ext uri="{FF2B5EF4-FFF2-40B4-BE49-F238E27FC236}">
                <a16:creationId xmlns:a16="http://schemas.microsoft.com/office/drawing/2014/main" id="{ACEF475F-5AFF-4361-8208-A4EC9E74DC71}"/>
              </a:ext>
            </a:extLst>
          </p:cNvPr>
          <p:cNvSpPr>
            <a:spLocks xmlns:a="http://schemas.openxmlformats.org/drawingml/2006/main" noGrp="1"/>
          </p:cNvSpPr>
          <p:nvPr/>
        </p:nvSpPr>
        <p:spPr>
          <a:xfrm xmlns:a="http://schemas.openxmlformats.org/drawingml/2006/main">
            <a:off x="4922139" y="5142738"/>
            <a:ext cx="2355152"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Keystore and ONNX</a:t>
            </a:r>
          </a:p>
        </p:txBody>
      </p:sp>
      <p:sp>
        <p:nvSpPr>
          <p:cNvPr id="23" name="">
            <a:extLst xmlns:a="http://schemas.openxmlformats.org/drawingml/2006/main">
              <a:ext uri="{FF2B5EF4-FFF2-40B4-BE49-F238E27FC236}">
                <a16:creationId xmlns:a16="http://schemas.microsoft.com/office/drawing/2014/main" id="{2F1BC686-C123-4E64-8ADE-28213C6B6FBB}"/>
              </a:ext>
            </a:extLst>
          </p:cNvPr>
          <p:cNvSpPr>
            <a:spLocks xmlns:a="http://schemas.openxmlformats.org/drawingml/2006/main" noGrp="1"/>
          </p:cNvSpPr>
          <p:nvPr/>
        </p:nvSpPr>
        <p:spPr>
          <a:xfrm xmlns:a="http://schemas.openxmlformats.org/drawingml/2006/main">
            <a:off x="4922139" y="5469636"/>
            <a:ext cx="2340293"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Protected keys and inference</a:t>
            </a:r>
          </a:p>
        </p:txBody>
      </p:sp>
      <p:sp>
        <p:nvSpPr>
          <p:cNvPr id="24" name="">
            <a:extLst xmlns:a="http://schemas.openxmlformats.org/drawingml/2006/main">
              <a:ext uri="{FF2B5EF4-FFF2-40B4-BE49-F238E27FC236}">
                <a16:creationId xmlns:a16="http://schemas.microsoft.com/office/drawing/2014/main" id="{2FA83DD3-E75A-42BF-B8B1-971BEB1FA2C9}"/>
              </a:ext>
            </a:extLst>
          </p:cNvPr>
          <p:cNvSpPr>
            <a:spLocks xmlns:a="http://schemas.openxmlformats.org/drawingml/2006/main" noGrp="1"/>
          </p:cNvSpPr>
          <p:nvPr/>
        </p:nvSpPr>
        <p:spPr>
          <a:xfrm xmlns:a="http://schemas.openxmlformats.org/drawingml/2006/main">
            <a:off x="7693343" y="4771263"/>
            <a:ext cx="2563178"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5" name="">
            <a:extLst xmlns:a="http://schemas.openxmlformats.org/drawingml/2006/main">
              <a:ext uri="{FF2B5EF4-FFF2-40B4-BE49-F238E27FC236}">
                <a16:creationId xmlns:a16="http://schemas.microsoft.com/office/drawing/2014/main" id="{25DC49A6-1147-4A0D-9637-D49A4D1D6BEC}"/>
              </a:ext>
            </a:extLst>
          </p:cNvPr>
          <p:cNvSpPr>
            <a:spLocks xmlns:a="http://schemas.openxmlformats.org/drawingml/2006/main" noGrp="1"/>
          </p:cNvSpPr>
          <p:nvPr/>
        </p:nvSpPr>
        <p:spPr>
          <a:xfrm xmlns:a="http://schemas.openxmlformats.org/drawingml/2006/main">
            <a:off x="7693343" y="4771263"/>
            <a:ext cx="2563178"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1DC4886-CB0E-4BC4-BA5B-E4FDC5C359BE}"/>
              </a:ext>
            </a:extLst>
          </p:cNvPr>
          <p:cNvSpPr>
            <a:spLocks xmlns:a="http://schemas.openxmlformats.org/drawingml/2006/main" noGrp="1"/>
          </p:cNvSpPr>
          <p:nvPr/>
        </p:nvSpPr>
        <p:spPr>
          <a:xfrm xmlns:a="http://schemas.openxmlformats.org/drawingml/2006/main">
            <a:off x="7819644" y="4897565"/>
            <a:ext cx="235515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TRANSPORT</a:t>
            </a:r>
          </a:p>
        </p:txBody>
      </p:sp>
      <p:sp>
        <p:nvSpPr>
          <p:cNvPr id="27" name="">
            <a:extLst xmlns:a="http://schemas.openxmlformats.org/drawingml/2006/main">
              <a:ext uri="{FF2B5EF4-FFF2-40B4-BE49-F238E27FC236}">
                <a16:creationId xmlns:a16="http://schemas.microsoft.com/office/drawing/2014/main" id="{F508EBF2-4CAB-4BC3-91C1-1152FB655125}"/>
              </a:ext>
            </a:extLst>
          </p:cNvPr>
          <p:cNvSpPr>
            <a:spLocks xmlns:a="http://schemas.openxmlformats.org/drawingml/2006/main" noGrp="1"/>
          </p:cNvSpPr>
          <p:nvPr/>
        </p:nvSpPr>
        <p:spPr>
          <a:xfrm xmlns:a="http://schemas.openxmlformats.org/drawingml/2006/main">
            <a:off x="7819644" y="5142738"/>
            <a:ext cx="2355152"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Nearby service</a:t>
            </a:r>
          </a:p>
        </p:txBody>
      </p:sp>
      <p:sp>
        <p:nvSpPr>
          <p:cNvPr id="28" name="">
            <a:extLst xmlns:a="http://schemas.openxmlformats.org/drawingml/2006/main">
              <a:ext uri="{FF2B5EF4-FFF2-40B4-BE49-F238E27FC236}">
                <a16:creationId xmlns:a16="http://schemas.microsoft.com/office/drawing/2014/main" id="{497EF4DB-F43F-46FD-9186-066D938736D4}"/>
              </a:ext>
            </a:extLst>
          </p:cNvPr>
          <p:cNvSpPr>
            <a:spLocks xmlns:a="http://schemas.openxmlformats.org/drawingml/2006/main" noGrp="1"/>
          </p:cNvSpPr>
          <p:nvPr/>
        </p:nvSpPr>
        <p:spPr>
          <a:xfrm xmlns:a="http://schemas.openxmlformats.org/drawingml/2006/main">
            <a:off x="7819644" y="5469636"/>
            <a:ext cx="2340293"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Active foreground relay</a:t>
            </a:r>
          </a:p>
        </p:txBody>
      </p:sp>
      <p:cxnSp>
        <p:nvCxnSpPr>
          <p:cNvPr id="62" name=""/>
          <p:cNvCxnSpPr>
            <a:stCxn xmlns:a="http://schemas.openxmlformats.org/drawingml/2006/main" id="4" idx="2"/>
            <a:endCxn xmlns:a="http://schemas.openxmlformats.org/drawingml/2006/main" id="9" idx="0"/>
          </p:cNvCxnSpPr>
          <p:nvPr/>
        </p:nvCxnSpPr>
        <p:spPr>
          <a:xfrm xmlns:a="http://schemas.openxmlformats.org/drawingml/2006/main">
            <a:off x="6096000" y="2809876"/>
            <a:ext cx="0" cy="43091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3" name=""/>
          <p:cNvCxnSpPr>
            <a:stCxn xmlns:a="http://schemas.openxmlformats.org/drawingml/2006/main" id="9" idx="2"/>
            <a:endCxn xmlns:a="http://schemas.openxmlformats.org/drawingml/2006/main" id="14" idx="0"/>
          </p:cNvCxnSpPr>
          <p:nvPr/>
        </p:nvCxnSpPr>
        <p:spPr>
          <a:xfrm xmlns:a="http://schemas.openxmlformats.org/drawingml/2006/main" flipH="1">
            <a:off x="3179922" y="4206621"/>
            <a:ext cx="2916078" cy="564642"/>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4" name=""/>
          <p:cNvCxnSpPr>
            <a:stCxn xmlns:a="http://schemas.openxmlformats.org/drawingml/2006/main" id="9" idx="2"/>
            <a:endCxn xmlns:a="http://schemas.openxmlformats.org/drawingml/2006/main" id="19" idx="0"/>
          </p:cNvCxnSpPr>
          <p:nvPr/>
        </p:nvCxnSpPr>
        <p:spPr>
          <a:xfrm xmlns:a="http://schemas.openxmlformats.org/drawingml/2006/main" flipH="1">
            <a:off x="6077427" y="4206621"/>
            <a:ext cx="18573" cy="564642"/>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5" name=""/>
          <p:cNvCxnSpPr>
            <a:stCxn xmlns:a="http://schemas.openxmlformats.org/drawingml/2006/main" id="9" idx="2"/>
            <a:endCxn xmlns:a="http://schemas.openxmlformats.org/drawingml/2006/main" id="24" idx="0"/>
          </p:cNvCxnSpPr>
          <p:nvPr/>
        </p:nvCxnSpPr>
        <p:spPr>
          <a:xfrm xmlns:a="http://schemas.openxmlformats.org/drawingml/2006/main">
            <a:off x="6096000" y="4206621"/>
            <a:ext cx="2878932" cy="564642"/>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sp>
        <p:nvSpPr>
          <p:cNvPr id="33" name="">
            <a:extLst xmlns:a="http://schemas.openxmlformats.org/drawingml/2006/main">
              <a:ext uri="{FF2B5EF4-FFF2-40B4-BE49-F238E27FC236}">
                <a16:creationId xmlns:a16="http://schemas.microsoft.com/office/drawing/2014/main" id="{6E93407B-506A-4BB6-85A6-6CC18F08082B}"/>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editable diagram derived from repository architecture and documented acceptance boundaries.</a:t>
            </a:r>
          </a:p>
        </p:txBody>
      </p:sp>
    </p:spTree>
    <p:extLst>
      <p:ext uri="{BB962C8B-B14F-4D97-AF65-F5344CB8AC3E}">
        <p14:creationId xmlns:p14="http://schemas.microsoft.com/office/powerpoint/2010/main" val="797559353"/>
      </p:ext>
    </p:extLst>
  </p:cSld>
</p:sld>
</file>

<file path=ppt/slides/slide1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10550F5-92B0-4505-AF41-BEEB6EAF77CF}"/>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Optional observation stays outside field authority</a:t>
            </a:r>
          </a:p>
        </p:txBody>
      </p:sp>
      <p:sp>
        <p:nvSpPr>
          <p:cNvPr id="2" name="">
            <a:extLst xmlns:a="http://schemas.openxmlformats.org/drawingml/2006/main">
              <a:ext uri="{FF2B5EF4-FFF2-40B4-BE49-F238E27FC236}">
                <a16:creationId xmlns:a16="http://schemas.microsoft.com/office/drawing/2014/main" id="{C1279E87-38F9-4C40-AC25-CE64A4072B1B}"/>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F5195D5E-53F9-4330-BCC6-C8B91C6A166E}"/>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1F0FC0F-C977-4DA8-A81A-26A111237CBA}"/>
              </a:ext>
            </a:extLst>
          </p:cNvPr>
          <p:cNvSpPr>
            <a:spLocks xmlns:a="http://schemas.openxmlformats.org/drawingml/2006/main" noGrp="1"/>
          </p:cNvSpPr>
          <p:nvPr/>
        </p:nvSpPr>
        <p:spPr>
          <a:xfrm xmlns:a="http://schemas.openxmlformats.org/drawingml/2006/main">
            <a:off x="1749743" y="2185797"/>
            <a:ext cx="8692515" cy="1931670"/>
          </a:xfrm>
          <a:prstGeom xmlns:a="http://schemas.openxmlformats.org/drawingml/2006/main" prst="rect">
            <a:avLst/>
          </a:prstGeom>
          <a:noFill xmlns:a="http://schemas.openxmlformats.org/drawingml/2006/main"/>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91E5FCC0-97C8-4367-BC74-F52E1C68C0C3}"/>
              </a:ext>
            </a:extLst>
          </p:cNvPr>
          <p:cNvSpPr>
            <a:spLocks xmlns:a="http://schemas.openxmlformats.org/drawingml/2006/main" noGrp="1"/>
          </p:cNvSpPr>
          <p:nvPr/>
        </p:nvSpPr>
        <p:spPr>
          <a:xfrm xmlns:a="http://schemas.openxmlformats.org/drawingml/2006/main">
            <a:off x="1898333" y="2438400"/>
            <a:ext cx="2451735"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6" name="">
            <a:extLst xmlns:a="http://schemas.openxmlformats.org/drawingml/2006/main">
              <a:ext uri="{FF2B5EF4-FFF2-40B4-BE49-F238E27FC236}">
                <a16:creationId xmlns:a16="http://schemas.microsoft.com/office/drawing/2014/main" id="{04F15F65-6C21-4681-A92C-3762A524EDB1}"/>
              </a:ext>
            </a:extLst>
          </p:cNvPr>
          <p:cNvSpPr>
            <a:spLocks xmlns:a="http://schemas.openxmlformats.org/drawingml/2006/main" noGrp="1"/>
          </p:cNvSpPr>
          <p:nvPr/>
        </p:nvSpPr>
        <p:spPr>
          <a:xfrm xmlns:a="http://schemas.openxmlformats.org/drawingml/2006/main">
            <a:off x="1898333" y="2438400"/>
            <a:ext cx="245173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37D8D8-9A3E-44B3-993B-F57AB3076EC5}"/>
              </a:ext>
            </a:extLst>
          </p:cNvPr>
          <p:cNvSpPr>
            <a:spLocks xmlns:a="http://schemas.openxmlformats.org/drawingml/2006/main" noGrp="1"/>
          </p:cNvSpPr>
          <p:nvPr/>
        </p:nvSpPr>
        <p:spPr>
          <a:xfrm xmlns:a="http://schemas.openxmlformats.org/drawingml/2006/main">
            <a:off x="2024634" y="2564702"/>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CLINIC</a:t>
            </a:r>
          </a:p>
        </p:txBody>
      </p:sp>
      <p:sp>
        <p:nvSpPr>
          <p:cNvPr id="8" name="">
            <a:extLst xmlns:a="http://schemas.openxmlformats.org/drawingml/2006/main">
              <a:ext uri="{FF2B5EF4-FFF2-40B4-BE49-F238E27FC236}">
                <a16:creationId xmlns:a16="http://schemas.microsoft.com/office/drawing/2014/main" id="{83EDCF0A-ABFD-4351-A0C8-815B18B074AF}"/>
              </a:ext>
            </a:extLst>
          </p:cNvPr>
          <p:cNvSpPr>
            <a:spLocks xmlns:a="http://schemas.openxmlformats.org/drawingml/2006/main" noGrp="1"/>
          </p:cNvSpPr>
          <p:nvPr/>
        </p:nvSpPr>
        <p:spPr>
          <a:xfrm xmlns:a="http://schemas.openxmlformats.org/drawingml/2006/main">
            <a:off x="2024634" y="2809875"/>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Create and retain</a:t>
            </a:r>
          </a:p>
        </p:txBody>
      </p:sp>
      <p:sp>
        <p:nvSpPr>
          <p:cNvPr id="9" name="">
            <a:extLst xmlns:a="http://schemas.openxmlformats.org/drawingml/2006/main">
              <a:ext uri="{FF2B5EF4-FFF2-40B4-BE49-F238E27FC236}">
                <a16:creationId xmlns:a16="http://schemas.microsoft.com/office/drawing/2014/main" id="{1734E24D-61A1-45AA-AF3B-D22C3FA79EA7}"/>
              </a:ext>
            </a:extLst>
          </p:cNvPr>
          <p:cNvSpPr>
            <a:spLocks xmlns:a="http://schemas.openxmlformats.org/drawingml/2006/main" noGrp="1"/>
          </p:cNvSpPr>
          <p:nvPr/>
        </p:nvSpPr>
        <p:spPr>
          <a:xfrm xmlns:a="http://schemas.openxmlformats.org/drawingml/2006/main">
            <a:off x="2024634" y="3136773"/>
            <a:ext cx="2228850" cy="7726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Identity checks</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Local request and outbox</a:t>
            </a:r>
          </a:p>
        </p:txBody>
      </p:sp>
      <p:sp>
        <p:nvSpPr>
          <p:cNvPr id="10" name="">
            <a:extLst xmlns:a="http://schemas.openxmlformats.org/drawingml/2006/main">
              <a:ext uri="{FF2B5EF4-FFF2-40B4-BE49-F238E27FC236}">
                <a16:creationId xmlns:a16="http://schemas.microsoft.com/office/drawing/2014/main" id="{9212A2E2-03D3-45A1-AECD-CB73388C60F7}"/>
              </a:ext>
            </a:extLst>
          </p:cNvPr>
          <p:cNvSpPr>
            <a:spLocks xmlns:a="http://schemas.openxmlformats.org/drawingml/2006/main" noGrp="1"/>
          </p:cNvSpPr>
          <p:nvPr/>
        </p:nvSpPr>
        <p:spPr>
          <a:xfrm xmlns:a="http://schemas.openxmlformats.org/drawingml/2006/main">
            <a:off x="4870133" y="2438400"/>
            <a:ext cx="2451735"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1" name="">
            <a:extLst xmlns:a="http://schemas.openxmlformats.org/drawingml/2006/main">
              <a:ext uri="{FF2B5EF4-FFF2-40B4-BE49-F238E27FC236}">
                <a16:creationId xmlns:a16="http://schemas.microsoft.com/office/drawing/2014/main" id="{76AE134D-C5A6-4981-AD15-08285034CE9F}"/>
              </a:ext>
            </a:extLst>
          </p:cNvPr>
          <p:cNvSpPr>
            <a:spLocks xmlns:a="http://schemas.openxmlformats.org/drawingml/2006/main" noGrp="1"/>
          </p:cNvSpPr>
          <p:nvPr/>
        </p:nvSpPr>
        <p:spPr>
          <a:xfrm xmlns:a="http://schemas.openxmlformats.org/drawingml/2006/main">
            <a:off x="4870133" y="2438400"/>
            <a:ext cx="245173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912D4B-BEBA-4159-8833-696A041B891A}"/>
              </a:ext>
            </a:extLst>
          </p:cNvPr>
          <p:cNvSpPr>
            <a:spLocks xmlns:a="http://schemas.openxmlformats.org/drawingml/2006/main" noGrp="1"/>
          </p:cNvSpPr>
          <p:nvPr/>
        </p:nvSpPr>
        <p:spPr>
          <a:xfrm xmlns:a="http://schemas.openxmlformats.org/drawingml/2006/main">
            <a:off x="4996434" y="2564702"/>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RELAY</a:t>
            </a:r>
          </a:p>
        </p:txBody>
      </p:sp>
      <p:sp>
        <p:nvSpPr>
          <p:cNvPr id="13" name="">
            <a:extLst xmlns:a="http://schemas.openxmlformats.org/drawingml/2006/main">
              <a:ext uri="{FF2B5EF4-FFF2-40B4-BE49-F238E27FC236}">
                <a16:creationId xmlns:a16="http://schemas.microsoft.com/office/drawing/2014/main" id="{9BD71A7A-97FB-4963-9C92-AF7C435DB3BF}"/>
              </a:ext>
            </a:extLst>
          </p:cNvPr>
          <p:cNvSpPr>
            <a:spLocks xmlns:a="http://schemas.openxmlformats.org/drawingml/2006/main" noGrp="1"/>
          </p:cNvSpPr>
          <p:nvPr/>
        </p:nvSpPr>
        <p:spPr>
          <a:xfrm xmlns:a="http://schemas.openxmlformats.org/drawingml/2006/main">
            <a:off x="4996434" y="2809875"/>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Store and forward</a:t>
            </a:r>
          </a:p>
        </p:txBody>
      </p:sp>
      <p:sp>
        <p:nvSpPr>
          <p:cNvPr id="14" name="">
            <a:extLst xmlns:a="http://schemas.openxmlformats.org/drawingml/2006/main">
              <a:ext uri="{FF2B5EF4-FFF2-40B4-BE49-F238E27FC236}">
                <a16:creationId xmlns:a16="http://schemas.microsoft.com/office/drawing/2014/main" id="{61F570AA-D414-43C2-AC28-04559A3DFD84}"/>
              </a:ext>
            </a:extLst>
          </p:cNvPr>
          <p:cNvSpPr>
            <a:spLocks xmlns:a="http://schemas.openxmlformats.org/drawingml/2006/main" noGrp="1"/>
          </p:cNvSpPr>
          <p:nvPr/>
        </p:nvSpPr>
        <p:spPr>
          <a:xfrm xmlns:a="http://schemas.openxmlformats.org/drawingml/2006/main">
            <a:off x="4996434" y="3136773"/>
            <a:ext cx="2228850" cy="7726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Authenticated nearby peers</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Recipient-encrypted queue</a:t>
            </a:r>
          </a:p>
        </p:txBody>
      </p:sp>
      <p:sp>
        <p:nvSpPr>
          <p:cNvPr id="15" name="">
            <a:extLst xmlns:a="http://schemas.openxmlformats.org/drawingml/2006/main">
              <a:ext uri="{FF2B5EF4-FFF2-40B4-BE49-F238E27FC236}">
                <a16:creationId xmlns:a16="http://schemas.microsoft.com/office/drawing/2014/main" id="{CCB05692-3EC3-449E-A6F4-60BBEA2D90FA}"/>
              </a:ext>
            </a:extLst>
          </p:cNvPr>
          <p:cNvSpPr>
            <a:spLocks xmlns:a="http://schemas.openxmlformats.org/drawingml/2006/main" noGrp="1"/>
          </p:cNvSpPr>
          <p:nvPr/>
        </p:nvSpPr>
        <p:spPr>
          <a:xfrm xmlns:a="http://schemas.openxmlformats.org/drawingml/2006/main">
            <a:off x="7841933" y="2438400"/>
            <a:ext cx="2451735"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6" name="">
            <a:extLst xmlns:a="http://schemas.openxmlformats.org/drawingml/2006/main">
              <a:ext uri="{FF2B5EF4-FFF2-40B4-BE49-F238E27FC236}">
                <a16:creationId xmlns:a16="http://schemas.microsoft.com/office/drawing/2014/main" id="{0C6F5FE6-4DC1-4BE1-8E7B-7E5E12B87F07}"/>
              </a:ext>
            </a:extLst>
          </p:cNvPr>
          <p:cNvSpPr>
            <a:spLocks xmlns:a="http://schemas.openxmlformats.org/drawingml/2006/main" noGrp="1"/>
          </p:cNvSpPr>
          <p:nvPr/>
        </p:nvSpPr>
        <p:spPr>
          <a:xfrm xmlns:a="http://schemas.openxmlformats.org/drawingml/2006/main">
            <a:off x="7841933" y="2438400"/>
            <a:ext cx="245173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3D8DF6-26A4-4E49-95BD-941E40D71B6C}"/>
              </a:ext>
            </a:extLst>
          </p:cNvPr>
          <p:cNvSpPr>
            <a:spLocks xmlns:a="http://schemas.openxmlformats.org/drawingml/2006/main" noGrp="1"/>
          </p:cNvSpPr>
          <p:nvPr/>
        </p:nvSpPr>
        <p:spPr>
          <a:xfrm xmlns:a="http://schemas.openxmlformats.org/drawingml/2006/main">
            <a:off x="7968234" y="2564702"/>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RECIPIENT</a:t>
            </a:r>
          </a:p>
        </p:txBody>
      </p:sp>
      <p:sp>
        <p:nvSpPr>
          <p:cNvPr id="18" name="">
            <a:extLst xmlns:a="http://schemas.openxmlformats.org/drawingml/2006/main">
              <a:ext uri="{FF2B5EF4-FFF2-40B4-BE49-F238E27FC236}">
                <a16:creationId xmlns:a16="http://schemas.microsoft.com/office/drawing/2014/main" id="{967D8E9A-634D-4BAC-BC02-75ED88F560A2}"/>
              </a:ext>
            </a:extLst>
          </p:cNvPr>
          <p:cNvSpPr>
            <a:spLocks xmlns:a="http://schemas.openxmlformats.org/drawingml/2006/main" noGrp="1"/>
          </p:cNvSpPr>
          <p:nvPr/>
        </p:nvSpPr>
        <p:spPr>
          <a:xfrm xmlns:a="http://schemas.openxmlformats.org/drawingml/2006/main">
            <a:off x="7968234" y="2809875"/>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Verify and accept</a:t>
            </a:r>
          </a:p>
        </p:txBody>
      </p:sp>
      <p:sp>
        <p:nvSpPr>
          <p:cNvPr id="19" name="">
            <a:extLst xmlns:a="http://schemas.openxmlformats.org/drawingml/2006/main">
              <a:ext uri="{FF2B5EF4-FFF2-40B4-BE49-F238E27FC236}">
                <a16:creationId xmlns:a16="http://schemas.microsoft.com/office/drawing/2014/main" id="{36B9D7DD-2CC0-4280-AA8C-588473C1B79A}"/>
              </a:ext>
            </a:extLst>
          </p:cNvPr>
          <p:cNvSpPr>
            <a:spLocks xmlns:a="http://schemas.openxmlformats.org/drawingml/2006/main" noGrp="1"/>
          </p:cNvSpPr>
          <p:nvPr/>
        </p:nvSpPr>
        <p:spPr>
          <a:xfrm xmlns:a="http://schemas.openxmlformats.org/drawingml/2006/main">
            <a:off x="7968234" y="3136773"/>
            <a:ext cx="2228850" cy="7726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Local route and policy</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Signed custody receipt</a:t>
            </a:r>
          </a:p>
        </p:txBody>
      </p:sp>
      <p:sp>
        <p:nvSpPr>
          <p:cNvPr id="20" name="">
            <a:extLst xmlns:a="http://schemas.openxmlformats.org/drawingml/2006/main">
              <a:ext uri="{FF2B5EF4-FFF2-40B4-BE49-F238E27FC236}">
                <a16:creationId xmlns:a16="http://schemas.microsoft.com/office/drawing/2014/main" id="{9D457966-6004-4229-BA95-17B2FBD00D0F}"/>
              </a:ext>
            </a:extLst>
          </p:cNvPr>
          <p:cNvSpPr>
            <a:spLocks xmlns:a="http://schemas.openxmlformats.org/drawingml/2006/main" noGrp="1"/>
          </p:cNvSpPr>
          <p:nvPr/>
        </p:nvSpPr>
        <p:spPr>
          <a:xfrm xmlns:a="http://schemas.openxmlformats.org/drawingml/2006/main">
            <a:off x="3384233" y="4927283"/>
            <a:ext cx="2451735" cy="104013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1" name="">
            <a:extLst xmlns:a="http://schemas.openxmlformats.org/drawingml/2006/main">
              <a:ext uri="{FF2B5EF4-FFF2-40B4-BE49-F238E27FC236}">
                <a16:creationId xmlns:a16="http://schemas.microsoft.com/office/drawing/2014/main" id="{10B9ACB0-0802-4913-81C1-ABE45BD87B25}"/>
              </a:ext>
            </a:extLst>
          </p:cNvPr>
          <p:cNvSpPr>
            <a:spLocks xmlns:a="http://schemas.openxmlformats.org/drawingml/2006/main" noGrp="1"/>
          </p:cNvSpPr>
          <p:nvPr/>
        </p:nvSpPr>
        <p:spPr>
          <a:xfrm xmlns:a="http://schemas.openxmlformats.org/drawingml/2006/main">
            <a:off x="3384233" y="4927283"/>
            <a:ext cx="2451735"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AA02924-717E-49A5-BC75-1B6FD42460E9}"/>
              </a:ext>
            </a:extLst>
          </p:cNvPr>
          <p:cNvSpPr>
            <a:spLocks xmlns:a="http://schemas.openxmlformats.org/drawingml/2006/main" noGrp="1"/>
          </p:cNvSpPr>
          <p:nvPr/>
        </p:nvSpPr>
        <p:spPr>
          <a:xfrm xmlns:a="http://schemas.openxmlformats.org/drawingml/2006/main">
            <a:off x="3510534" y="5053584"/>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OPTIONAL</a:t>
            </a:r>
          </a:p>
        </p:txBody>
      </p:sp>
      <p:sp>
        <p:nvSpPr>
          <p:cNvPr id="23" name="">
            <a:extLst xmlns:a="http://schemas.openxmlformats.org/drawingml/2006/main">
              <a:ext uri="{FF2B5EF4-FFF2-40B4-BE49-F238E27FC236}">
                <a16:creationId xmlns:a16="http://schemas.microsoft.com/office/drawing/2014/main" id="{0B0CD31F-B588-430B-B524-8CE31AE06D3B}"/>
              </a:ext>
            </a:extLst>
          </p:cNvPr>
          <p:cNvSpPr>
            <a:spLocks xmlns:a="http://schemas.openxmlformats.org/drawingml/2006/main" noGrp="1"/>
          </p:cNvSpPr>
          <p:nvPr/>
        </p:nvSpPr>
        <p:spPr>
          <a:xfrm xmlns:a="http://schemas.openxmlformats.org/drawingml/2006/main">
            <a:off x="3510534" y="5298758"/>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Local observer</a:t>
            </a:r>
          </a:p>
        </p:txBody>
      </p:sp>
      <p:sp>
        <p:nvSpPr>
          <p:cNvPr id="24" name="">
            <a:extLst xmlns:a="http://schemas.openxmlformats.org/drawingml/2006/main">
              <a:ext uri="{FF2B5EF4-FFF2-40B4-BE49-F238E27FC236}">
                <a16:creationId xmlns:a16="http://schemas.microsoft.com/office/drawing/2014/main" id="{1D0ABD09-7001-4778-8796-B2CE08B1598D}"/>
              </a:ext>
            </a:extLst>
          </p:cNvPr>
          <p:cNvSpPr>
            <a:spLocks xmlns:a="http://schemas.openxmlformats.org/drawingml/2006/main" noGrp="1"/>
          </p:cNvSpPr>
          <p:nvPr/>
        </p:nvSpPr>
        <p:spPr>
          <a:xfrm xmlns:a="http://schemas.openxmlformats.org/drawingml/2006/main">
            <a:off x="3510534" y="5625656"/>
            <a:ext cx="22288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Go log and dashboard</a:t>
            </a:r>
          </a:p>
        </p:txBody>
      </p:sp>
      <p:sp>
        <p:nvSpPr>
          <p:cNvPr id="25" name="">
            <a:extLst xmlns:a="http://schemas.openxmlformats.org/drawingml/2006/main">
              <a:ext uri="{FF2B5EF4-FFF2-40B4-BE49-F238E27FC236}">
                <a16:creationId xmlns:a16="http://schemas.microsoft.com/office/drawing/2014/main" id="{B912854B-76B9-43E4-82A5-AD4E96D10B4A}"/>
              </a:ext>
            </a:extLst>
          </p:cNvPr>
          <p:cNvSpPr>
            <a:spLocks xmlns:a="http://schemas.openxmlformats.org/drawingml/2006/main" noGrp="1"/>
          </p:cNvSpPr>
          <p:nvPr/>
        </p:nvSpPr>
        <p:spPr>
          <a:xfrm xmlns:a="http://schemas.openxmlformats.org/drawingml/2006/main">
            <a:off x="6764655" y="4927283"/>
            <a:ext cx="3194685" cy="104013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6" name="">
            <a:extLst xmlns:a="http://schemas.openxmlformats.org/drawingml/2006/main">
              <a:ext uri="{FF2B5EF4-FFF2-40B4-BE49-F238E27FC236}">
                <a16:creationId xmlns:a16="http://schemas.microsoft.com/office/drawing/2014/main" id="{8052AA70-28DA-4F15-8FA6-FD5AB82147F0}"/>
              </a:ext>
            </a:extLst>
          </p:cNvPr>
          <p:cNvSpPr>
            <a:spLocks xmlns:a="http://schemas.openxmlformats.org/drawingml/2006/main" noGrp="1"/>
          </p:cNvSpPr>
          <p:nvPr/>
        </p:nvSpPr>
        <p:spPr>
          <a:xfrm xmlns:a="http://schemas.openxmlformats.org/drawingml/2006/main">
            <a:off x="6764655" y="4927283"/>
            <a:ext cx="3194685"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10CFA9E-0DBE-47EB-BEAF-2AFCD5E2193B}"/>
              </a:ext>
            </a:extLst>
          </p:cNvPr>
          <p:cNvSpPr>
            <a:spLocks xmlns:a="http://schemas.openxmlformats.org/drawingml/2006/main" noGrp="1"/>
          </p:cNvSpPr>
          <p:nvPr/>
        </p:nvSpPr>
        <p:spPr>
          <a:xfrm xmlns:a="http://schemas.openxmlformats.org/drawingml/2006/main">
            <a:off x="6890957" y="5053584"/>
            <a:ext cx="298665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OPTIONAL</a:t>
            </a:r>
          </a:p>
        </p:txBody>
      </p:sp>
      <p:sp>
        <p:nvSpPr>
          <p:cNvPr id="28" name="">
            <a:extLst xmlns:a="http://schemas.openxmlformats.org/drawingml/2006/main">
              <a:ext uri="{FF2B5EF4-FFF2-40B4-BE49-F238E27FC236}">
                <a16:creationId xmlns:a16="http://schemas.microsoft.com/office/drawing/2014/main" id="{554EA40C-E547-4A68-884D-8BE6D0E6AE83}"/>
              </a:ext>
            </a:extLst>
          </p:cNvPr>
          <p:cNvSpPr>
            <a:spLocks xmlns:a="http://schemas.openxmlformats.org/drawingml/2006/main" noGrp="1"/>
          </p:cNvSpPr>
          <p:nvPr/>
        </p:nvSpPr>
        <p:spPr>
          <a:xfrm xmlns:a="http://schemas.openxmlformats.org/drawingml/2006/main">
            <a:off x="6890957" y="5298758"/>
            <a:ext cx="298665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Public presentation</a:t>
            </a:r>
          </a:p>
        </p:txBody>
      </p:sp>
      <p:sp>
        <p:nvSpPr>
          <p:cNvPr id="29" name="">
            <a:extLst xmlns:a="http://schemas.openxmlformats.org/drawingml/2006/main">
              <a:ext uri="{FF2B5EF4-FFF2-40B4-BE49-F238E27FC236}">
                <a16:creationId xmlns:a16="http://schemas.microsoft.com/office/drawing/2014/main" id="{11065DF9-287F-4F57-B63F-6305EC9B66F3}"/>
              </a:ext>
            </a:extLst>
          </p:cNvPr>
          <p:cNvSpPr>
            <a:spLocks xmlns:a="http://schemas.openxmlformats.org/drawingml/2006/main" noGrp="1"/>
          </p:cNvSpPr>
          <p:nvPr/>
        </p:nvSpPr>
        <p:spPr>
          <a:xfrm xmlns:a="http://schemas.openxmlformats.org/drawingml/2006/main">
            <a:off x="6890957" y="5625656"/>
            <a:ext cx="297180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Sanitized archive and web view</a:t>
            </a:r>
          </a:p>
        </p:txBody>
      </p:sp>
      <p:cxnSp>
        <p:nvCxnSpPr>
          <p:cNvPr id="66" name=""/>
          <p:cNvCxnSpPr>
            <a:stCxn xmlns:a="http://schemas.openxmlformats.org/drawingml/2006/main" id="5" idx="3"/>
            <a:endCxn xmlns:a="http://schemas.openxmlformats.org/drawingml/2006/main" id="10" idx="1"/>
          </p:cNvCxnSpPr>
          <p:nvPr/>
        </p:nvCxnSpPr>
        <p:spPr>
          <a:xfrm xmlns:a="http://schemas.openxmlformats.org/drawingml/2006/main">
            <a:off x="4350068" y="3181350"/>
            <a:ext cx="520065"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7" name=""/>
          <p:cNvCxnSpPr>
            <a:stCxn xmlns:a="http://schemas.openxmlformats.org/drawingml/2006/main" id="10" idx="3"/>
            <a:endCxn xmlns:a="http://schemas.openxmlformats.org/drawingml/2006/main" id="15" idx="1"/>
          </p:cNvCxnSpPr>
          <p:nvPr/>
        </p:nvCxnSpPr>
        <p:spPr>
          <a:xfrm xmlns:a="http://schemas.openxmlformats.org/drawingml/2006/main">
            <a:off x="7321868" y="3181350"/>
            <a:ext cx="520065"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68" name=""/>
          <p:cNvCxnSpPr>
            <a:stCxn xmlns:a="http://schemas.openxmlformats.org/drawingml/2006/main" id="10" idx="2"/>
            <a:endCxn xmlns:a="http://schemas.openxmlformats.org/drawingml/2006/main" id="20" idx="0"/>
          </p:cNvCxnSpPr>
          <p:nvPr/>
        </p:nvCxnSpPr>
        <p:spPr>
          <a:xfrm xmlns:a="http://schemas.openxmlformats.org/drawingml/2006/main" flipH="1">
            <a:off x="4610101" y="3924300"/>
            <a:ext cx="1485900" cy="1002983"/>
          </a:xfrm>
          <a:prstGeom xmlns:a="http://schemas.openxmlformats.org/drawingml/2006/main" prst="bentConnector4">
            <a:avLst>
              <a:gd name="adj1" fmla="val 0"/>
              <a:gd name="adj2" fmla="val 50000"/>
            </a:avLst>
          </a:prstGeom>
          <a:ln xmlns:a="http://schemas.openxmlformats.org/drawingml/2006/main" w="20955">
            <a:solidFill>
              <a:srgbClr val="216E75"/>
            </a:solidFill>
            <a:prstDash val="dash"/>
            <a:tailEnd type="arrow" w="med" len="med"/>
          </a:ln>
        </p:spPr>
      </p:cxnSp>
      <p:cxnSp>
        <p:nvCxnSpPr>
          <p:cNvPr id="69" name=""/>
          <p:cNvCxnSpPr>
            <a:stCxn xmlns:a="http://schemas.openxmlformats.org/drawingml/2006/main" id="20" idx="3"/>
            <a:endCxn xmlns:a="http://schemas.openxmlformats.org/drawingml/2006/main" id="25" idx="1"/>
          </p:cNvCxnSpPr>
          <p:nvPr/>
        </p:nvCxnSpPr>
        <p:spPr>
          <a:xfrm xmlns:a="http://schemas.openxmlformats.org/drawingml/2006/main">
            <a:off x="5835968" y="5447348"/>
            <a:ext cx="928687" cy="0"/>
          </a:xfrm>
          <a:prstGeom xmlns:a="http://schemas.openxmlformats.org/drawingml/2006/main" prst="straightConnector1">
            <a:avLst/>
          </a:prstGeom>
          <a:ln xmlns:a="http://schemas.openxmlformats.org/drawingml/2006/main" w="20955">
            <a:solidFill>
              <a:srgbClr val="216E75"/>
            </a:solidFill>
            <a:prstDash val="dash"/>
            <a:tailEnd type="arrow" w="med" len="med"/>
          </a:ln>
        </p:spPr>
      </p:cxnSp>
      <p:sp>
        <p:nvSpPr>
          <p:cNvPr id="34" name="">
            <a:extLst xmlns:a="http://schemas.openxmlformats.org/drawingml/2006/main">
              <a:ext uri="{FF2B5EF4-FFF2-40B4-BE49-F238E27FC236}">
                <a16:creationId xmlns:a16="http://schemas.microsoft.com/office/drawing/2014/main" id="{9525A252-EAF0-40B2-9639-4A6CFA3A8135}"/>
              </a:ext>
            </a:extLst>
          </p:cNvPr>
          <p:cNvSpPr>
            <a:spLocks xmlns:a="http://schemas.openxmlformats.org/drawingml/2006/main" noGrp="1"/>
          </p:cNvSpPr>
          <p:nvPr/>
        </p:nvSpPr>
        <p:spPr>
          <a:xfrm xmlns:a="http://schemas.openxmlformats.org/drawingml/2006/main">
            <a:off x="1920621" y="1821752"/>
            <a:ext cx="8484489" cy="2748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3" b="0">
                <a:solidFill>
                  <a:srgbClr val="123D38"/>
                </a:solidFill>
                <a:latin typeface="Arial"/>
                <a:ea typeface="Arial"/>
                <a:cs typeface="Arial"/>
              </a:defRPr>
            </a:pPr>
            <a:r>
              <a:rPr sz="1463" b="0">
                <a:solidFill>
                  <a:srgbClr val="123D38"/>
                </a:solidFill>
                <a:latin typeface="Arial"/>
                <a:ea typeface="Arial"/>
                <a:cs typeface="Arial"/>
              </a:rPr>
              <a:t>FIELD AUTHORITY  /  Bundled Bangla and English</a:t>
            </a:r>
          </a:p>
        </p:txBody>
      </p:sp>
      <p:sp>
        <p:nvSpPr>
          <p:cNvPr id="35" name="">
            <a:extLst xmlns:a="http://schemas.openxmlformats.org/drawingml/2006/main">
              <a:ext uri="{FF2B5EF4-FFF2-40B4-BE49-F238E27FC236}">
                <a16:creationId xmlns:a16="http://schemas.microsoft.com/office/drawing/2014/main" id="{E9C0E78F-333A-4A54-9512-A700DCE2EA84}"/>
              </a:ext>
            </a:extLst>
          </p:cNvPr>
          <p:cNvSpPr>
            <a:spLocks xmlns:a="http://schemas.openxmlformats.org/drawingml/2006/main" noGrp="1"/>
          </p:cNvSpPr>
          <p:nvPr/>
        </p:nvSpPr>
        <p:spPr>
          <a:xfrm xmlns:a="http://schemas.openxmlformats.org/drawingml/2006/main">
            <a:off x="6541770" y="4355211"/>
            <a:ext cx="386334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4" b="0">
                <a:solidFill>
                  <a:srgbClr val="216E75"/>
                </a:solidFill>
                <a:latin typeface="Arial"/>
                <a:ea typeface="Arial"/>
                <a:cs typeface="Arial"/>
              </a:defRPr>
            </a:pPr>
            <a:r>
              <a:rPr sz="1404" b="0">
                <a:solidFill>
                  <a:srgbClr val="216E75"/>
                </a:solidFill>
                <a:latin typeface="Arial"/>
                <a:ea typeface="Arial"/>
                <a:cs typeface="Arial"/>
              </a:rPr>
              <a:t>Observation may disconnect</a:t>
            </a:r>
          </a:p>
        </p:txBody>
      </p:sp>
      <p:sp>
        <p:nvSpPr>
          <p:cNvPr id="36" name="">
            <a:extLst xmlns:a="http://schemas.openxmlformats.org/drawingml/2006/main">
              <a:ext uri="{FF2B5EF4-FFF2-40B4-BE49-F238E27FC236}">
                <a16:creationId xmlns:a16="http://schemas.microsoft.com/office/drawing/2014/main" id="{95A4C13B-6559-4E25-9759-BD7BF0E4B450}"/>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editable diagram derived from repository architecture and documented acceptance boundaries.</a:t>
            </a:r>
          </a:p>
        </p:txBody>
      </p:sp>
    </p:spTree>
    <p:extLst>
      <p:ext uri="{BB962C8B-B14F-4D97-AF65-F5344CB8AC3E}">
        <p14:creationId xmlns:p14="http://schemas.microsoft.com/office/powerpoint/2010/main" val="27872895"/>
      </p:ext>
    </p:extLst>
  </p:cSld>
</p:sld>
</file>

<file path=ppt/slides/slide1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4FABF11-817F-4C24-8F3E-E2BD65E44B63}"/>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Acknowledgement precedes domain acceptance</a:t>
            </a:r>
          </a:p>
        </p:txBody>
      </p:sp>
      <p:sp>
        <p:nvSpPr>
          <p:cNvPr id="2" name="">
            <a:extLst xmlns:a="http://schemas.openxmlformats.org/drawingml/2006/main">
              <a:ext uri="{FF2B5EF4-FFF2-40B4-BE49-F238E27FC236}">
                <a16:creationId xmlns:a16="http://schemas.microsoft.com/office/drawing/2014/main" id="{892D67E6-8517-4A01-96E6-536A72E1D916}"/>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8D7DC562-6471-49A8-A51C-459A3B242AE6}"/>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A7B96D9-9632-40C5-8046-0622F7B49295}"/>
              </a:ext>
            </a:extLst>
          </p:cNvPr>
          <p:cNvSpPr>
            <a:spLocks xmlns:a="http://schemas.openxmlformats.org/drawingml/2006/main" noGrp="1"/>
          </p:cNvSpPr>
          <p:nvPr/>
        </p:nvSpPr>
        <p:spPr>
          <a:xfrm xmlns:a="http://schemas.openxmlformats.org/drawingml/2006/main">
            <a:off x="1786890" y="2178368"/>
            <a:ext cx="1857375" cy="137445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53B9789A-C27D-46B2-B5B5-CB22CD795F33}"/>
              </a:ext>
            </a:extLst>
          </p:cNvPr>
          <p:cNvSpPr>
            <a:spLocks xmlns:a="http://schemas.openxmlformats.org/drawingml/2006/main" noGrp="1"/>
          </p:cNvSpPr>
          <p:nvPr/>
        </p:nvSpPr>
        <p:spPr>
          <a:xfrm xmlns:a="http://schemas.openxmlformats.org/drawingml/2006/main">
            <a:off x="1786890" y="2178368"/>
            <a:ext cx="185737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CBCBE9-A96C-4C8D-9E6B-A2E2A3B4ABE6}"/>
              </a:ext>
            </a:extLst>
          </p:cNvPr>
          <p:cNvSpPr>
            <a:spLocks xmlns:a="http://schemas.openxmlformats.org/drawingml/2006/main" noGrp="1"/>
          </p:cNvSpPr>
          <p:nvPr/>
        </p:nvSpPr>
        <p:spPr>
          <a:xfrm xmlns:a="http://schemas.openxmlformats.org/drawingml/2006/main">
            <a:off x="1913191" y="2304669"/>
            <a:ext cx="164934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01  SENDER</a:t>
            </a:r>
          </a:p>
        </p:txBody>
      </p:sp>
      <p:sp>
        <p:nvSpPr>
          <p:cNvPr id="7" name="">
            <a:extLst xmlns:a="http://schemas.openxmlformats.org/drawingml/2006/main">
              <a:ext uri="{FF2B5EF4-FFF2-40B4-BE49-F238E27FC236}">
                <a16:creationId xmlns:a16="http://schemas.microsoft.com/office/drawing/2014/main" id="{E07A30EA-8627-43AA-9711-F74ED62CACA4}"/>
              </a:ext>
            </a:extLst>
          </p:cNvPr>
          <p:cNvSpPr>
            <a:spLocks xmlns:a="http://schemas.openxmlformats.org/drawingml/2006/main" noGrp="1"/>
          </p:cNvSpPr>
          <p:nvPr/>
        </p:nvSpPr>
        <p:spPr>
          <a:xfrm xmlns:a="http://schemas.openxmlformats.org/drawingml/2006/main">
            <a:off x="1913191" y="2549843"/>
            <a:ext cx="164934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Write outbox</a:t>
            </a:r>
          </a:p>
        </p:txBody>
      </p:sp>
      <p:sp>
        <p:nvSpPr>
          <p:cNvPr id="8" name="">
            <a:extLst xmlns:a="http://schemas.openxmlformats.org/drawingml/2006/main">
              <a:ext uri="{FF2B5EF4-FFF2-40B4-BE49-F238E27FC236}">
                <a16:creationId xmlns:a16="http://schemas.microsoft.com/office/drawing/2014/main" id="{1E82F0BA-5794-4278-8689-234281198636}"/>
              </a:ext>
            </a:extLst>
          </p:cNvPr>
          <p:cNvSpPr>
            <a:spLocks xmlns:a="http://schemas.openxmlformats.org/drawingml/2006/main" noGrp="1"/>
          </p:cNvSpPr>
          <p:nvPr/>
        </p:nvSpPr>
        <p:spPr>
          <a:xfrm xmlns:a="http://schemas.openxmlformats.org/drawingml/2006/main">
            <a:off x="1913191" y="2876741"/>
            <a:ext cx="1634490" cy="661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Encrypted envelope</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Stable message ID</a:t>
            </a:r>
          </a:p>
        </p:txBody>
      </p:sp>
      <p:sp>
        <p:nvSpPr>
          <p:cNvPr id="9" name="">
            <a:extLst xmlns:a="http://schemas.openxmlformats.org/drawingml/2006/main">
              <a:ext uri="{FF2B5EF4-FFF2-40B4-BE49-F238E27FC236}">
                <a16:creationId xmlns:a16="http://schemas.microsoft.com/office/drawing/2014/main" id="{35BC45BE-7D27-446F-9194-738AA4B58613}"/>
              </a:ext>
            </a:extLst>
          </p:cNvPr>
          <p:cNvSpPr>
            <a:spLocks xmlns:a="http://schemas.openxmlformats.org/drawingml/2006/main" noGrp="1"/>
          </p:cNvSpPr>
          <p:nvPr/>
        </p:nvSpPr>
        <p:spPr>
          <a:xfrm xmlns:a="http://schemas.openxmlformats.org/drawingml/2006/main">
            <a:off x="4038029" y="2178368"/>
            <a:ext cx="1857375" cy="137445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5CD8CB60-3CE9-4887-A8F8-842DF21693E5}"/>
              </a:ext>
            </a:extLst>
          </p:cNvPr>
          <p:cNvSpPr>
            <a:spLocks xmlns:a="http://schemas.openxmlformats.org/drawingml/2006/main" noGrp="1"/>
          </p:cNvSpPr>
          <p:nvPr/>
        </p:nvSpPr>
        <p:spPr>
          <a:xfrm xmlns:a="http://schemas.openxmlformats.org/drawingml/2006/main">
            <a:off x="4038029" y="2178368"/>
            <a:ext cx="185737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D844DE-341C-49E4-8A55-970340194919}"/>
              </a:ext>
            </a:extLst>
          </p:cNvPr>
          <p:cNvSpPr>
            <a:spLocks xmlns:a="http://schemas.openxmlformats.org/drawingml/2006/main" noGrp="1"/>
          </p:cNvSpPr>
          <p:nvPr/>
        </p:nvSpPr>
        <p:spPr>
          <a:xfrm xmlns:a="http://schemas.openxmlformats.org/drawingml/2006/main">
            <a:off x="4164330" y="2304669"/>
            <a:ext cx="164934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02  RELAY</a:t>
            </a:r>
          </a:p>
        </p:txBody>
      </p:sp>
      <p:sp>
        <p:nvSpPr>
          <p:cNvPr id="12" name="">
            <a:extLst xmlns:a="http://schemas.openxmlformats.org/drawingml/2006/main">
              <a:ext uri="{FF2B5EF4-FFF2-40B4-BE49-F238E27FC236}">
                <a16:creationId xmlns:a16="http://schemas.microsoft.com/office/drawing/2014/main" id="{9C5545AE-D99A-4490-927D-1507B9162680}"/>
              </a:ext>
            </a:extLst>
          </p:cNvPr>
          <p:cNvSpPr>
            <a:spLocks xmlns:a="http://schemas.openxmlformats.org/drawingml/2006/main" noGrp="1"/>
          </p:cNvSpPr>
          <p:nvPr/>
        </p:nvSpPr>
        <p:spPr>
          <a:xfrm xmlns:a="http://schemas.openxmlformats.org/drawingml/2006/main">
            <a:off x="4164330" y="2549843"/>
            <a:ext cx="164934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Persist bytes</a:t>
            </a:r>
          </a:p>
        </p:txBody>
      </p:sp>
      <p:sp>
        <p:nvSpPr>
          <p:cNvPr id="13" name="">
            <a:extLst xmlns:a="http://schemas.openxmlformats.org/drawingml/2006/main">
              <a:ext uri="{FF2B5EF4-FFF2-40B4-BE49-F238E27FC236}">
                <a16:creationId xmlns:a16="http://schemas.microsoft.com/office/drawing/2014/main" id="{B17ADECC-018E-46D7-BA37-83D426E915CD}"/>
              </a:ext>
            </a:extLst>
          </p:cNvPr>
          <p:cNvSpPr>
            <a:spLocks xmlns:a="http://schemas.openxmlformats.org/drawingml/2006/main" noGrp="1"/>
          </p:cNvSpPr>
          <p:nvPr/>
        </p:nvSpPr>
        <p:spPr>
          <a:xfrm xmlns:a="http://schemas.openxmlformats.org/drawingml/2006/main">
            <a:off x="4164330" y="2876741"/>
            <a:ext cx="1634490" cy="661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Durable queue</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Signed storage</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acknowledgement</a:t>
            </a:r>
          </a:p>
        </p:txBody>
      </p:sp>
      <p:sp>
        <p:nvSpPr>
          <p:cNvPr id="14" name="">
            <a:extLst xmlns:a="http://schemas.openxmlformats.org/drawingml/2006/main">
              <a:ext uri="{FF2B5EF4-FFF2-40B4-BE49-F238E27FC236}">
                <a16:creationId xmlns:a16="http://schemas.microsoft.com/office/drawing/2014/main" id="{5E24E426-A283-4797-A510-74BDDB42BDE1}"/>
              </a:ext>
            </a:extLst>
          </p:cNvPr>
          <p:cNvSpPr>
            <a:spLocks xmlns:a="http://schemas.openxmlformats.org/drawingml/2006/main" noGrp="1"/>
          </p:cNvSpPr>
          <p:nvPr/>
        </p:nvSpPr>
        <p:spPr>
          <a:xfrm xmlns:a="http://schemas.openxmlformats.org/drawingml/2006/main">
            <a:off x="6289167" y="2178368"/>
            <a:ext cx="1857375" cy="137445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C85A7EA7-597B-4A31-93E5-07E82021E5E7}"/>
              </a:ext>
            </a:extLst>
          </p:cNvPr>
          <p:cNvSpPr>
            <a:spLocks xmlns:a="http://schemas.openxmlformats.org/drawingml/2006/main" noGrp="1"/>
          </p:cNvSpPr>
          <p:nvPr/>
        </p:nvSpPr>
        <p:spPr>
          <a:xfrm xmlns:a="http://schemas.openxmlformats.org/drawingml/2006/main">
            <a:off x="6289167" y="2178368"/>
            <a:ext cx="185737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BCC36C-1BF2-43C9-8633-E0D0CDB13777}"/>
              </a:ext>
            </a:extLst>
          </p:cNvPr>
          <p:cNvSpPr>
            <a:spLocks xmlns:a="http://schemas.openxmlformats.org/drawingml/2006/main" noGrp="1"/>
          </p:cNvSpPr>
          <p:nvPr/>
        </p:nvSpPr>
        <p:spPr>
          <a:xfrm xmlns:a="http://schemas.openxmlformats.org/drawingml/2006/main">
            <a:off x="6415469" y="2304669"/>
            <a:ext cx="164934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03  RECIPIENT</a:t>
            </a:r>
          </a:p>
        </p:txBody>
      </p:sp>
      <p:sp>
        <p:nvSpPr>
          <p:cNvPr id="17" name="">
            <a:extLst xmlns:a="http://schemas.openxmlformats.org/drawingml/2006/main">
              <a:ext uri="{FF2B5EF4-FFF2-40B4-BE49-F238E27FC236}">
                <a16:creationId xmlns:a16="http://schemas.microsoft.com/office/drawing/2014/main" id="{C1DB9928-BD24-476C-8DEF-FD9D743D23ED}"/>
              </a:ext>
            </a:extLst>
          </p:cNvPr>
          <p:cNvSpPr>
            <a:spLocks xmlns:a="http://schemas.openxmlformats.org/drawingml/2006/main" noGrp="1"/>
          </p:cNvSpPr>
          <p:nvPr/>
        </p:nvSpPr>
        <p:spPr>
          <a:xfrm xmlns:a="http://schemas.openxmlformats.org/drawingml/2006/main">
            <a:off x="6415469" y="2549843"/>
            <a:ext cx="164934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Verify and apply</a:t>
            </a:r>
          </a:p>
        </p:txBody>
      </p:sp>
      <p:sp>
        <p:nvSpPr>
          <p:cNvPr id="18" name="">
            <a:extLst xmlns:a="http://schemas.openxmlformats.org/drawingml/2006/main">
              <a:ext uri="{FF2B5EF4-FFF2-40B4-BE49-F238E27FC236}">
                <a16:creationId xmlns:a16="http://schemas.microsoft.com/office/drawing/2014/main" id="{427F35D0-7463-4A19-AAD0-54AF7CE5374C}"/>
              </a:ext>
            </a:extLst>
          </p:cNvPr>
          <p:cNvSpPr>
            <a:spLocks xmlns:a="http://schemas.openxmlformats.org/drawingml/2006/main" noGrp="1"/>
          </p:cNvSpPr>
          <p:nvPr/>
        </p:nvSpPr>
        <p:spPr>
          <a:xfrm xmlns:a="http://schemas.openxmlformats.org/drawingml/2006/main">
            <a:off x="6415469" y="2876741"/>
            <a:ext cx="1634490" cy="661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Decrypt and deduplicate</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Check domain rules</a:t>
            </a:r>
          </a:p>
        </p:txBody>
      </p:sp>
      <p:sp>
        <p:nvSpPr>
          <p:cNvPr id="19" name="">
            <a:extLst xmlns:a="http://schemas.openxmlformats.org/drawingml/2006/main">
              <a:ext uri="{FF2B5EF4-FFF2-40B4-BE49-F238E27FC236}">
                <a16:creationId xmlns:a16="http://schemas.microsoft.com/office/drawing/2014/main" id="{AE0DAF71-4BEF-412D-BCA2-08D236A76FAF}"/>
              </a:ext>
            </a:extLst>
          </p:cNvPr>
          <p:cNvSpPr>
            <a:spLocks xmlns:a="http://schemas.openxmlformats.org/drawingml/2006/main" noGrp="1"/>
          </p:cNvSpPr>
          <p:nvPr/>
        </p:nvSpPr>
        <p:spPr>
          <a:xfrm xmlns:a="http://schemas.openxmlformats.org/drawingml/2006/main">
            <a:off x="8547735" y="2178368"/>
            <a:ext cx="1857375" cy="137445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2AEF3D6E-61FD-4910-B04B-C301E0F11D06}"/>
              </a:ext>
            </a:extLst>
          </p:cNvPr>
          <p:cNvSpPr>
            <a:spLocks xmlns:a="http://schemas.openxmlformats.org/drawingml/2006/main" noGrp="1"/>
          </p:cNvSpPr>
          <p:nvPr/>
        </p:nvSpPr>
        <p:spPr>
          <a:xfrm xmlns:a="http://schemas.openxmlformats.org/drawingml/2006/main">
            <a:off x="8547735" y="2178368"/>
            <a:ext cx="185737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524E987-FBEA-410F-B613-B9E3D8D314CD}"/>
              </a:ext>
            </a:extLst>
          </p:cNvPr>
          <p:cNvSpPr>
            <a:spLocks xmlns:a="http://schemas.openxmlformats.org/drawingml/2006/main" noGrp="1"/>
          </p:cNvSpPr>
          <p:nvPr/>
        </p:nvSpPr>
        <p:spPr>
          <a:xfrm xmlns:a="http://schemas.openxmlformats.org/drawingml/2006/main">
            <a:off x="8674037" y="2304669"/>
            <a:ext cx="164934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04  LOCAL STATE</a:t>
            </a:r>
          </a:p>
        </p:txBody>
      </p:sp>
      <p:sp>
        <p:nvSpPr>
          <p:cNvPr id="22" name="">
            <a:extLst xmlns:a="http://schemas.openxmlformats.org/drawingml/2006/main">
              <a:ext uri="{FF2B5EF4-FFF2-40B4-BE49-F238E27FC236}">
                <a16:creationId xmlns:a16="http://schemas.microsoft.com/office/drawing/2014/main" id="{467AE60E-B69D-4143-89C9-147D8DC8CC6D}"/>
              </a:ext>
            </a:extLst>
          </p:cNvPr>
          <p:cNvSpPr>
            <a:spLocks xmlns:a="http://schemas.openxmlformats.org/drawingml/2006/main" noGrp="1"/>
          </p:cNvSpPr>
          <p:nvPr/>
        </p:nvSpPr>
        <p:spPr>
          <a:xfrm xmlns:a="http://schemas.openxmlformats.org/drawingml/2006/main">
            <a:off x="8674037" y="2549843"/>
            <a:ext cx="164934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Rebuild view</a:t>
            </a:r>
          </a:p>
        </p:txBody>
      </p:sp>
      <p:sp>
        <p:nvSpPr>
          <p:cNvPr id="23" name="">
            <a:extLst xmlns:a="http://schemas.openxmlformats.org/drawingml/2006/main">
              <a:ext uri="{FF2B5EF4-FFF2-40B4-BE49-F238E27FC236}">
                <a16:creationId xmlns:a16="http://schemas.microsoft.com/office/drawing/2014/main" id="{9FF71A0F-6569-49A4-A6DA-2C1B40931C74}"/>
              </a:ext>
            </a:extLst>
          </p:cNvPr>
          <p:cNvSpPr>
            <a:spLocks xmlns:a="http://schemas.openxmlformats.org/drawingml/2006/main" noGrp="1"/>
          </p:cNvSpPr>
          <p:nvPr/>
        </p:nvSpPr>
        <p:spPr>
          <a:xfrm xmlns:a="http://schemas.openxmlformats.org/drawingml/2006/main">
            <a:off x="8674037" y="2876741"/>
            <a:ext cx="1634490" cy="661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Accepted event</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Updated projection</a:t>
            </a:r>
          </a:p>
        </p:txBody>
      </p:sp>
      <p:sp>
        <p:nvSpPr>
          <p:cNvPr id="24" name="">
            <a:extLst xmlns:a="http://schemas.openxmlformats.org/drawingml/2006/main">
              <a:ext uri="{FF2B5EF4-FFF2-40B4-BE49-F238E27FC236}">
                <a16:creationId xmlns:a16="http://schemas.microsoft.com/office/drawing/2014/main" id="{39AD4FAB-F9D8-44D3-A97D-3E89D8A21D54}"/>
              </a:ext>
            </a:extLst>
          </p:cNvPr>
          <p:cNvSpPr>
            <a:spLocks xmlns:a="http://schemas.openxmlformats.org/drawingml/2006/main" noGrp="1"/>
          </p:cNvSpPr>
          <p:nvPr/>
        </p:nvSpPr>
        <p:spPr>
          <a:xfrm xmlns:a="http://schemas.openxmlformats.org/drawingml/2006/main">
            <a:off x="2269808" y="4592955"/>
            <a:ext cx="3194685"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5" name="">
            <a:extLst xmlns:a="http://schemas.openxmlformats.org/drawingml/2006/main">
              <a:ext uri="{FF2B5EF4-FFF2-40B4-BE49-F238E27FC236}">
                <a16:creationId xmlns:a16="http://schemas.microsoft.com/office/drawing/2014/main" id="{598A28BB-5ED7-44B2-ADAA-5B9E85E76543}"/>
              </a:ext>
            </a:extLst>
          </p:cNvPr>
          <p:cNvSpPr>
            <a:spLocks xmlns:a="http://schemas.openxmlformats.org/drawingml/2006/main" noGrp="1"/>
          </p:cNvSpPr>
          <p:nvPr/>
        </p:nvSpPr>
        <p:spPr>
          <a:xfrm xmlns:a="http://schemas.openxmlformats.org/drawingml/2006/main">
            <a:off x="2269808" y="4592955"/>
            <a:ext cx="3194685"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C0DA974-7735-44DC-903B-C8C28A16CC01}"/>
              </a:ext>
            </a:extLst>
          </p:cNvPr>
          <p:cNvSpPr>
            <a:spLocks xmlns:a="http://schemas.openxmlformats.org/drawingml/2006/main" noGrp="1"/>
          </p:cNvSpPr>
          <p:nvPr/>
        </p:nvSpPr>
        <p:spPr>
          <a:xfrm xmlns:a="http://schemas.openxmlformats.org/drawingml/2006/main">
            <a:off x="2396109" y="4719257"/>
            <a:ext cx="298665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ON INTERRUPTION</a:t>
            </a:r>
          </a:p>
        </p:txBody>
      </p:sp>
      <p:sp>
        <p:nvSpPr>
          <p:cNvPr id="27" name="">
            <a:extLst xmlns:a="http://schemas.openxmlformats.org/drawingml/2006/main">
              <a:ext uri="{FF2B5EF4-FFF2-40B4-BE49-F238E27FC236}">
                <a16:creationId xmlns:a16="http://schemas.microsoft.com/office/drawing/2014/main" id="{81C32ADE-A615-4054-986B-8E52ADF71C67}"/>
              </a:ext>
            </a:extLst>
          </p:cNvPr>
          <p:cNvSpPr>
            <a:spLocks xmlns:a="http://schemas.openxmlformats.org/drawingml/2006/main" noGrp="1"/>
          </p:cNvSpPr>
          <p:nvPr/>
        </p:nvSpPr>
        <p:spPr>
          <a:xfrm xmlns:a="http://schemas.openxmlformats.org/drawingml/2006/main">
            <a:off x="2396109" y="4964430"/>
            <a:ext cx="298665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Retry within limits</a:t>
            </a:r>
          </a:p>
        </p:txBody>
      </p:sp>
      <p:sp>
        <p:nvSpPr>
          <p:cNvPr id="28" name="">
            <a:extLst xmlns:a="http://schemas.openxmlformats.org/drawingml/2006/main">
              <a:ext uri="{FF2B5EF4-FFF2-40B4-BE49-F238E27FC236}">
                <a16:creationId xmlns:a16="http://schemas.microsoft.com/office/drawing/2014/main" id="{C302D9AA-8BD5-4C43-91F3-C265FBCBE547}"/>
              </a:ext>
            </a:extLst>
          </p:cNvPr>
          <p:cNvSpPr>
            <a:spLocks xmlns:a="http://schemas.openxmlformats.org/drawingml/2006/main" noGrp="1"/>
          </p:cNvSpPr>
          <p:nvPr/>
        </p:nvSpPr>
        <p:spPr>
          <a:xfrm xmlns:a="http://schemas.openxmlformats.org/drawingml/2006/main">
            <a:off x="2396109" y="5291328"/>
            <a:ext cx="29718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Expiry and hop count bound retries.</a:t>
            </a:r>
          </a:p>
        </p:txBody>
      </p:sp>
      <p:sp>
        <p:nvSpPr>
          <p:cNvPr id="29" name="">
            <a:extLst xmlns:a="http://schemas.openxmlformats.org/drawingml/2006/main">
              <a:ext uri="{FF2B5EF4-FFF2-40B4-BE49-F238E27FC236}">
                <a16:creationId xmlns:a16="http://schemas.microsoft.com/office/drawing/2014/main" id="{63673A87-4A99-4A7F-B6D0-59CAC099EF97}"/>
              </a:ext>
            </a:extLst>
          </p:cNvPr>
          <p:cNvSpPr>
            <a:spLocks xmlns:a="http://schemas.openxmlformats.org/drawingml/2006/main" noGrp="1"/>
          </p:cNvSpPr>
          <p:nvPr/>
        </p:nvSpPr>
        <p:spPr>
          <a:xfrm xmlns:a="http://schemas.openxmlformats.org/drawingml/2006/main">
            <a:off x="6653213" y="4592955"/>
            <a:ext cx="3194685"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30" name="">
            <a:extLst xmlns:a="http://schemas.openxmlformats.org/drawingml/2006/main">
              <a:ext uri="{FF2B5EF4-FFF2-40B4-BE49-F238E27FC236}">
                <a16:creationId xmlns:a16="http://schemas.microsoft.com/office/drawing/2014/main" id="{50F79F45-D192-45BB-A353-DCB22D778527}"/>
              </a:ext>
            </a:extLst>
          </p:cNvPr>
          <p:cNvSpPr>
            <a:spLocks xmlns:a="http://schemas.openxmlformats.org/drawingml/2006/main" noGrp="1"/>
          </p:cNvSpPr>
          <p:nvPr/>
        </p:nvSpPr>
        <p:spPr>
          <a:xfrm xmlns:a="http://schemas.openxmlformats.org/drawingml/2006/main">
            <a:off x="6653213" y="4592955"/>
            <a:ext cx="319468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C4B8D8E-A04B-4547-BE3A-AD08EDE9C025}"/>
              </a:ext>
            </a:extLst>
          </p:cNvPr>
          <p:cNvSpPr>
            <a:spLocks xmlns:a="http://schemas.openxmlformats.org/drawingml/2006/main" noGrp="1"/>
          </p:cNvSpPr>
          <p:nvPr/>
        </p:nvSpPr>
        <p:spPr>
          <a:xfrm xmlns:a="http://schemas.openxmlformats.org/drawingml/2006/main">
            <a:off x="6779514" y="4719257"/>
            <a:ext cx="298665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ON DUPLICATION</a:t>
            </a:r>
          </a:p>
        </p:txBody>
      </p:sp>
      <p:sp>
        <p:nvSpPr>
          <p:cNvPr id="32" name="">
            <a:extLst xmlns:a="http://schemas.openxmlformats.org/drawingml/2006/main">
              <a:ext uri="{FF2B5EF4-FFF2-40B4-BE49-F238E27FC236}">
                <a16:creationId xmlns:a16="http://schemas.microsoft.com/office/drawing/2014/main" id="{A4E874BA-FF63-468E-8C52-6FB8CDF1AD98}"/>
              </a:ext>
            </a:extLst>
          </p:cNvPr>
          <p:cNvSpPr>
            <a:spLocks xmlns:a="http://schemas.openxmlformats.org/drawingml/2006/main" noGrp="1"/>
          </p:cNvSpPr>
          <p:nvPr/>
        </p:nvSpPr>
        <p:spPr>
          <a:xfrm xmlns:a="http://schemas.openxmlformats.org/drawingml/2006/main">
            <a:off x="6779514" y="4964430"/>
            <a:ext cx="298665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Preserve one effect</a:t>
            </a:r>
          </a:p>
        </p:txBody>
      </p:sp>
      <p:sp>
        <p:nvSpPr>
          <p:cNvPr id="33" name="">
            <a:extLst xmlns:a="http://schemas.openxmlformats.org/drawingml/2006/main">
              <a:ext uri="{FF2B5EF4-FFF2-40B4-BE49-F238E27FC236}">
                <a16:creationId xmlns:a16="http://schemas.microsoft.com/office/drawing/2014/main" id="{AD2BEBA4-1EE3-4AD7-95F1-806DC556850B}"/>
              </a:ext>
            </a:extLst>
          </p:cNvPr>
          <p:cNvSpPr>
            <a:spLocks xmlns:a="http://schemas.openxmlformats.org/drawingml/2006/main" noGrp="1"/>
          </p:cNvSpPr>
          <p:nvPr/>
        </p:nvSpPr>
        <p:spPr>
          <a:xfrm xmlns:a="http://schemas.openxmlformats.org/drawingml/2006/main">
            <a:off x="6779514" y="5291328"/>
            <a:ext cx="29718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IDs and nonces prevent repetition.</a:t>
            </a:r>
          </a:p>
        </p:txBody>
      </p:sp>
      <p:cxnSp>
        <p:nvCxnSpPr>
          <p:cNvPr id="72" name=""/>
          <p:cNvCxnSpPr>
            <a:stCxn xmlns:a="http://schemas.openxmlformats.org/drawingml/2006/main" id="4" idx="3"/>
            <a:endCxn xmlns:a="http://schemas.openxmlformats.org/drawingml/2006/main" id="9" idx="1"/>
          </p:cNvCxnSpPr>
          <p:nvPr/>
        </p:nvCxnSpPr>
        <p:spPr>
          <a:xfrm xmlns:a="http://schemas.openxmlformats.org/drawingml/2006/main">
            <a:off x="3644265" y="2865597"/>
            <a:ext cx="393764"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73" name=""/>
          <p:cNvCxnSpPr>
            <a:stCxn xmlns:a="http://schemas.openxmlformats.org/drawingml/2006/main" id="9" idx="3"/>
            <a:endCxn xmlns:a="http://schemas.openxmlformats.org/drawingml/2006/main" id="14" idx="1"/>
          </p:cNvCxnSpPr>
          <p:nvPr/>
        </p:nvCxnSpPr>
        <p:spPr>
          <a:xfrm xmlns:a="http://schemas.openxmlformats.org/drawingml/2006/main">
            <a:off x="5895404" y="2865597"/>
            <a:ext cx="393763"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74" name=""/>
          <p:cNvCxnSpPr>
            <a:stCxn xmlns:a="http://schemas.openxmlformats.org/drawingml/2006/main" id="14" idx="3"/>
            <a:endCxn xmlns:a="http://schemas.openxmlformats.org/drawingml/2006/main" id="19" idx="1"/>
          </p:cNvCxnSpPr>
          <p:nvPr/>
        </p:nvCxnSpPr>
        <p:spPr>
          <a:xfrm xmlns:a="http://schemas.openxmlformats.org/drawingml/2006/main">
            <a:off x="8146542" y="2865597"/>
            <a:ext cx="401193"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37" name="">
            <a:extLst xmlns:a="http://schemas.openxmlformats.org/drawingml/2006/main">
              <a:ext uri="{FF2B5EF4-FFF2-40B4-BE49-F238E27FC236}">
                <a16:creationId xmlns:a16="http://schemas.microsoft.com/office/drawing/2014/main" id="{0B807F3A-1C80-4B03-A206-153E58B8D4F0}"/>
              </a:ext>
            </a:extLst>
          </p:cNvPr>
          <p:cNvSpPr>
            <a:spLocks xmlns:a="http://schemas.openxmlformats.org/drawingml/2006/main" noGrp="1"/>
          </p:cNvSpPr>
          <p:nvPr/>
        </p:nvSpPr>
        <p:spPr>
          <a:xfrm xmlns:a="http://schemas.openxmlformats.org/drawingml/2006/main">
            <a:off x="1786890" y="3857435"/>
            <a:ext cx="8618220" cy="289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80" b="0">
                <a:solidFill>
                  <a:srgbClr val="216E75"/>
                </a:solidFill>
                <a:latin typeface="Arial"/>
                <a:ea typeface="Arial"/>
                <a:cs typeface="Arial"/>
              </a:defRPr>
            </a:pPr>
            <a:r>
              <a:rPr sz="1580" b="0">
                <a:solidFill>
                  <a:srgbClr val="216E75"/>
                </a:solidFill>
                <a:latin typeface="Arial"/>
                <a:ea typeface="Arial"/>
                <a:cs typeface="Arial"/>
              </a:rPr>
              <a:t>A stored envelope may still fail recipient or domain verification.</a:t>
            </a:r>
          </a:p>
        </p:txBody>
      </p:sp>
      <p:sp>
        <p:nvSpPr>
          <p:cNvPr id="38" name="">
            <a:extLst xmlns:a="http://schemas.openxmlformats.org/drawingml/2006/main">
              <a:ext uri="{FF2B5EF4-FFF2-40B4-BE49-F238E27FC236}">
                <a16:creationId xmlns:a16="http://schemas.microsoft.com/office/drawing/2014/main" id="{9BF772C8-1B79-4878-AA2C-8CC32ED7E40A}"/>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editable diagram derived from repository architecture and documented acceptance boundaries.</a:t>
            </a:r>
          </a:p>
        </p:txBody>
      </p:sp>
    </p:spTree>
    <p:extLst>
      <p:ext uri="{BB962C8B-B14F-4D97-AF65-F5344CB8AC3E}">
        <p14:creationId xmlns:p14="http://schemas.microsoft.com/office/powerpoint/2010/main" val="119939619"/>
      </p:ext>
    </p:extLst>
  </p:cSld>
</p:sld>
</file>

<file path=ppt/slides/slide1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427B967-ABCE-41FB-A3EE-DE3E3268FC7D}"/>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Unsafe concurrent edits need an authorized decision</a:t>
            </a:r>
          </a:p>
        </p:txBody>
      </p:sp>
      <p:sp>
        <p:nvSpPr>
          <p:cNvPr id="2" name="">
            <a:extLst xmlns:a="http://schemas.openxmlformats.org/drawingml/2006/main">
              <a:ext uri="{FF2B5EF4-FFF2-40B4-BE49-F238E27FC236}">
                <a16:creationId xmlns:a16="http://schemas.microsoft.com/office/drawing/2014/main" id="{4B90C72D-4B4D-4450-8B3B-0F69D2C89CF3}"/>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25D69093-50E0-43FD-A455-AF8285B669CC}"/>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61FAB338-65B9-4D64-8F49-F10EDF635116}"/>
              </a:ext>
            </a:extLst>
          </p:cNvPr>
          <p:cNvSpPr>
            <a:spLocks xmlns:a="http://schemas.openxmlformats.org/drawingml/2006/main" noGrp="1"/>
          </p:cNvSpPr>
          <p:nvPr/>
        </p:nvSpPr>
        <p:spPr>
          <a:xfrm xmlns:a="http://schemas.openxmlformats.org/drawingml/2006/main">
            <a:off x="1786890" y="1881188"/>
            <a:ext cx="2451735"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FDE70C29-7CAF-4C15-8702-14016AAE04DB}"/>
              </a:ext>
            </a:extLst>
          </p:cNvPr>
          <p:cNvSpPr>
            <a:spLocks xmlns:a="http://schemas.openxmlformats.org/drawingml/2006/main" noGrp="1"/>
          </p:cNvSpPr>
          <p:nvPr/>
        </p:nvSpPr>
        <p:spPr>
          <a:xfrm xmlns:a="http://schemas.openxmlformats.org/drawingml/2006/main">
            <a:off x="1786890" y="1881188"/>
            <a:ext cx="245173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E6AD29-5CA4-4880-B298-2E7D51495CAE}"/>
              </a:ext>
            </a:extLst>
          </p:cNvPr>
          <p:cNvSpPr>
            <a:spLocks xmlns:a="http://schemas.openxmlformats.org/drawingml/2006/main" noGrp="1"/>
          </p:cNvSpPr>
          <p:nvPr/>
        </p:nvSpPr>
        <p:spPr>
          <a:xfrm xmlns:a="http://schemas.openxmlformats.org/drawingml/2006/main">
            <a:off x="1913191" y="2007489"/>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PHONE A</a:t>
            </a:r>
          </a:p>
        </p:txBody>
      </p:sp>
      <p:sp>
        <p:nvSpPr>
          <p:cNvPr id="7" name="">
            <a:extLst xmlns:a="http://schemas.openxmlformats.org/drawingml/2006/main">
              <a:ext uri="{FF2B5EF4-FFF2-40B4-BE49-F238E27FC236}">
                <a16:creationId xmlns:a16="http://schemas.microsoft.com/office/drawing/2014/main" id="{00A2D170-80D6-442E-8229-369BBF6ECE67}"/>
              </a:ext>
            </a:extLst>
          </p:cNvPr>
          <p:cNvSpPr>
            <a:spLocks xmlns:a="http://schemas.openxmlformats.org/drawingml/2006/main" noGrp="1"/>
          </p:cNvSpPr>
          <p:nvPr/>
        </p:nvSpPr>
        <p:spPr>
          <a:xfrm xmlns:a="http://schemas.openxmlformats.org/drawingml/2006/main">
            <a:off x="1913191" y="2252663"/>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Destination edit</a:t>
            </a:r>
          </a:p>
        </p:txBody>
      </p:sp>
      <p:sp>
        <p:nvSpPr>
          <p:cNvPr id="8" name="">
            <a:extLst xmlns:a="http://schemas.openxmlformats.org/drawingml/2006/main">
              <a:ext uri="{FF2B5EF4-FFF2-40B4-BE49-F238E27FC236}">
                <a16:creationId xmlns:a16="http://schemas.microsoft.com/office/drawing/2014/main" id="{5908F488-148B-4A3B-A086-458D779EC80E}"/>
              </a:ext>
            </a:extLst>
          </p:cNvPr>
          <p:cNvSpPr>
            <a:spLocks xmlns:a="http://schemas.openxmlformats.org/drawingml/2006/main" noGrp="1"/>
          </p:cNvSpPr>
          <p:nvPr/>
        </p:nvSpPr>
        <p:spPr>
          <a:xfrm xmlns:a="http://schemas.openxmlformats.org/drawingml/2006/main">
            <a:off x="1913191" y="2579561"/>
            <a:ext cx="22288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Vector clock and event ID</a:t>
            </a:r>
          </a:p>
        </p:txBody>
      </p:sp>
      <p:sp>
        <p:nvSpPr>
          <p:cNvPr id="9" name="">
            <a:extLst xmlns:a="http://schemas.openxmlformats.org/drawingml/2006/main">
              <a:ext uri="{FF2B5EF4-FFF2-40B4-BE49-F238E27FC236}">
                <a16:creationId xmlns:a16="http://schemas.microsoft.com/office/drawing/2014/main" id="{BE93EC21-C5E5-4CEB-9D3B-E42772FADA86}"/>
              </a:ext>
            </a:extLst>
          </p:cNvPr>
          <p:cNvSpPr>
            <a:spLocks xmlns:a="http://schemas.openxmlformats.org/drawingml/2006/main" noGrp="1"/>
          </p:cNvSpPr>
          <p:nvPr/>
        </p:nvSpPr>
        <p:spPr>
          <a:xfrm xmlns:a="http://schemas.openxmlformats.org/drawingml/2006/main">
            <a:off x="7953375" y="1881188"/>
            <a:ext cx="2451735"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42AA8371-12EA-4A63-9728-D3FC8DB5A2AF}"/>
              </a:ext>
            </a:extLst>
          </p:cNvPr>
          <p:cNvSpPr>
            <a:spLocks xmlns:a="http://schemas.openxmlformats.org/drawingml/2006/main" noGrp="1"/>
          </p:cNvSpPr>
          <p:nvPr/>
        </p:nvSpPr>
        <p:spPr>
          <a:xfrm xmlns:a="http://schemas.openxmlformats.org/drawingml/2006/main">
            <a:off x="7953375" y="1881188"/>
            <a:ext cx="245173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A3E020-091B-4245-A7D8-7595E40E96D3}"/>
              </a:ext>
            </a:extLst>
          </p:cNvPr>
          <p:cNvSpPr>
            <a:spLocks xmlns:a="http://schemas.openxmlformats.org/drawingml/2006/main" noGrp="1"/>
          </p:cNvSpPr>
          <p:nvPr/>
        </p:nvSpPr>
        <p:spPr>
          <a:xfrm xmlns:a="http://schemas.openxmlformats.org/drawingml/2006/main">
            <a:off x="8079677" y="2007489"/>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PHONE B</a:t>
            </a:r>
          </a:p>
        </p:txBody>
      </p:sp>
      <p:sp>
        <p:nvSpPr>
          <p:cNvPr id="12" name="">
            <a:extLst xmlns:a="http://schemas.openxmlformats.org/drawingml/2006/main">
              <a:ext uri="{FF2B5EF4-FFF2-40B4-BE49-F238E27FC236}">
                <a16:creationId xmlns:a16="http://schemas.microsoft.com/office/drawing/2014/main" id="{B936F917-CB93-4BE7-A0C7-A6825D16BAD8}"/>
              </a:ext>
            </a:extLst>
          </p:cNvPr>
          <p:cNvSpPr>
            <a:spLocks xmlns:a="http://schemas.openxmlformats.org/drawingml/2006/main" noGrp="1"/>
          </p:cNvSpPr>
          <p:nvPr/>
        </p:nvSpPr>
        <p:spPr>
          <a:xfrm xmlns:a="http://schemas.openxmlformats.org/drawingml/2006/main">
            <a:off x="8079677" y="2252663"/>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Concurrent edit</a:t>
            </a:r>
          </a:p>
        </p:txBody>
      </p:sp>
      <p:sp>
        <p:nvSpPr>
          <p:cNvPr id="13" name="">
            <a:extLst xmlns:a="http://schemas.openxmlformats.org/drawingml/2006/main">
              <a:ext uri="{FF2B5EF4-FFF2-40B4-BE49-F238E27FC236}">
                <a16:creationId xmlns:a16="http://schemas.microsoft.com/office/drawing/2014/main" id="{08A755DC-94B9-41B6-9742-1BBCC35A23CA}"/>
              </a:ext>
            </a:extLst>
          </p:cNvPr>
          <p:cNvSpPr>
            <a:spLocks xmlns:a="http://schemas.openxmlformats.org/drawingml/2006/main" noGrp="1"/>
          </p:cNvSpPr>
          <p:nvPr/>
        </p:nvSpPr>
        <p:spPr>
          <a:xfrm xmlns:a="http://schemas.openxmlformats.org/drawingml/2006/main">
            <a:off x="8079677" y="2579561"/>
            <a:ext cx="22288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Independent offline record</a:t>
            </a:r>
          </a:p>
        </p:txBody>
      </p:sp>
      <p:sp>
        <p:nvSpPr>
          <p:cNvPr id="14" name="">
            <a:extLst xmlns:a="http://schemas.openxmlformats.org/drawingml/2006/main">
              <a:ext uri="{FF2B5EF4-FFF2-40B4-BE49-F238E27FC236}">
                <a16:creationId xmlns:a16="http://schemas.microsoft.com/office/drawing/2014/main" id="{217E14A1-E2E7-4F18-BF17-1E9D90C4F9D6}"/>
              </a:ext>
            </a:extLst>
          </p:cNvPr>
          <p:cNvSpPr>
            <a:spLocks xmlns:a="http://schemas.openxmlformats.org/drawingml/2006/main" noGrp="1"/>
          </p:cNvSpPr>
          <p:nvPr/>
        </p:nvSpPr>
        <p:spPr>
          <a:xfrm xmlns:a="http://schemas.openxmlformats.org/drawingml/2006/main">
            <a:off x="4870133" y="3404235"/>
            <a:ext cx="2451735" cy="11887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097EB7EA-8CC8-4146-958C-822994A27926}"/>
              </a:ext>
            </a:extLst>
          </p:cNvPr>
          <p:cNvSpPr>
            <a:spLocks xmlns:a="http://schemas.openxmlformats.org/drawingml/2006/main" noGrp="1"/>
          </p:cNvSpPr>
          <p:nvPr/>
        </p:nvSpPr>
        <p:spPr>
          <a:xfrm xmlns:a="http://schemas.openxmlformats.org/drawingml/2006/main">
            <a:off x="4870133" y="3404235"/>
            <a:ext cx="2451735"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3BA783-254F-4834-914E-769F53405DBD}"/>
              </a:ext>
            </a:extLst>
          </p:cNvPr>
          <p:cNvSpPr>
            <a:spLocks xmlns:a="http://schemas.openxmlformats.org/drawingml/2006/main" noGrp="1"/>
          </p:cNvSpPr>
          <p:nvPr/>
        </p:nvSpPr>
        <p:spPr>
          <a:xfrm xmlns:a="http://schemas.openxmlformats.org/drawingml/2006/main">
            <a:off x="4996434" y="3530536"/>
            <a:ext cx="224370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MERGE POLICY</a:t>
            </a:r>
          </a:p>
        </p:txBody>
      </p:sp>
      <p:sp>
        <p:nvSpPr>
          <p:cNvPr id="17" name="">
            <a:extLst xmlns:a="http://schemas.openxmlformats.org/drawingml/2006/main">
              <a:ext uri="{FF2B5EF4-FFF2-40B4-BE49-F238E27FC236}">
                <a16:creationId xmlns:a16="http://schemas.microsoft.com/office/drawing/2014/main" id="{F140159C-433F-4028-94ED-723EB6469B11}"/>
              </a:ext>
            </a:extLst>
          </p:cNvPr>
          <p:cNvSpPr>
            <a:spLocks xmlns:a="http://schemas.openxmlformats.org/drawingml/2006/main" noGrp="1"/>
          </p:cNvSpPr>
          <p:nvPr/>
        </p:nvSpPr>
        <p:spPr>
          <a:xfrm xmlns:a="http://schemas.openxmlformats.org/drawingml/2006/main">
            <a:off x="4996434" y="3775710"/>
            <a:ext cx="224370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Compare causality</a:t>
            </a:r>
          </a:p>
        </p:txBody>
      </p:sp>
      <p:sp>
        <p:nvSpPr>
          <p:cNvPr id="18" name="">
            <a:extLst xmlns:a="http://schemas.openxmlformats.org/drawingml/2006/main">
              <a:ext uri="{FF2B5EF4-FFF2-40B4-BE49-F238E27FC236}">
                <a16:creationId xmlns:a16="http://schemas.microsoft.com/office/drawing/2014/main" id="{EE9FAB40-C5D1-42F8-AED0-D5EA965264E1}"/>
              </a:ext>
            </a:extLst>
          </p:cNvPr>
          <p:cNvSpPr>
            <a:spLocks xmlns:a="http://schemas.openxmlformats.org/drawingml/2006/main" noGrp="1"/>
          </p:cNvSpPr>
          <p:nvPr/>
        </p:nvSpPr>
        <p:spPr>
          <a:xfrm xmlns:a="http://schemas.openxmlformats.org/drawingml/2006/main">
            <a:off x="4996434" y="4102608"/>
            <a:ext cx="22288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Safe data types merge</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Unsafe fields enter review</a:t>
            </a:r>
          </a:p>
        </p:txBody>
      </p:sp>
      <p:sp>
        <p:nvSpPr>
          <p:cNvPr id="19" name="">
            <a:extLst xmlns:a="http://schemas.openxmlformats.org/drawingml/2006/main">
              <a:ext uri="{FF2B5EF4-FFF2-40B4-BE49-F238E27FC236}">
                <a16:creationId xmlns:a16="http://schemas.microsoft.com/office/drawing/2014/main" id="{7052CF15-83B5-403E-9D33-B3A94F76844F}"/>
              </a:ext>
            </a:extLst>
          </p:cNvPr>
          <p:cNvSpPr>
            <a:spLocks xmlns:a="http://schemas.openxmlformats.org/drawingml/2006/main" noGrp="1"/>
          </p:cNvSpPr>
          <p:nvPr/>
        </p:nvSpPr>
        <p:spPr>
          <a:xfrm xmlns:a="http://schemas.openxmlformats.org/drawingml/2006/main">
            <a:off x="1786890" y="4949571"/>
            <a:ext cx="3046095" cy="107727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150A4C23-26DC-4B25-8ECD-A3513CCFB51D}"/>
              </a:ext>
            </a:extLst>
          </p:cNvPr>
          <p:cNvSpPr>
            <a:spLocks xmlns:a="http://schemas.openxmlformats.org/drawingml/2006/main" noGrp="1"/>
          </p:cNvSpPr>
          <p:nvPr/>
        </p:nvSpPr>
        <p:spPr>
          <a:xfrm xmlns:a="http://schemas.openxmlformats.org/drawingml/2006/main">
            <a:off x="1786890" y="4949571"/>
            <a:ext cx="3046095" cy="29718"/>
          </a:xfrm>
          <a:prstGeom xmlns:a="http://schemas.openxmlformats.org/drawingml/2006/main" prst="rect">
            <a:avLst/>
          </a:prstGeom>
          <a:solidFill xmlns:a="http://schemas.openxmlformats.org/drawingml/2006/main">
            <a:srgbClr val="A9682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76CE54A-40A8-4431-8D82-E0F1DA1E0FA3}"/>
              </a:ext>
            </a:extLst>
          </p:cNvPr>
          <p:cNvSpPr>
            <a:spLocks xmlns:a="http://schemas.openxmlformats.org/drawingml/2006/main" noGrp="1"/>
          </p:cNvSpPr>
          <p:nvPr/>
        </p:nvSpPr>
        <p:spPr>
          <a:xfrm xmlns:a="http://schemas.openxmlformats.org/drawingml/2006/main">
            <a:off x="1913191" y="5075873"/>
            <a:ext cx="283806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A96827"/>
                </a:solidFill>
                <a:latin typeface="Arial"/>
                <a:ea typeface="Arial"/>
                <a:cs typeface="Arial"/>
              </a:defRPr>
            </a:pPr>
            <a:r>
              <a:rPr sz="1053" b="1">
                <a:solidFill>
                  <a:srgbClr val="A96827"/>
                </a:solidFill>
                <a:latin typeface="Arial"/>
                <a:ea typeface="Arial"/>
                <a:cs typeface="Arial"/>
              </a:rPr>
              <a:t>AUTHORIZED COORDINATOR</a:t>
            </a:r>
          </a:p>
        </p:txBody>
      </p:sp>
      <p:sp>
        <p:nvSpPr>
          <p:cNvPr id="22" name="">
            <a:extLst xmlns:a="http://schemas.openxmlformats.org/drawingml/2006/main">
              <a:ext uri="{FF2B5EF4-FFF2-40B4-BE49-F238E27FC236}">
                <a16:creationId xmlns:a16="http://schemas.microsoft.com/office/drawing/2014/main" id="{B74C9885-F651-4946-A70D-B27483E61992}"/>
              </a:ext>
            </a:extLst>
          </p:cNvPr>
          <p:cNvSpPr>
            <a:spLocks xmlns:a="http://schemas.openxmlformats.org/drawingml/2006/main" noGrp="1"/>
          </p:cNvSpPr>
          <p:nvPr/>
        </p:nvSpPr>
        <p:spPr>
          <a:xfrm xmlns:a="http://schemas.openxmlformats.org/drawingml/2006/main">
            <a:off x="1913191" y="5321046"/>
            <a:ext cx="283806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Select the resolution</a:t>
            </a:r>
          </a:p>
        </p:txBody>
      </p:sp>
      <p:sp>
        <p:nvSpPr>
          <p:cNvPr id="23" name="">
            <a:extLst xmlns:a="http://schemas.openxmlformats.org/drawingml/2006/main">
              <a:ext uri="{FF2B5EF4-FFF2-40B4-BE49-F238E27FC236}">
                <a16:creationId xmlns:a16="http://schemas.microsoft.com/office/drawing/2014/main" id="{AA5F6A28-05F2-4A00-878B-222346E07D5B}"/>
              </a:ext>
            </a:extLst>
          </p:cNvPr>
          <p:cNvSpPr>
            <a:spLocks xmlns:a="http://schemas.openxmlformats.org/drawingml/2006/main" noGrp="1"/>
          </p:cNvSpPr>
          <p:nvPr/>
        </p:nvSpPr>
        <p:spPr>
          <a:xfrm xmlns:a="http://schemas.openxmlformats.org/drawingml/2006/main">
            <a:off x="1913191" y="5647944"/>
            <a:ext cx="2823210" cy="364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Destination, priority or quantity</a:t>
            </a:r>
          </a:p>
        </p:txBody>
      </p:sp>
      <p:sp>
        <p:nvSpPr>
          <p:cNvPr id="24" name="">
            <a:extLst xmlns:a="http://schemas.openxmlformats.org/drawingml/2006/main">
              <a:ext uri="{FF2B5EF4-FFF2-40B4-BE49-F238E27FC236}">
                <a16:creationId xmlns:a16="http://schemas.microsoft.com/office/drawing/2014/main" id="{2DA9765A-E0B8-48CF-AF3F-9F4E22488561}"/>
              </a:ext>
            </a:extLst>
          </p:cNvPr>
          <p:cNvSpPr>
            <a:spLocks xmlns:a="http://schemas.openxmlformats.org/drawingml/2006/main" noGrp="1"/>
          </p:cNvSpPr>
          <p:nvPr/>
        </p:nvSpPr>
        <p:spPr>
          <a:xfrm xmlns:a="http://schemas.openxmlformats.org/drawingml/2006/main">
            <a:off x="6913245" y="4949571"/>
            <a:ext cx="3491865" cy="107727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5" name="">
            <a:extLst xmlns:a="http://schemas.openxmlformats.org/drawingml/2006/main">
              <a:ext uri="{FF2B5EF4-FFF2-40B4-BE49-F238E27FC236}">
                <a16:creationId xmlns:a16="http://schemas.microsoft.com/office/drawing/2014/main" id="{B82728BA-D102-49E3-9DD0-8D8CF0C1138C}"/>
              </a:ext>
            </a:extLst>
          </p:cNvPr>
          <p:cNvSpPr>
            <a:spLocks xmlns:a="http://schemas.openxmlformats.org/drawingml/2006/main" noGrp="1"/>
          </p:cNvSpPr>
          <p:nvPr/>
        </p:nvSpPr>
        <p:spPr>
          <a:xfrm xmlns:a="http://schemas.openxmlformats.org/drawingml/2006/main">
            <a:off x="6913245" y="4949571"/>
            <a:ext cx="3491865"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0D4B8E-90A4-479E-83E3-A1F74232D80A}"/>
              </a:ext>
            </a:extLst>
          </p:cNvPr>
          <p:cNvSpPr>
            <a:spLocks xmlns:a="http://schemas.openxmlformats.org/drawingml/2006/main" noGrp="1"/>
          </p:cNvSpPr>
          <p:nvPr/>
        </p:nvSpPr>
        <p:spPr>
          <a:xfrm xmlns:a="http://schemas.openxmlformats.org/drawingml/2006/main">
            <a:off x="7039547" y="5075873"/>
            <a:ext cx="328383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ACCEPTED PROJECTION</a:t>
            </a:r>
          </a:p>
        </p:txBody>
      </p:sp>
      <p:sp>
        <p:nvSpPr>
          <p:cNvPr id="27" name="">
            <a:extLst xmlns:a="http://schemas.openxmlformats.org/drawingml/2006/main">
              <a:ext uri="{FF2B5EF4-FFF2-40B4-BE49-F238E27FC236}">
                <a16:creationId xmlns:a16="http://schemas.microsoft.com/office/drawing/2014/main" id="{C846FDCF-E014-4568-BFEE-982531D3C817}"/>
              </a:ext>
            </a:extLst>
          </p:cNvPr>
          <p:cNvSpPr>
            <a:spLocks xmlns:a="http://schemas.openxmlformats.org/drawingml/2006/main" noGrp="1"/>
          </p:cNvSpPr>
          <p:nvPr/>
        </p:nvSpPr>
        <p:spPr>
          <a:xfrm xmlns:a="http://schemas.openxmlformats.org/drawingml/2006/main">
            <a:off x="7039547" y="5321046"/>
            <a:ext cx="328383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Retain the decision</a:t>
            </a:r>
          </a:p>
        </p:txBody>
      </p:sp>
      <p:sp>
        <p:nvSpPr>
          <p:cNvPr id="28" name="">
            <a:extLst xmlns:a="http://schemas.openxmlformats.org/drawingml/2006/main">
              <a:ext uri="{FF2B5EF4-FFF2-40B4-BE49-F238E27FC236}">
                <a16:creationId xmlns:a16="http://schemas.microsoft.com/office/drawing/2014/main" id="{499519BA-7AA5-48FA-A26A-F641A5415443}"/>
              </a:ext>
            </a:extLst>
          </p:cNvPr>
          <p:cNvSpPr>
            <a:spLocks xmlns:a="http://schemas.openxmlformats.org/drawingml/2006/main" noGrp="1"/>
          </p:cNvSpPr>
          <p:nvPr/>
        </p:nvSpPr>
        <p:spPr>
          <a:xfrm xmlns:a="http://schemas.openxmlformats.org/drawingml/2006/main">
            <a:off x="7039547" y="5647944"/>
            <a:ext cx="3268980" cy="364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Selected value, policy version and hash</a:t>
            </a:r>
          </a:p>
        </p:txBody>
      </p:sp>
      <p:cxnSp>
        <p:nvCxnSpPr>
          <p:cNvPr id="62" name=""/>
          <p:cNvCxnSpPr>
            <a:stCxn xmlns:a="http://schemas.openxmlformats.org/drawingml/2006/main" id="4" idx="2"/>
            <a:endCxn xmlns:a="http://schemas.openxmlformats.org/drawingml/2006/main" id="14" idx="0"/>
          </p:cNvCxnSpPr>
          <p:nvPr/>
        </p:nvCxnSpPr>
        <p:spPr>
          <a:xfrm xmlns:a="http://schemas.openxmlformats.org/drawingml/2006/main">
            <a:off x="3012758" y="3069908"/>
            <a:ext cx="3083243" cy="334327"/>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3" name=""/>
          <p:cNvCxnSpPr>
            <a:stCxn xmlns:a="http://schemas.openxmlformats.org/drawingml/2006/main" id="9" idx="2"/>
            <a:endCxn xmlns:a="http://schemas.openxmlformats.org/drawingml/2006/main" id="14" idx="0"/>
          </p:cNvCxnSpPr>
          <p:nvPr/>
        </p:nvCxnSpPr>
        <p:spPr>
          <a:xfrm xmlns:a="http://schemas.openxmlformats.org/drawingml/2006/main" flipH="1">
            <a:off x="6096001" y="3069908"/>
            <a:ext cx="3083242" cy="334327"/>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4" name=""/>
          <p:cNvCxnSpPr>
            <a:stCxn xmlns:a="http://schemas.openxmlformats.org/drawingml/2006/main" id="14" idx="2"/>
            <a:endCxn xmlns:a="http://schemas.openxmlformats.org/drawingml/2006/main" id="19" idx="0"/>
          </p:cNvCxnSpPr>
          <p:nvPr/>
        </p:nvCxnSpPr>
        <p:spPr>
          <a:xfrm xmlns:a="http://schemas.openxmlformats.org/drawingml/2006/main" flipH="1">
            <a:off x="3309938" y="4592955"/>
            <a:ext cx="2786063" cy="356616"/>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5" name=""/>
          <p:cNvCxnSpPr>
            <a:stCxn xmlns:a="http://schemas.openxmlformats.org/drawingml/2006/main" id="19" idx="3"/>
            <a:endCxn xmlns:a="http://schemas.openxmlformats.org/drawingml/2006/main" id="24" idx="1"/>
          </p:cNvCxnSpPr>
          <p:nvPr/>
        </p:nvCxnSpPr>
        <p:spPr>
          <a:xfrm xmlns:a="http://schemas.openxmlformats.org/drawingml/2006/main">
            <a:off x="4832985" y="5488210"/>
            <a:ext cx="2080260"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33" name="">
            <a:extLst xmlns:a="http://schemas.openxmlformats.org/drawingml/2006/main">
              <a:ext uri="{FF2B5EF4-FFF2-40B4-BE49-F238E27FC236}">
                <a16:creationId xmlns:a16="http://schemas.microsoft.com/office/drawing/2014/main" id="{BC8A37EE-A524-48C9-9D3F-7F522A119228}"/>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editable diagram derived from repository architecture and documented acceptance boundaries.</a:t>
            </a:r>
          </a:p>
        </p:txBody>
      </p:sp>
    </p:spTree>
    <p:extLst>
      <p:ext uri="{BB962C8B-B14F-4D97-AF65-F5344CB8AC3E}">
        <p14:creationId xmlns:p14="http://schemas.microsoft.com/office/powerpoint/2010/main" val="297205806"/>
      </p:ext>
    </p:extLst>
  </p:cSld>
</p:sld>
</file>

<file path=ppt/slides/slide1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8D49244-94E4-4D0A-9117-02B8B7B5670C}"/>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Route failures and risk have different effects</a:t>
            </a:r>
          </a:p>
        </p:txBody>
      </p:sp>
      <p:sp>
        <p:nvSpPr>
          <p:cNvPr id="2" name="">
            <a:extLst xmlns:a="http://schemas.openxmlformats.org/drawingml/2006/main">
              <a:ext uri="{FF2B5EF4-FFF2-40B4-BE49-F238E27FC236}">
                <a16:creationId xmlns:a16="http://schemas.microsoft.com/office/drawing/2014/main" id="{4E0D62C2-0B85-42EE-AE6E-1F87BD32A6B3}"/>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E2BF4052-CDE4-4981-8671-0343DF258B9A}"/>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4A66D73A-D2B4-496A-8ADE-655A444E0C03}"/>
              </a:ext>
            </a:extLst>
          </p:cNvPr>
          <p:cNvSpPr>
            <a:spLocks xmlns:a="http://schemas.openxmlformats.org/drawingml/2006/main" noGrp="1"/>
          </p:cNvSpPr>
          <p:nvPr/>
        </p:nvSpPr>
        <p:spPr>
          <a:xfrm xmlns:a="http://schemas.openxmlformats.org/drawingml/2006/main">
            <a:off x="1786890" y="1881188"/>
            <a:ext cx="2637473" cy="126301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2E8759AA-B873-4BAC-B949-1692FC5FE500}"/>
              </a:ext>
            </a:extLst>
          </p:cNvPr>
          <p:cNvSpPr>
            <a:spLocks xmlns:a="http://schemas.openxmlformats.org/drawingml/2006/main" noGrp="1"/>
          </p:cNvSpPr>
          <p:nvPr/>
        </p:nvSpPr>
        <p:spPr>
          <a:xfrm xmlns:a="http://schemas.openxmlformats.org/drawingml/2006/main">
            <a:off x="1786890" y="1881188"/>
            <a:ext cx="2637473" cy="29718"/>
          </a:xfrm>
          <a:prstGeom xmlns:a="http://schemas.openxmlformats.org/drawingml/2006/main" prst="rect">
            <a:avLst/>
          </a:prstGeom>
          <a:solidFill xmlns:a="http://schemas.openxmlformats.org/drawingml/2006/main">
            <a:srgbClr val="A6443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DFAD26-018F-4005-B90F-B23C85E52533}"/>
              </a:ext>
            </a:extLst>
          </p:cNvPr>
          <p:cNvSpPr>
            <a:spLocks xmlns:a="http://schemas.openxmlformats.org/drawingml/2006/main" noGrp="1"/>
          </p:cNvSpPr>
          <p:nvPr/>
        </p:nvSpPr>
        <p:spPr>
          <a:xfrm xmlns:a="http://schemas.openxmlformats.org/drawingml/2006/main">
            <a:off x="1913191" y="2007489"/>
            <a:ext cx="242944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A64436"/>
                </a:solidFill>
                <a:latin typeface="Arial"/>
                <a:ea typeface="Arial"/>
                <a:cs typeface="Arial"/>
              </a:defRPr>
            </a:pPr>
            <a:r>
              <a:rPr sz="1053" b="1">
                <a:solidFill>
                  <a:srgbClr val="A64436"/>
                </a:solidFill>
                <a:latin typeface="Arial"/>
                <a:ea typeface="Arial"/>
                <a:cs typeface="Arial"/>
              </a:rPr>
              <a:t>CONFIRMED FAILURE</a:t>
            </a:r>
          </a:p>
        </p:txBody>
      </p:sp>
      <p:sp>
        <p:nvSpPr>
          <p:cNvPr id="7" name="">
            <a:extLst xmlns:a="http://schemas.openxmlformats.org/drawingml/2006/main">
              <a:ext uri="{FF2B5EF4-FFF2-40B4-BE49-F238E27FC236}">
                <a16:creationId xmlns:a16="http://schemas.microsoft.com/office/drawing/2014/main" id="{FCB3426A-F0D9-477D-BD1E-374AE8B2D731}"/>
              </a:ext>
            </a:extLst>
          </p:cNvPr>
          <p:cNvSpPr>
            <a:spLocks xmlns:a="http://schemas.openxmlformats.org/drawingml/2006/main" noGrp="1"/>
          </p:cNvSpPr>
          <p:nvPr/>
        </p:nvSpPr>
        <p:spPr>
          <a:xfrm xmlns:a="http://schemas.openxmlformats.org/drawingml/2006/main">
            <a:off x="1913191" y="2252663"/>
            <a:ext cx="2429447"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Exclude the edge</a:t>
            </a:r>
          </a:p>
        </p:txBody>
      </p:sp>
      <p:sp>
        <p:nvSpPr>
          <p:cNvPr id="8" name="">
            <a:extLst xmlns:a="http://schemas.openxmlformats.org/drawingml/2006/main">
              <a:ext uri="{FF2B5EF4-FFF2-40B4-BE49-F238E27FC236}">
                <a16:creationId xmlns:a16="http://schemas.microsoft.com/office/drawing/2014/main" id="{6C876717-1167-47FC-92F2-2DAA8E396712}"/>
              </a:ext>
            </a:extLst>
          </p:cNvPr>
          <p:cNvSpPr>
            <a:spLocks xmlns:a="http://schemas.openxmlformats.org/drawingml/2006/main" noGrp="1"/>
          </p:cNvSpPr>
          <p:nvPr/>
        </p:nvSpPr>
        <p:spPr>
          <a:xfrm xmlns:a="http://schemas.openxmlformats.org/drawingml/2006/main">
            <a:off x="1913191" y="2579561"/>
            <a:ext cx="2414588" cy="5497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Vehicle mode constraints</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remain mandatory.</a:t>
            </a:r>
          </a:p>
        </p:txBody>
      </p:sp>
      <p:sp>
        <p:nvSpPr>
          <p:cNvPr id="9" name="">
            <a:extLst xmlns:a="http://schemas.openxmlformats.org/drawingml/2006/main">
              <a:ext uri="{FF2B5EF4-FFF2-40B4-BE49-F238E27FC236}">
                <a16:creationId xmlns:a16="http://schemas.microsoft.com/office/drawing/2014/main" id="{B9A7BCB7-411D-4BF4-8214-E59FFDBD12ED}"/>
              </a:ext>
            </a:extLst>
          </p:cNvPr>
          <p:cNvSpPr>
            <a:spLocks xmlns:a="http://schemas.openxmlformats.org/drawingml/2006/main" noGrp="1"/>
          </p:cNvSpPr>
          <p:nvPr/>
        </p:nvSpPr>
        <p:spPr>
          <a:xfrm xmlns:a="http://schemas.openxmlformats.org/drawingml/2006/main">
            <a:off x="7767638" y="1881188"/>
            <a:ext cx="2637473" cy="126301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98088436-7133-48E0-9B46-E537F9AA1F63}"/>
              </a:ext>
            </a:extLst>
          </p:cNvPr>
          <p:cNvSpPr>
            <a:spLocks xmlns:a="http://schemas.openxmlformats.org/drawingml/2006/main" noGrp="1"/>
          </p:cNvSpPr>
          <p:nvPr/>
        </p:nvSpPr>
        <p:spPr>
          <a:xfrm xmlns:a="http://schemas.openxmlformats.org/drawingml/2006/main">
            <a:off x="7767638" y="1881188"/>
            <a:ext cx="2637473" cy="29718"/>
          </a:xfrm>
          <a:prstGeom xmlns:a="http://schemas.openxmlformats.org/drawingml/2006/main" prst="rect">
            <a:avLst/>
          </a:prstGeom>
          <a:solidFill xmlns:a="http://schemas.openxmlformats.org/drawingml/2006/main">
            <a:srgbClr val="A968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FDD232-3A9B-4EF7-91F5-94DA7560A856}"/>
              </a:ext>
            </a:extLst>
          </p:cNvPr>
          <p:cNvSpPr>
            <a:spLocks xmlns:a="http://schemas.openxmlformats.org/drawingml/2006/main" noGrp="1"/>
          </p:cNvSpPr>
          <p:nvPr/>
        </p:nvSpPr>
        <p:spPr>
          <a:xfrm xmlns:a="http://schemas.openxmlformats.org/drawingml/2006/main">
            <a:off x="7893939" y="2007489"/>
            <a:ext cx="242944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A96827"/>
                </a:solidFill>
                <a:latin typeface="Arial"/>
                <a:ea typeface="Arial"/>
                <a:cs typeface="Arial"/>
              </a:defRPr>
            </a:pPr>
            <a:r>
              <a:rPr sz="1053" b="1">
                <a:solidFill>
                  <a:srgbClr val="A96827"/>
                </a:solidFill>
                <a:latin typeface="Arial"/>
                <a:ea typeface="Arial"/>
                <a:cs typeface="Arial"/>
              </a:rPr>
              <a:t>SIMULATED RISK</a:t>
            </a:r>
          </a:p>
        </p:txBody>
      </p:sp>
      <p:sp>
        <p:nvSpPr>
          <p:cNvPr id="12" name="">
            <a:extLst xmlns:a="http://schemas.openxmlformats.org/drawingml/2006/main">
              <a:ext uri="{FF2B5EF4-FFF2-40B4-BE49-F238E27FC236}">
                <a16:creationId xmlns:a16="http://schemas.microsoft.com/office/drawing/2014/main" id="{BA04C206-4895-4807-B322-95F69861CF7B}"/>
              </a:ext>
            </a:extLst>
          </p:cNvPr>
          <p:cNvSpPr>
            <a:spLocks xmlns:a="http://schemas.openxmlformats.org/drawingml/2006/main" noGrp="1"/>
          </p:cNvSpPr>
          <p:nvPr/>
        </p:nvSpPr>
        <p:spPr>
          <a:xfrm xmlns:a="http://schemas.openxmlformats.org/drawingml/2006/main">
            <a:off x="7893939" y="2252663"/>
            <a:ext cx="2429447"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Add advisory cost</a:t>
            </a:r>
          </a:p>
        </p:txBody>
      </p:sp>
      <p:sp>
        <p:nvSpPr>
          <p:cNvPr id="13" name="">
            <a:extLst xmlns:a="http://schemas.openxmlformats.org/drawingml/2006/main">
              <a:ext uri="{FF2B5EF4-FFF2-40B4-BE49-F238E27FC236}">
                <a16:creationId xmlns:a16="http://schemas.microsoft.com/office/drawing/2014/main" id="{D0232C29-66EA-4ED7-8A6E-E3DA8E178364}"/>
              </a:ext>
            </a:extLst>
          </p:cNvPr>
          <p:cNvSpPr>
            <a:spLocks xmlns:a="http://schemas.openxmlformats.org/drawingml/2006/main" noGrp="1"/>
          </p:cNvSpPr>
          <p:nvPr/>
        </p:nvSpPr>
        <p:spPr>
          <a:xfrm xmlns:a="http://schemas.openxmlformats.org/drawingml/2006/main">
            <a:off x="7893939" y="2579561"/>
            <a:ext cx="2414588" cy="5497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The model does not</a:t>
            </a:r>
          </a:p>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confirm a closure.</a:t>
            </a:r>
          </a:p>
        </p:txBody>
      </p:sp>
      <p:sp>
        <p:nvSpPr>
          <p:cNvPr id="14" name="">
            <a:extLst xmlns:a="http://schemas.openxmlformats.org/drawingml/2006/main">
              <a:ext uri="{FF2B5EF4-FFF2-40B4-BE49-F238E27FC236}">
                <a16:creationId xmlns:a16="http://schemas.microsoft.com/office/drawing/2014/main" id="{852F5BEF-6201-43F3-BF30-8975240E162B}"/>
              </a:ext>
            </a:extLst>
          </p:cNvPr>
          <p:cNvSpPr>
            <a:spLocks xmlns:a="http://schemas.openxmlformats.org/drawingml/2006/main" noGrp="1"/>
          </p:cNvSpPr>
          <p:nvPr/>
        </p:nvSpPr>
        <p:spPr>
          <a:xfrm xmlns:a="http://schemas.openxmlformats.org/drawingml/2006/main">
            <a:off x="4832985" y="3426524"/>
            <a:ext cx="2526030" cy="1077278"/>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81CE01FE-5C9E-4D16-AACA-460C1361BC7B}"/>
              </a:ext>
            </a:extLst>
          </p:cNvPr>
          <p:cNvSpPr>
            <a:spLocks xmlns:a="http://schemas.openxmlformats.org/drawingml/2006/main" noGrp="1"/>
          </p:cNvSpPr>
          <p:nvPr/>
        </p:nvSpPr>
        <p:spPr>
          <a:xfrm xmlns:a="http://schemas.openxmlformats.org/drawingml/2006/main">
            <a:off x="4832985" y="3426524"/>
            <a:ext cx="2526030" cy="29718"/>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3BB55DC-62E2-4E90-B7FE-CBBBDB30A5E9}"/>
              </a:ext>
            </a:extLst>
          </p:cNvPr>
          <p:cNvSpPr>
            <a:spLocks xmlns:a="http://schemas.openxmlformats.org/drawingml/2006/main" noGrp="1"/>
          </p:cNvSpPr>
          <p:nvPr/>
        </p:nvSpPr>
        <p:spPr>
          <a:xfrm xmlns:a="http://schemas.openxmlformats.org/drawingml/2006/main">
            <a:off x="4959287" y="3552825"/>
            <a:ext cx="231800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216E75"/>
                </a:solidFill>
                <a:latin typeface="Arial"/>
                <a:ea typeface="Arial"/>
                <a:cs typeface="Arial"/>
              </a:defRPr>
            </a:pPr>
            <a:r>
              <a:rPr sz="1053" b="1">
                <a:solidFill>
                  <a:srgbClr val="216E75"/>
                </a:solidFill>
                <a:latin typeface="Arial"/>
                <a:ea typeface="Arial"/>
                <a:cs typeface="Arial"/>
              </a:rPr>
              <a:t>LOCAL SEARCH</a:t>
            </a:r>
          </a:p>
        </p:txBody>
      </p:sp>
      <p:sp>
        <p:nvSpPr>
          <p:cNvPr id="17" name="">
            <a:extLst xmlns:a="http://schemas.openxmlformats.org/drawingml/2006/main">
              <a:ext uri="{FF2B5EF4-FFF2-40B4-BE49-F238E27FC236}">
                <a16:creationId xmlns:a16="http://schemas.microsoft.com/office/drawing/2014/main" id="{795E1830-0F29-4060-B6AF-A7474F6C7BBD}"/>
              </a:ext>
            </a:extLst>
          </p:cNvPr>
          <p:cNvSpPr>
            <a:spLocks xmlns:a="http://schemas.openxmlformats.org/drawingml/2006/main" noGrp="1"/>
          </p:cNvSpPr>
          <p:nvPr/>
        </p:nvSpPr>
        <p:spPr>
          <a:xfrm xmlns:a="http://schemas.openxmlformats.org/drawingml/2006/main">
            <a:off x="4959287" y="3797999"/>
            <a:ext cx="2318004"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Calculate a route</a:t>
            </a:r>
          </a:p>
        </p:txBody>
      </p:sp>
      <p:sp>
        <p:nvSpPr>
          <p:cNvPr id="18" name="">
            <a:extLst xmlns:a="http://schemas.openxmlformats.org/drawingml/2006/main">
              <a:ext uri="{FF2B5EF4-FFF2-40B4-BE49-F238E27FC236}">
                <a16:creationId xmlns:a16="http://schemas.microsoft.com/office/drawing/2014/main" id="{5202639D-E7F7-444C-A360-7114B24571C0}"/>
              </a:ext>
            </a:extLst>
          </p:cNvPr>
          <p:cNvSpPr>
            <a:spLocks xmlns:a="http://schemas.openxmlformats.org/drawingml/2006/main" noGrp="1"/>
          </p:cNvSpPr>
          <p:nvPr/>
        </p:nvSpPr>
        <p:spPr>
          <a:xfrm xmlns:a="http://schemas.openxmlformats.org/drawingml/2006/main">
            <a:off x="4959287" y="4124897"/>
            <a:ext cx="2303145" cy="364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Deterministic path and ETA</a:t>
            </a:r>
          </a:p>
        </p:txBody>
      </p:sp>
      <p:sp>
        <p:nvSpPr>
          <p:cNvPr id="19" name="">
            <a:extLst xmlns:a="http://schemas.openxmlformats.org/drawingml/2006/main">
              <a:ext uri="{FF2B5EF4-FFF2-40B4-BE49-F238E27FC236}">
                <a16:creationId xmlns:a16="http://schemas.microsoft.com/office/drawing/2014/main" id="{3CE26F58-59E9-462F-B72D-C57B1C0CB1A5}"/>
              </a:ext>
            </a:extLst>
          </p:cNvPr>
          <p:cNvSpPr>
            <a:spLocks xmlns:a="http://schemas.openxmlformats.org/drawingml/2006/main" noGrp="1"/>
          </p:cNvSpPr>
          <p:nvPr/>
        </p:nvSpPr>
        <p:spPr>
          <a:xfrm xmlns:a="http://schemas.openxmlformats.org/drawingml/2006/main">
            <a:off x="1786890" y="4964430"/>
            <a:ext cx="3789045" cy="104013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7A0941FE-F3F9-4A60-8B3F-37494298AE06}"/>
              </a:ext>
            </a:extLst>
          </p:cNvPr>
          <p:cNvSpPr>
            <a:spLocks xmlns:a="http://schemas.openxmlformats.org/drawingml/2006/main" noGrp="1"/>
          </p:cNvSpPr>
          <p:nvPr/>
        </p:nvSpPr>
        <p:spPr>
          <a:xfrm xmlns:a="http://schemas.openxmlformats.org/drawingml/2006/main">
            <a:off x="1786890" y="4964430"/>
            <a:ext cx="3789045" cy="29718"/>
          </a:xfrm>
          <a:prstGeom xmlns:a="http://schemas.openxmlformats.org/drawingml/2006/main" prst="rect">
            <a:avLst/>
          </a:prstGeom>
          <a:solidFill xmlns:a="http://schemas.openxmlformats.org/drawingml/2006/main">
            <a:srgbClr val="A9682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ACC7FD-D44E-448D-BB74-26B054FCAE12}"/>
              </a:ext>
            </a:extLst>
          </p:cNvPr>
          <p:cNvSpPr>
            <a:spLocks xmlns:a="http://schemas.openxmlformats.org/drawingml/2006/main" noGrp="1"/>
          </p:cNvSpPr>
          <p:nvPr/>
        </p:nvSpPr>
        <p:spPr>
          <a:xfrm xmlns:a="http://schemas.openxmlformats.org/drawingml/2006/main">
            <a:off x="1913191" y="5090732"/>
            <a:ext cx="358101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A96827"/>
                </a:solidFill>
                <a:latin typeface="Arial"/>
                <a:ea typeface="Arial"/>
                <a:cs typeface="Arial"/>
              </a:defRPr>
            </a:pPr>
            <a:r>
              <a:rPr sz="1053" b="1">
                <a:solidFill>
                  <a:srgbClr val="A96827"/>
                </a:solidFill>
                <a:latin typeface="Arial"/>
                <a:ea typeface="Arial"/>
                <a:cs typeface="Arial"/>
              </a:rPr>
              <a:t>PRIORITY PROPOSAL</a:t>
            </a:r>
          </a:p>
        </p:txBody>
      </p:sp>
      <p:sp>
        <p:nvSpPr>
          <p:cNvPr id="22" name="">
            <a:extLst xmlns:a="http://schemas.openxmlformats.org/drawingml/2006/main">
              <a:ext uri="{FF2B5EF4-FFF2-40B4-BE49-F238E27FC236}">
                <a16:creationId xmlns:a16="http://schemas.microsoft.com/office/drawing/2014/main" id="{175AA437-D6E1-4D27-BA54-8F3B09F535FA}"/>
              </a:ext>
            </a:extLst>
          </p:cNvPr>
          <p:cNvSpPr>
            <a:spLocks xmlns:a="http://schemas.openxmlformats.org/drawingml/2006/main" noGrp="1"/>
          </p:cNvSpPr>
          <p:nvPr/>
        </p:nvSpPr>
        <p:spPr>
          <a:xfrm xmlns:a="http://schemas.openxmlformats.org/drawingml/2006/main">
            <a:off x="1913191" y="5335905"/>
            <a:ext cx="3581019"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Check time and safe waypoint</a:t>
            </a:r>
          </a:p>
        </p:txBody>
      </p:sp>
      <p:sp>
        <p:nvSpPr>
          <p:cNvPr id="23" name="">
            <a:extLst xmlns:a="http://schemas.openxmlformats.org/drawingml/2006/main">
              <a:ext uri="{FF2B5EF4-FFF2-40B4-BE49-F238E27FC236}">
                <a16:creationId xmlns:a16="http://schemas.microsoft.com/office/drawing/2014/main" id="{27B89B7B-CD23-45CE-BB44-1FABB59AB7C2}"/>
              </a:ext>
            </a:extLst>
          </p:cNvPr>
          <p:cNvSpPr>
            <a:spLocks xmlns:a="http://schemas.openxmlformats.org/drawingml/2006/main" noGrp="1"/>
          </p:cNvSpPr>
          <p:nvPr/>
        </p:nvSpPr>
        <p:spPr>
          <a:xfrm xmlns:a="http://schemas.openxmlformats.org/drawingml/2006/main">
            <a:off x="1913191" y="5662803"/>
            <a:ext cx="356616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Fresh estimate and slowdown scenario</a:t>
            </a:r>
          </a:p>
        </p:txBody>
      </p:sp>
      <p:sp>
        <p:nvSpPr>
          <p:cNvPr id="24" name="">
            <a:extLst xmlns:a="http://schemas.openxmlformats.org/drawingml/2006/main">
              <a:ext uri="{FF2B5EF4-FFF2-40B4-BE49-F238E27FC236}">
                <a16:creationId xmlns:a16="http://schemas.microsoft.com/office/drawing/2014/main" id="{A7EDC8F7-1979-4E5C-851A-3579B430C4A2}"/>
              </a:ext>
            </a:extLst>
          </p:cNvPr>
          <p:cNvSpPr>
            <a:spLocks xmlns:a="http://schemas.openxmlformats.org/drawingml/2006/main" noGrp="1"/>
          </p:cNvSpPr>
          <p:nvPr/>
        </p:nvSpPr>
        <p:spPr>
          <a:xfrm xmlns:a="http://schemas.openxmlformats.org/drawingml/2006/main">
            <a:off x="6838950" y="4964430"/>
            <a:ext cx="3566160" cy="104013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5" name="">
            <a:extLst xmlns:a="http://schemas.openxmlformats.org/drawingml/2006/main">
              <a:ext uri="{FF2B5EF4-FFF2-40B4-BE49-F238E27FC236}">
                <a16:creationId xmlns:a16="http://schemas.microsoft.com/office/drawing/2014/main" id="{BC626314-FBEF-4F94-898C-3983EB3A14C7}"/>
              </a:ext>
            </a:extLst>
          </p:cNvPr>
          <p:cNvSpPr>
            <a:spLocks xmlns:a="http://schemas.openxmlformats.org/drawingml/2006/main" noGrp="1"/>
          </p:cNvSpPr>
          <p:nvPr/>
        </p:nvSpPr>
        <p:spPr>
          <a:xfrm xmlns:a="http://schemas.openxmlformats.org/drawingml/2006/main">
            <a:off x="6838950" y="4964430"/>
            <a:ext cx="3566160" cy="29718"/>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4ACEBED-051D-48DC-91F4-58FFD716F3E1}"/>
              </a:ext>
            </a:extLst>
          </p:cNvPr>
          <p:cNvSpPr>
            <a:spLocks xmlns:a="http://schemas.openxmlformats.org/drawingml/2006/main" noGrp="1"/>
          </p:cNvSpPr>
          <p:nvPr/>
        </p:nvSpPr>
        <p:spPr>
          <a:xfrm xmlns:a="http://schemas.openxmlformats.org/drawingml/2006/main">
            <a:off x="6965252" y="5090732"/>
            <a:ext cx="33581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3" b="1">
                <a:solidFill>
                  <a:srgbClr val="123D38"/>
                </a:solidFill>
                <a:latin typeface="Arial"/>
                <a:ea typeface="Arial"/>
                <a:cs typeface="Arial"/>
              </a:defRPr>
            </a:pPr>
            <a:r>
              <a:rPr sz="1053" b="1">
                <a:solidFill>
                  <a:srgbClr val="123D38"/>
                </a:solidFill>
                <a:latin typeface="Arial"/>
                <a:ea typeface="Arial"/>
                <a:cs typeface="Arial"/>
              </a:rPr>
              <a:t>HUMAN CONFIRMATION</a:t>
            </a:r>
          </a:p>
        </p:txBody>
      </p:sp>
      <p:sp>
        <p:nvSpPr>
          <p:cNvPr id="27" name="">
            <a:extLst xmlns:a="http://schemas.openxmlformats.org/drawingml/2006/main">
              <a:ext uri="{FF2B5EF4-FFF2-40B4-BE49-F238E27FC236}">
                <a16:creationId xmlns:a16="http://schemas.microsoft.com/office/drawing/2014/main" id="{67783718-6A8A-46AC-BB5F-4CDBF595C6C1}"/>
              </a:ext>
            </a:extLst>
          </p:cNvPr>
          <p:cNvSpPr>
            <a:spLocks xmlns:a="http://schemas.openxmlformats.org/drawingml/2006/main" noGrp="1"/>
          </p:cNvSpPr>
          <p:nvPr/>
        </p:nvSpPr>
        <p:spPr>
          <a:xfrm xmlns:a="http://schemas.openxmlformats.org/drawingml/2006/main">
            <a:off x="6965252" y="5335905"/>
            <a:ext cx="3358134" cy="3120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21" b="1">
                <a:solidFill>
                  <a:srgbClr val="172E2B"/>
                </a:solidFill>
                <a:latin typeface="Arial"/>
                <a:ea typeface="Arial"/>
                <a:cs typeface="Arial"/>
              </a:defRPr>
            </a:pPr>
            <a:r>
              <a:rPr sz="1521" b="1">
                <a:solidFill>
                  <a:srgbClr val="172E2B"/>
                </a:solidFill>
                <a:latin typeface="Arial"/>
                <a:ea typeface="Arial"/>
                <a:cs typeface="Arial"/>
              </a:rPr>
              <a:t>Record the assignment change</a:t>
            </a:r>
          </a:p>
        </p:txBody>
      </p:sp>
      <p:sp>
        <p:nvSpPr>
          <p:cNvPr id="28" name="">
            <a:extLst xmlns:a="http://schemas.openxmlformats.org/drawingml/2006/main">
              <a:ext uri="{FF2B5EF4-FFF2-40B4-BE49-F238E27FC236}">
                <a16:creationId xmlns:a16="http://schemas.microsoft.com/office/drawing/2014/main" id="{8031E2A4-5592-4B4C-B25A-0DD978FE694B}"/>
              </a:ext>
            </a:extLst>
          </p:cNvPr>
          <p:cNvSpPr>
            <a:spLocks xmlns:a="http://schemas.openxmlformats.org/drawingml/2006/main" noGrp="1"/>
          </p:cNvSpPr>
          <p:nvPr/>
        </p:nvSpPr>
        <p:spPr>
          <a:xfrm xmlns:a="http://schemas.openxmlformats.org/drawingml/2006/main">
            <a:off x="6965252" y="5662803"/>
            <a:ext cx="3343275"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87" b="0">
                <a:solidFill>
                  <a:srgbClr val="576B6D"/>
                </a:solidFill>
                <a:latin typeface="Arial"/>
                <a:ea typeface="Arial"/>
                <a:cs typeface="Arial"/>
              </a:defRPr>
            </a:pPr>
            <a:r>
              <a:rPr sz="1287" b="0">
                <a:solidFill>
                  <a:srgbClr val="576B6D"/>
                </a:solidFill>
                <a:latin typeface="Arial"/>
                <a:ea typeface="Arial"/>
                <a:cs typeface="Arial"/>
              </a:rPr>
              <a:t>Confirmer, cargo, reason and policy</a:t>
            </a:r>
          </a:p>
        </p:txBody>
      </p:sp>
      <p:cxnSp>
        <p:nvCxnSpPr>
          <p:cNvPr id="62" name=""/>
          <p:cNvCxnSpPr>
            <a:stCxn xmlns:a="http://schemas.openxmlformats.org/drawingml/2006/main" id="4" idx="2"/>
            <a:endCxn xmlns:a="http://schemas.openxmlformats.org/drawingml/2006/main" id="14" idx="0"/>
          </p:cNvCxnSpPr>
          <p:nvPr/>
        </p:nvCxnSpPr>
        <p:spPr>
          <a:xfrm xmlns:a="http://schemas.openxmlformats.org/drawingml/2006/main">
            <a:off x="3105627" y="3144203"/>
            <a:ext cx="2990373" cy="282321"/>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3" name=""/>
          <p:cNvCxnSpPr>
            <a:stCxn xmlns:a="http://schemas.openxmlformats.org/drawingml/2006/main" id="9" idx="2"/>
            <a:endCxn xmlns:a="http://schemas.openxmlformats.org/drawingml/2006/main" id="14" idx="0"/>
          </p:cNvCxnSpPr>
          <p:nvPr/>
        </p:nvCxnSpPr>
        <p:spPr>
          <a:xfrm xmlns:a="http://schemas.openxmlformats.org/drawingml/2006/main" flipH="1">
            <a:off x="6096000" y="3144203"/>
            <a:ext cx="2990375" cy="282321"/>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4" name=""/>
          <p:cNvCxnSpPr>
            <a:stCxn xmlns:a="http://schemas.openxmlformats.org/drawingml/2006/main" id="14" idx="2"/>
            <a:endCxn xmlns:a="http://schemas.openxmlformats.org/drawingml/2006/main" id="19" idx="0"/>
          </p:cNvCxnSpPr>
          <p:nvPr/>
        </p:nvCxnSpPr>
        <p:spPr>
          <a:xfrm xmlns:a="http://schemas.openxmlformats.org/drawingml/2006/main" flipH="1">
            <a:off x="3681413" y="4503802"/>
            <a:ext cx="2414588" cy="460628"/>
          </a:xfrm>
          <a:prstGeom xmlns:a="http://schemas.openxmlformats.org/drawingml/2006/main" prst="bentConnector4">
            <a:avLst>
              <a:gd name="adj1" fmla="val 0"/>
              <a:gd name="adj2" fmla="val 50000"/>
            </a:avLst>
          </a:prstGeom>
          <a:ln xmlns:a="http://schemas.openxmlformats.org/drawingml/2006/main" w="20955">
            <a:solidFill>
              <a:srgbClr val="216E75"/>
            </a:solidFill>
            <a:prstDash val="solid"/>
            <a:tailEnd type="arrow" w="med" len="med"/>
          </a:ln>
        </p:spPr>
      </p:cxnSp>
      <p:cxnSp>
        <p:nvCxnSpPr>
          <p:cNvPr id="65" name=""/>
          <p:cNvCxnSpPr>
            <a:stCxn xmlns:a="http://schemas.openxmlformats.org/drawingml/2006/main" id="19" idx="3"/>
            <a:endCxn xmlns:a="http://schemas.openxmlformats.org/drawingml/2006/main" id="24" idx="1"/>
          </p:cNvCxnSpPr>
          <p:nvPr/>
        </p:nvCxnSpPr>
        <p:spPr>
          <a:xfrm xmlns:a="http://schemas.openxmlformats.org/drawingml/2006/main">
            <a:off x="5575935" y="5484495"/>
            <a:ext cx="1263015"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33" name="">
            <a:extLst xmlns:a="http://schemas.openxmlformats.org/drawingml/2006/main">
              <a:ext uri="{FF2B5EF4-FFF2-40B4-BE49-F238E27FC236}">
                <a16:creationId xmlns:a16="http://schemas.microsoft.com/office/drawing/2014/main" id="{A59DFC34-539E-47CD-A033-10842693E764}"/>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editable diagram derived from repository architecture and documented acceptance boundaries.</a:t>
            </a:r>
          </a:p>
        </p:txBody>
      </p:sp>
    </p:spTree>
    <p:extLst>
      <p:ext uri="{BB962C8B-B14F-4D97-AF65-F5344CB8AC3E}">
        <p14:creationId xmlns:p14="http://schemas.microsoft.com/office/powerpoint/2010/main" val="1334290865"/>
      </p:ext>
    </p:extLst>
  </p:cSld>
</p:sld>
</file>

<file path=ppt/slides/slide2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4D6F03-D072-47F8-ABBC-7687DFD05D28}"/>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model improves recall on synthetic labels</a:t>
            </a:r>
          </a:p>
        </p:txBody>
      </p:sp>
      <p:sp>
        <p:nvSpPr>
          <p:cNvPr id="2" name="">
            <a:extLst xmlns:a="http://schemas.openxmlformats.org/drawingml/2006/main">
              <a:ext uri="{FF2B5EF4-FFF2-40B4-BE49-F238E27FC236}">
                <a16:creationId xmlns:a16="http://schemas.microsoft.com/office/drawing/2014/main" id="{5E86D09B-AA9B-4ABE-9DCA-DE3C504DF8AE}"/>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result demonstrates integration and an explicit error tradeoff.</a:t>
            </a:r>
          </a:p>
        </p:txBody>
      </p:sp>
      <p:sp>
        <p:nvSpPr>
          <p:cNvPr id="3" name="">
            <a:extLst xmlns:a="http://schemas.openxmlformats.org/drawingml/2006/main">
              <a:ext uri="{FF2B5EF4-FFF2-40B4-BE49-F238E27FC236}">
                <a16:creationId xmlns:a16="http://schemas.microsoft.com/office/drawing/2014/main" id="{060825D2-D2CB-487E-8D0E-E034F4A53F57}"/>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20</a:t>
            </a:r>
          </a:p>
        </p:txBody>
      </p:sp>
      <p:graphicFrame>
        <p:nvGraphicFramePr>
          <p:cNvPr id="12" name="Chart"/>
          <p:cNvGraphicFramePr/>
          <p:nvPr/>
        </p:nvGraphicFramePr>
        <p:xfrm>
          <a:off xmlns:a="http://schemas.openxmlformats.org/drawingml/2006/main" x="619125" y="2276475"/>
          <a:ext xmlns:a="http://schemas.openxmlformats.org/drawingml/2006/main" cx="6429375" cy="2962275"/>
        </p:xfrm>
        <a:graphic xmlns:a="http://schemas.openxmlformats.org/drawingml/2006/main">
          <a:graphicData uri="http://schemas.openxmlformats.org/drawingml/2006/chart">
            <c:chart xmlns:r="http://schemas.openxmlformats.org/officeDocument/2006/relationships" xmlns:c="http://schemas.openxmlformats.org/drawingml/2006/chart" r:id="R8f3b1d1dcc0a4d25"/>
          </a:graphicData>
        </a:graphic>
      </p:graphicFrame>
      <p:sp>
        <p:nvSpPr>
          <p:cNvPr id="5" name="">
            <a:extLst xmlns:a="http://schemas.openxmlformats.org/drawingml/2006/main">
              <a:ext uri="{FF2B5EF4-FFF2-40B4-BE49-F238E27FC236}">
                <a16:creationId xmlns:a16="http://schemas.microsoft.com/office/drawing/2014/main" id="{57BD28C0-31FC-4C5F-8A35-E9C6744E62C9}"/>
              </a:ext>
            </a:extLst>
          </p:cNvPr>
          <p:cNvSpPr>
            <a:spLocks xmlns:a="http://schemas.openxmlformats.org/drawingml/2006/main" noGrp="1"/>
          </p:cNvSpPr>
          <p:nvPr/>
        </p:nvSpPr>
        <p:spPr>
          <a:xfrm xmlns:a="http://schemas.openxmlformats.org/drawingml/2006/main">
            <a:off x="7667625" y="2371725"/>
            <a:ext cx="3714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Recall 0.837</a:t>
            </a:r>
          </a:p>
        </p:txBody>
      </p:sp>
      <p:sp>
        <p:nvSpPr>
          <p:cNvPr id="6" name="">
            <a:extLst xmlns:a="http://schemas.openxmlformats.org/drawingml/2006/main">
              <a:ext uri="{FF2B5EF4-FFF2-40B4-BE49-F238E27FC236}">
                <a16:creationId xmlns:a16="http://schemas.microsoft.com/office/drawing/2014/main" id="{3647674F-919B-4905-A033-749425C517F6}"/>
              </a:ext>
            </a:extLst>
          </p:cNvPr>
          <p:cNvSpPr>
            <a:spLocks xmlns:a="http://schemas.openxmlformats.org/drawingml/2006/main" noGrp="1"/>
          </p:cNvSpPr>
          <p:nvPr/>
        </p:nvSpPr>
        <p:spPr>
          <a:xfrm xmlns:a="http://schemas.openxmlformats.org/drawingml/2006/main">
            <a:off x="7667625" y="2838450"/>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The model finds more synthetic positives, with more false alarms.</a:t>
            </a:r>
          </a:p>
        </p:txBody>
      </p:sp>
      <p:sp>
        <p:nvSpPr>
          <p:cNvPr id="7" name="">
            <a:extLst xmlns:a="http://schemas.openxmlformats.org/drawingml/2006/main">
              <a:ext uri="{FF2B5EF4-FFF2-40B4-BE49-F238E27FC236}">
                <a16:creationId xmlns:a16="http://schemas.microsoft.com/office/drawing/2014/main" id="{FFEB5DC7-36E7-4654-980D-8022818F29FD}"/>
              </a:ext>
            </a:extLst>
          </p:cNvPr>
          <p:cNvSpPr>
            <a:spLocks xmlns:a="http://schemas.openxmlformats.org/drawingml/2006/main" noGrp="1"/>
          </p:cNvSpPr>
          <p:nvPr/>
        </p:nvSpPr>
        <p:spPr>
          <a:xfrm xmlns:a="http://schemas.openxmlformats.org/drawingml/2006/main">
            <a:off x="638175" y="5572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900 held-out synthetic examples</a:t>
            </a:r>
          </a:p>
        </p:txBody>
      </p:sp>
      <p:sp>
        <p:nvSpPr>
          <p:cNvPr id="8" name="">
            <a:extLst xmlns:a="http://schemas.openxmlformats.org/drawingml/2006/main">
              <a:ext uri="{FF2B5EF4-FFF2-40B4-BE49-F238E27FC236}">
                <a16:creationId xmlns:a16="http://schemas.microsoft.com/office/drawing/2014/main" id="{095A3F36-93A4-409A-B9BA-F40C90229DBD}"/>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model-card metrics. Real observations, calibration and geographic/time holdouts remain future research.</a:t>
            </a:r>
          </a:p>
        </p:txBody>
      </p:sp>
    </p:spTree>
    <p:extLst>
      <p:ext uri="{BB962C8B-B14F-4D97-AF65-F5344CB8AC3E}">
        <p14:creationId xmlns:p14="http://schemas.microsoft.com/office/powerpoint/2010/main" val="315677081"/>
      </p:ext>
    </p:extLst>
  </p:cSld>
</p:sld>
</file>

<file path=ppt/slides/slide2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BAF1589-6AC5-4154-90EA-ACF136D99609}"/>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Pilot milestones support an adoption decision</a:t>
            </a:r>
          </a:p>
        </p:txBody>
      </p:sp>
      <p:sp>
        <p:nvSpPr>
          <p:cNvPr id="2" name="">
            <a:extLst xmlns:a="http://schemas.openxmlformats.org/drawingml/2006/main">
              <a:ext uri="{FF2B5EF4-FFF2-40B4-BE49-F238E27FC236}">
                <a16:creationId xmlns:a16="http://schemas.microsoft.com/office/drawing/2014/main" id="{61F28FF6-3C7B-4EBC-B9D6-6F4AE380188B}"/>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Proposed twelve-week exercise</a:t>
            </a:r>
          </a:p>
        </p:txBody>
      </p:sp>
      <p:sp>
        <p:nvSpPr>
          <p:cNvPr id="3" name="">
            <a:extLst xmlns:a="http://schemas.openxmlformats.org/drawingml/2006/main">
              <a:ext uri="{FF2B5EF4-FFF2-40B4-BE49-F238E27FC236}">
                <a16:creationId xmlns:a16="http://schemas.microsoft.com/office/drawing/2014/main" id="{EC837AC9-0505-4B9D-963B-8A962107E21D}"/>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F89D7612-CEBD-48F3-9E44-27133BB7B25D}"/>
              </a:ext>
            </a:extLst>
          </p:cNvPr>
          <p:cNvSpPr>
            <a:spLocks xmlns:a="http://schemas.openxmlformats.org/drawingml/2006/main" noGrp="1"/>
          </p:cNvSpPr>
          <p:nvPr/>
        </p:nvSpPr>
        <p:spPr>
          <a:xfrm xmlns:a="http://schemas.openxmlformats.org/drawingml/2006/main">
            <a:off x="1565910" y="2223135"/>
            <a:ext cx="2030730" cy="18745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389D708E-DD08-4438-923E-6F2D4031D66A}"/>
              </a:ext>
            </a:extLst>
          </p:cNvPr>
          <p:cNvSpPr>
            <a:spLocks xmlns:a="http://schemas.openxmlformats.org/drawingml/2006/main" noGrp="1"/>
          </p:cNvSpPr>
          <p:nvPr/>
        </p:nvSpPr>
        <p:spPr>
          <a:xfrm xmlns:a="http://schemas.openxmlformats.org/drawingml/2006/main">
            <a:off x="1565910" y="2223135"/>
            <a:ext cx="2030730"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78578F-4380-428F-9844-FFCD48F3A7AF}"/>
              </a:ext>
            </a:extLst>
          </p:cNvPr>
          <p:cNvSpPr>
            <a:spLocks xmlns:a="http://schemas.openxmlformats.org/drawingml/2006/main" noGrp="1"/>
          </p:cNvSpPr>
          <p:nvPr/>
        </p:nvSpPr>
        <p:spPr>
          <a:xfrm xmlns:a="http://schemas.openxmlformats.org/drawingml/2006/main">
            <a:off x="1698689" y="2355914"/>
            <a:ext cx="181203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WEEKS 1–2</a:t>
            </a:r>
          </a:p>
        </p:txBody>
      </p:sp>
      <p:sp>
        <p:nvSpPr>
          <p:cNvPr id="7" name="">
            <a:extLst xmlns:a="http://schemas.openxmlformats.org/drawingml/2006/main">
              <a:ext uri="{FF2B5EF4-FFF2-40B4-BE49-F238E27FC236}">
                <a16:creationId xmlns:a16="http://schemas.microsoft.com/office/drawing/2014/main" id="{48C9B2AF-C338-4104-B960-833B4ED9A44F}"/>
              </a:ext>
            </a:extLst>
          </p:cNvPr>
          <p:cNvSpPr>
            <a:spLocks xmlns:a="http://schemas.openxmlformats.org/drawingml/2006/main" noGrp="1"/>
          </p:cNvSpPr>
          <p:nvPr/>
        </p:nvSpPr>
        <p:spPr>
          <a:xfrm xmlns:a="http://schemas.openxmlformats.org/drawingml/2006/main">
            <a:off x="1698689" y="2613660"/>
            <a:ext cx="181203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Agree ownership</a:t>
            </a:r>
          </a:p>
        </p:txBody>
      </p:sp>
      <p:sp>
        <p:nvSpPr>
          <p:cNvPr id="8" name="">
            <a:extLst xmlns:a="http://schemas.openxmlformats.org/drawingml/2006/main">
              <a:ext uri="{FF2B5EF4-FFF2-40B4-BE49-F238E27FC236}">
                <a16:creationId xmlns:a16="http://schemas.microsoft.com/office/drawing/2014/main" id="{C6F21C25-07A1-415F-9BAD-2F877A4E9514}"/>
              </a:ext>
            </a:extLst>
          </p:cNvPr>
          <p:cNvSpPr>
            <a:spLocks xmlns:a="http://schemas.openxmlformats.org/drawingml/2006/main" noGrp="1"/>
          </p:cNvSpPr>
          <p:nvPr/>
        </p:nvSpPr>
        <p:spPr>
          <a:xfrm xmlns:a="http://schemas.openxmlformats.org/drawingml/2006/main">
            <a:off x="1698689" y="2957322"/>
            <a:ext cx="1796415"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Sponsor and workflow</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Phone selection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Acceptance criteria</a:t>
            </a:r>
          </a:p>
        </p:txBody>
      </p:sp>
      <p:sp>
        <p:nvSpPr>
          <p:cNvPr id="9" name="">
            <a:extLst xmlns:a="http://schemas.openxmlformats.org/drawingml/2006/main">
              <a:ext uri="{FF2B5EF4-FFF2-40B4-BE49-F238E27FC236}">
                <a16:creationId xmlns:a16="http://schemas.microsoft.com/office/drawing/2014/main" id="{D2B58FEB-E017-42DD-89BE-8AE44224163A}"/>
              </a:ext>
            </a:extLst>
          </p:cNvPr>
          <p:cNvSpPr>
            <a:spLocks xmlns:a="http://schemas.openxmlformats.org/drawingml/2006/main" noGrp="1"/>
          </p:cNvSpPr>
          <p:nvPr/>
        </p:nvSpPr>
        <p:spPr>
          <a:xfrm xmlns:a="http://schemas.openxmlformats.org/drawingml/2006/main">
            <a:off x="3909060" y="2223135"/>
            <a:ext cx="2030730" cy="18745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583E5A31-B2A4-4415-B6D3-5DE51C2A4EF3}"/>
              </a:ext>
            </a:extLst>
          </p:cNvPr>
          <p:cNvSpPr>
            <a:spLocks xmlns:a="http://schemas.openxmlformats.org/drawingml/2006/main" noGrp="1"/>
          </p:cNvSpPr>
          <p:nvPr/>
        </p:nvSpPr>
        <p:spPr>
          <a:xfrm xmlns:a="http://schemas.openxmlformats.org/drawingml/2006/main">
            <a:off x="3909060" y="2223135"/>
            <a:ext cx="2030730" cy="31242"/>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35BCAC-FC42-4337-88A3-10811191E098}"/>
              </a:ext>
            </a:extLst>
          </p:cNvPr>
          <p:cNvSpPr>
            <a:spLocks xmlns:a="http://schemas.openxmlformats.org/drawingml/2006/main" noGrp="1"/>
          </p:cNvSpPr>
          <p:nvPr/>
        </p:nvSpPr>
        <p:spPr>
          <a:xfrm xmlns:a="http://schemas.openxmlformats.org/drawingml/2006/main">
            <a:off x="4041839" y="2355914"/>
            <a:ext cx="181203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216E75"/>
                </a:solidFill>
                <a:latin typeface="Arial"/>
                <a:ea typeface="Arial"/>
                <a:cs typeface="Arial"/>
              </a:defRPr>
            </a:pPr>
            <a:r>
              <a:rPr sz="1107" b="1">
                <a:solidFill>
                  <a:srgbClr val="216E75"/>
                </a:solidFill>
                <a:latin typeface="Arial"/>
                <a:ea typeface="Arial"/>
                <a:cs typeface="Arial"/>
              </a:rPr>
              <a:t>WEEKS 3–5</a:t>
            </a:r>
          </a:p>
        </p:txBody>
      </p:sp>
      <p:sp>
        <p:nvSpPr>
          <p:cNvPr id="12" name="">
            <a:extLst xmlns:a="http://schemas.openxmlformats.org/drawingml/2006/main">
              <a:ext uri="{FF2B5EF4-FFF2-40B4-BE49-F238E27FC236}">
                <a16:creationId xmlns:a16="http://schemas.microsoft.com/office/drawing/2014/main" id="{4BE82767-7806-48EE-B822-B43A3DA848E6}"/>
              </a:ext>
            </a:extLst>
          </p:cNvPr>
          <p:cNvSpPr>
            <a:spLocks xmlns:a="http://schemas.openxmlformats.org/drawingml/2006/main" noGrp="1"/>
          </p:cNvSpPr>
          <p:nvPr/>
        </p:nvSpPr>
        <p:spPr>
          <a:xfrm xmlns:a="http://schemas.openxmlformats.org/drawingml/2006/main">
            <a:off x="4041839" y="2613660"/>
            <a:ext cx="181203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Test real phones</a:t>
            </a:r>
          </a:p>
        </p:txBody>
      </p:sp>
      <p:sp>
        <p:nvSpPr>
          <p:cNvPr id="13" name="">
            <a:extLst xmlns:a="http://schemas.openxmlformats.org/drawingml/2006/main">
              <a:ext uri="{FF2B5EF4-FFF2-40B4-BE49-F238E27FC236}">
                <a16:creationId xmlns:a16="http://schemas.microsoft.com/office/drawing/2014/main" id="{89D6D2E1-7E01-4C0F-BB09-AE320418DBB5}"/>
              </a:ext>
            </a:extLst>
          </p:cNvPr>
          <p:cNvSpPr>
            <a:spLocks xmlns:a="http://schemas.openxmlformats.org/drawingml/2006/main" noGrp="1"/>
          </p:cNvSpPr>
          <p:nvPr/>
        </p:nvSpPr>
        <p:spPr>
          <a:xfrm xmlns:a="http://schemas.openxmlformats.org/drawingml/2006/main">
            <a:off x="4041839" y="2957322"/>
            <a:ext cx="1796415"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Relay and recovery</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Camera QR verification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Battery and latency</a:t>
            </a:r>
          </a:p>
        </p:txBody>
      </p:sp>
      <p:sp>
        <p:nvSpPr>
          <p:cNvPr id="14" name="">
            <a:extLst xmlns:a="http://schemas.openxmlformats.org/drawingml/2006/main">
              <a:ext uri="{FF2B5EF4-FFF2-40B4-BE49-F238E27FC236}">
                <a16:creationId xmlns:a16="http://schemas.microsoft.com/office/drawing/2014/main" id="{AF75FF65-5662-4478-9FFB-5AC60617AF2F}"/>
              </a:ext>
            </a:extLst>
          </p:cNvPr>
          <p:cNvSpPr>
            <a:spLocks xmlns:a="http://schemas.openxmlformats.org/drawingml/2006/main" noGrp="1"/>
          </p:cNvSpPr>
          <p:nvPr/>
        </p:nvSpPr>
        <p:spPr>
          <a:xfrm xmlns:a="http://schemas.openxmlformats.org/drawingml/2006/main">
            <a:off x="6252210" y="2223135"/>
            <a:ext cx="2030730" cy="18745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DCF6EDA9-495E-41E5-BD68-0634D4421DCF}"/>
              </a:ext>
            </a:extLst>
          </p:cNvPr>
          <p:cNvSpPr>
            <a:spLocks xmlns:a="http://schemas.openxmlformats.org/drawingml/2006/main" noGrp="1"/>
          </p:cNvSpPr>
          <p:nvPr/>
        </p:nvSpPr>
        <p:spPr>
          <a:xfrm xmlns:a="http://schemas.openxmlformats.org/drawingml/2006/main">
            <a:off x="6252210" y="2223135"/>
            <a:ext cx="2030730" cy="31242"/>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CEFD12-725A-437E-8E3A-995C1BB21F37}"/>
              </a:ext>
            </a:extLst>
          </p:cNvPr>
          <p:cNvSpPr>
            <a:spLocks xmlns:a="http://schemas.openxmlformats.org/drawingml/2006/main" noGrp="1"/>
          </p:cNvSpPr>
          <p:nvPr/>
        </p:nvSpPr>
        <p:spPr>
          <a:xfrm xmlns:a="http://schemas.openxmlformats.org/drawingml/2006/main">
            <a:off x="6384989" y="2355914"/>
            <a:ext cx="181203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216E75"/>
                </a:solidFill>
                <a:latin typeface="Arial"/>
                <a:ea typeface="Arial"/>
                <a:cs typeface="Arial"/>
              </a:defRPr>
            </a:pPr>
            <a:r>
              <a:rPr sz="1107" b="1">
                <a:solidFill>
                  <a:srgbClr val="216E75"/>
                </a:solidFill>
                <a:latin typeface="Arial"/>
                <a:ea typeface="Arial"/>
                <a:cs typeface="Arial"/>
              </a:rPr>
              <a:t>WEEKS 6–8</a:t>
            </a:r>
          </a:p>
        </p:txBody>
      </p:sp>
      <p:sp>
        <p:nvSpPr>
          <p:cNvPr id="17" name="">
            <a:extLst xmlns:a="http://schemas.openxmlformats.org/drawingml/2006/main">
              <a:ext uri="{FF2B5EF4-FFF2-40B4-BE49-F238E27FC236}">
                <a16:creationId xmlns:a16="http://schemas.microsoft.com/office/drawing/2014/main" id="{719E8E76-1BAF-4A1C-9788-5696E7235C53}"/>
              </a:ext>
            </a:extLst>
          </p:cNvPr>
          <p:cNvSpPr>
            <a:spLocks xmlns:a="http://schemas.openxmlformats.org/drawingml/2006/main" noGrp="1"/>
          </p:cNvSpPr>
          <p:nvPr/>
        </p:nvSpPr>
        <p:spPr>
          <a:xfrm xmlns:a="http://schemas.openxmlformats.org/drawingml/2006/main">
            <a:off x="6384989" y="2613660"/>
            <a:ext cx="181203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Observe the users</a:t>
            </a:r>
          </a:p>
        </p:txBody>
      </p:sp>
      <p:sp>
        <p:nvSpPr>
          <p:cNvPr id="18" name="">
            <a:extLst xmlns:a="http://schemas.openxmlformats.org/drawingml/2006/main">
              <a:ext uri="{FF2B5EF4-FFF2-40B4-BE49-F238E27FC236}">
                <a16:creationId xmlns:a16="http://schemas.microsoft.com/office/drawing/2014/main" id="{165337D6-3D23-4533-9140-B770ED9A82B9}"/>
              </a:ext>
            </a:extLst>
          </p:cNvPr>
          <p:cNvSpPr>
            <a:spLocks xmlns:a="http://schemas.openxmlformats.org/drawingml/2006/main" noGrp="1"/>
          </p:cNvSpPr>
          <p:nvPr/>
        </p:nvSpPr>
        <p:spPr>
          <a:xfrm xmlns:a="http://schemas.openxmlformats.org/drawingml/2006/main">
            <a:off x="6384989" y="2957322"/>
            <a:ext cx="1796415"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Bangla and English</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Accessibility review</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Rehearsal and baseline</a:t>
            </a:r>
          </a:p>
        </p:txBody>
      </p:sp>
      <p:sp>
        <p:nvSpPr>
          <p:cNvPr id="19" name="">
            <a:extLst xmlns:a="http://schemas.openxmlformats.org/drawingml/2006/main">
              <a:ext uri="{FF2B5EF4-FFF2-40B4-BE49-F238E27FC236}">
                <a16:creationId xmlns:a16="http://schemas.microsoft.com/office/drawing/2014/main" id="{8440C381-016A-4B14-A5E4-8ECE1BF813CD}"/>
              </a:ext>
            </a:extLst>
          </p:cNvPr>
          <p:cNvSpPr>
            <a:spLocks xmlns:a="http://schemas.openxmlformats.org/drawingml/2006/main" noGrp="1"/>
          </p:cNvSpPr>
          <p:nvPr/>
        </p:nvSpPr>
        <p:spPr>
          <a:xfrm xmlns:a="http://schemas.openxmlformats.org/drawingml/2006/main">
            <a:off x="8595360" y="2223135"/>
            <a:ext cx="2030730" cy="1874520"/>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20" name="">
            <a:extLst xmlns:a="http://schemas.openxmlformats.org/drawingml/2006/main">
              <a:ext uri="{FF2B5EF4-FFF2-40B4-BE49-F238E27FC236}">
                <a16:creationId xmlns:a16="http://schemas.microsoft.com/office/drawing/2014/main" id="{48AC5529-2CF5-491B-ADE8-AC0F1721DD4D}"/>
              </a:ext>
            </a:extLst>
          </p:cNvPr>
          <p:cNvSpPr>
            <a:spLocks xmlns:a="http://schemas.openxmlformats.org/drawingml/2006/main" noGrp="1"/>
          </p:cNvSpPr>
          <p:nvPr/>
        </p:nvSpPr>
        <p:spPr>
          <a:xfrm xmlns:a="http://schemas.openxmlformats.org/drawingml/2006/main">
            <a:off x="8595360" y="2223135"/>
            <a:ext cx="2030730"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BD79634-9578-4C17-8801-11C8C68DFAE3}"/>
              </a:ext>
            </a:extLst>
          </p:cNvPr>
          <p:cNvSpPr>
            <a:spLocks xmlns:a="http://schemas.openxmlformats.org/drawingml/2006/main" noGrp="1"/>
          </p:cNvSpPr>
          <p:nvPr/>
        </p:nvSpPr>
        <p:spPr>
          <a:xfrm xmlns:a="http://schemas.openxmlformats.org/drawingml/2006/main">
            <a:off x="8728139" y="2355914"/>
            <a:ext cx="1812036"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WEEKS 9–12</a:t>
            </a:r>
          </a:p>
        </p:txBody>
      </p:sp>
      <p:sp>
        <p:nvSpPr>
          <p:cNvPr id="22" name="">
            <a:extLst xmlns:a="http://schemas.openxmlformats.org/drawingml/2006/main">
              <a:ext uri="{FF2B5EF4-FFF2-40B4-BE49-F238E27FC236}">
                <a16:creationId xmlns:a16="http://schemas.microsoft.com/office/drawing/2014/main" id="{7A6165D1-E123-4F44-A916-C114BCDAD7F2}"/>
              </a:ext>
            </a:extLst>
          </p:cNvPr>
          <p:cNvSpPr>
            <a:spLocks xmlns:a="http://schemas.openxmlformats.org/drawingml/2006/main" noGrp="1"/>
          </p:cNvSpPr>
          <p:nvPr/>
        </p:nvSpPr>
        <p:spPr>
          <a:xfrm xmlns:a="http://schemas.openxmlformats.org/drawingml/2006/main">
            <a:off x="8728139" y="2613660"/>
            <a:ext cx="181203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Review adoption</a:t>
            </a:r>
          </a:p>
        </p:txBody>
      </p:sp>
      <p:sp>
        <p:nvSpPr>
          <p:cNvPr id="23" name="">
            <a:extLst xmlns:a="http://schemas.openxmlformats.org/drawingml/2006/main">
              <a:ext uri="{FF2B5EF4-FFF2-40B4-BE49-F238E27FC236}">
                <a16:creationId xmlns:a16="http://schemas.microsoft.com/office/drawing/2014/main" id="{E1EE5D68-DF76-40E1-97A3-600D8001920A}"/>
              </a:ext>
            </a:extLst>
          </p:cNvPr>
          <p:cNvSpPr>
            <a:spLocks xmlns:a="http://schemas.openxmlformats.org/drawingml/2006/main" noGrp="1"/>
          </p:cNvSpPr>
          <p:nvPr/>
        </p:nvSpPr>
        <p:spPr>
          <a:xfrm xmlns:a="http://schemas.openxmlformats.org/drawingml/2006/main">
            <a:off x="8728139" y="2957322"/>
            <a:ext cx="1796415"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Shadow exercise</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Incident and cost review</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Go, revise or stop</a:t>
            </a:r>
          </a:p>
        </p:txBody>
      </p:sp>
      <p:cxnSp>
        <p:nvCxnSpPr>
          <p:cNvPr id="55" name=""/>
          <p:cNvCxnSpPr>
            <a:stCxn xmlns:a="http://schemas.openxmlformats.org/drawingml/2006/main" id="4" idx="3"/>
            <a:endCxn xmlns:a="http://schemas.openxmlformats.org/drawingml/2006/main" id="9" idx="1"/>
          </p:cNvCxnSpPr>
          <p:nvPr/>
        </p:nvCxnSpPr>
        <p:spPr>
          <a:xfrm xmlns:a="http://schemas.openxmlformats.org/drawingml/2006/main">
            <a:off x="3596640" y="3160395"/>
            <a:ext cx="312420"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56" name=""/>
          <p:cNvCxnSpPr>
            <a:stCxn xmlns:a="http://schemas.openxmlformats.org/drawingml/2006/main" id="9" idx="3"/>
            <a:endCxn xmlns:a="http://schemas.openxmlformats.org/drawingml/2006/main" id="14" idx="1"/>
          </p:cNvCxnSpPr>
          <p:nvPr/>
        </p:nvCxnSpPr>
        <p:spPr>
          <a:xfrm xmlns:a="http://schemas.openxmlformats.org/drawingml/2006/main">
            <a:off x="5939790" y="3160395"/>
            <a:ext cx="312420"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57" name=""/>
          <p:cNvCxnSpPr>
            <a:stCxn xmlns:a="http://schemas.openxmlformats.org/drawingml/2006/main" id="14" idx="3"/>
            <a:endCxn xmlns:a="http://schemas.openxmlformats.org/drawingml/2006/main" id="19" idx="1"/>
          </p:cNvCxnSpPr>
          <p:nvPr/>
        </p:nvCxnSpPr>
        <p:spPr>
          <a:xfrm xmlns:a="http://schemas.openxmlformats.org/drawingml/2006/main">
            <a:off x="8282940" y="3160395"/>
            <a:ext cx="312420"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27" name="">
            <a:extLst xmlns:a="http://schemas.openxmlformats.org/drawingml/2006/main">
              <a:ext uri="{FF2B5EF4-FFF2-40B4-BE49-F238E27FC236}">
                <a16:creationId xmlns:a16="http://schemas.microsoft.com/office/drawing/2014/main" id="{840E6708-72D0-47DA-B080-3049623E2630}"/>
              </a:ext>
            </a:extLst>
          </p:cNvPr>
          <p:cNvSpPr>
            <a:spLocks xmlns:a="http://schemas.openxmlformats.org/drawingml/2006/main" noGrp="1"/>
          </p:cNvSpPr>
          <p:nvPr/>
        </p:nvSpPr>
        <p:spPr>
          <a:xfrm xmlns:a="http://schemas.openxmlformats.org/drawingml/2006/main">
            <a:off x="1565910" y="4644390"/>
            <a:ext cx="9060180" cy="3046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60" b="0">
                <a:solidFill>
                  <a:srgbClr val="123D38"/>
                </a:solidFill>
                <a:latin typeface="Arial"/>
                <a:ea typeface="Arial"/>
                <a:cs typeface="Arial"/>
              </a:defRPr>
            </a:pPr>
            <a:r>
              <a:rPr sz="1660" b="0">
                <a:solidFill>
                  <a:srgbClr val="123D38"/>
                </a:solidFill>
                <a:latin typeface="Arial"/>
                <a:ea typeface="Arial"/>
                <a:cs typeface="Arial"/>
              </a:rPr>
              <a:t>Technical acceptance</a:t>
            </a:r>
          </a:p>
        </p:txBody>
      </p:sp>
      <p:sp>
        <p:nvSpPr>
          <p:cNvPr id="28" name="">
            <a:extLst xmlns:a="http://schemas.openxmlformats.org/drawingml/2006/main">
              <a:ext uri="{FF2B5EF4-FFF2-40B4-BE49-F238E27FC236}">
                <a16:creationId xmlns:a16="http://schemas.microsoft.com/office/drawing/2014/main" id="{2E188BC8-65A8-4A24-A39F-0A6B49679131}"/>
              </a:ext>
            </a:extLst>
          </p:cNvPr>
          <p:cNvSpPr>
            <a:spLocks xmlns:a="http://schemas.openxmlformats.org/drawingml/2006/main" noGrp="1"/>
          </p:cNvSpPr>
          <p:nvPr/>
        </p:nvSpPr>
        <p:spPr>
          <a:xfrm xmlns:a="http://schemas.openxmlformats.org/drawingml/2006/main">
            <a:off x="4768215" y="4644390"/>
            <a:ext cx="5857875" cy="3046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60" b="0">
                <a:solidFill>
                  <a:srgbClr val="216E75"/>
                </a:solidFill>
                <a:latin typeface="Arial"/>
                <a:ea typeface="Arial"/>
                <a:cs typeface="Arial"/>
              </a:defRPr>
            </a:pPr>
            <a:r>
              <a:rPr sz="1660" b="0">
                <a:solidFill>
                  <a:srgbClr val="216E75"/>
                </a:solidFill>
                <a:latin typeface="Arial"/>
                <a:ea typeface="Arial"/>
                <a:cs typeface="Arial"/>
              </a:rPr>
              <a:t>Human acceptance</a:t>
            </a:r>
          </a:p>
        </p:txBody>
      </p:sp>
      <p:sp>
        <p:nvSpPr>
          <p:cNvPr id="29" name="">
            <a:extLst xmlns:a="http://schemas.openxmlformats.org/drawingml/2006/main">
              <a:ext uri="{FF2B5EF4-FFF2-40B4-BE49-F238E27FC236}">
                <a16:creationId xmlns:a16="http://schemas.microsoft.com/office/drawing/2014/main" id="{20048809-F50F-4ED2-A030-4D7FB915BF4F}"/>
              </a:ext>
            </a:extLst>
          </p:cNvPr>
          <p:cNvSpPr>
            <a:spLocks xmlns:a="http://schemas.openxmlformats.org/drawingml/2006/main" noGrp="1"/>
          </p:cNvSpPr>
          <p:nvPr/>
        </p:nvSpPr>
        <p:spPr>
          <a:xfrm xmlns:a="http://schemas.openxmlformats.org/drawingml/2006/main">
            <a:off x="7775258" y="4644390"/>
            <a:ext cx="2850832" cy="3046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60" b="0">
                <a:solidFill>
                  <a:srgbClr val="123D38"/>
                </a:solidFill>
                <a:latin typeface="Arial"/>
                <a:ea typeface="Arial"/>
                <a:cs typeface="Arial"/>
              </a:defRPr>
            </a:pPr>
            <a:r>
              <a:rPr sz="1660" b="0">
                <a:solidFill>
                  <a:srgbClr val="123D38"/>
                </a:solidFill>
                <a:latin typeface="Arial"/>
                <a:ea typeface="Arial"/>
                <a:cs typeface="Arial"/>
              </a:rPr>
              <a:t>Governance acceptance</a:t>
            </a:r>
          </a:p>
        </p:txBody>
      </p:sp>
      <p:sp>
        <p:nvSpPr>
          <p:cNvPr id="30" name="">
            <a:extLst xmlns:a="http://schemas.openxmlformats.org/drawingml/2006/main">
              <a:ext uri="{FF2B5EF4-FFF2-40B4-BE49-F238E27FC236}">
                <a16:creationId xmlns:a16="http://schemas.microsoft.com/office/drawing/2014/main" id="{43A059F9-A401-49AA-AF28-561F6E9A7420}"/>
              </a:ext>
            </a:extLst>
          </p:cNvPr>
          <p:cNvSpPr>
            <a:spLocks xmlns:a="http://schemas.openxmlformats.org/drawingml/2006/main" noGrp="1"/>
          </p:cNvSpPr>
          <p:nvPr/>
        </p:nvSpPr>
        <p:spPr>
          <a:xfrm xmlns:a="http://schemas.openxmlformats.org/drawingml/2006/main">
            <a:off x="1565910" y="5167694"/>
            <a:ext cx="9060180"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15" b="0">
                <a:solidFill>
                  <a:srgbClr val="A96827"/>
                </a:solidFill>
                <a:latin typeface="Arial"/>
                <a:ea typeface="Arial"/>
                <a:cs typeface="Arial"/>
              </a:defRPr>
            </a:pPr>
            <a:r>
              <a:rPr sz="1415" b="0">
                <a:solidFill>
                  <a:srgbClr val="A96827"/>
                </a:solidFill>
                <a:latin typeface="Arial"/>
                <a:ea typeface="Arial"/>
                <a:cs typeface="Arial"/>
              </a:rPr>
              <a:t>Proposed schedule. No customer commitment or organizer requirement is implied.</a:t>
            </a:r>
          </a:p>
        </p:txBody>
      </p:sp>
      <p:sp>
        <p:nvSpPr>
          <p:cNvPr id="31" name="">
            <a:extLst xmlns:a="http://schemas.openxmlformats.org/drawingml/2006/main">
              <a:ext uri="{FF2B5EF4-FFF2-40B4-BE49-F238E27FC236}">
                <a16:creationId xmlns:a16="http://schemas.microsoft.com/office/drawing/2014/main" id="{5430C5E1-D3AC-4F3A-B5E1-2564531DD095}"/>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Technical, human and governance acceptance determine whether expansion is justified.</a:t>
            </a:r>
          </a:p>
        </p:txBody>
      </p:sp>
    </p:spTree>
    <p:extLst>
      <p:ext uri="{BB962C8B-B14F-4D97-AF65-F5344CB8AC3E}">
        <p14:creationId xmlns:p14="http://schemas.microsoft.com/office/powerpoint/2010/main" val="1719753590"/>
      </p:ext>
    </p:extLst>
  </p:cSld>
</p:sld>
</file>

<file path=ppt/slides/slide2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271D5C-72C5-40DD-B5C6-9FB342B127D4}"/>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Market sizing starts with verified institutions</a:t>
            </a:r>
          </a:p>
        </p:txBody>
      </p:sp>
      <p:sp>
        <p:nvSpPr>
          <p:cNvPr id="2" name="">
            <a:extLst xmlns:a="http://schemas.openxmlformats.org/drawingml/2006/main">
              <a:ext uri="{FF2B5EF4-FFF2-40B4-BE49-F238E27FC236}">
                <a16:creationId xmlns:a16="http://schemas.microsoft.com/office/drawing/2014/main" id="{F0D9CF32-4B19-42E3-9C39-61ED432FDAC1}"/>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Geographic need provides context rather than a revenue total.</a:t>
            </a:r>
          </a:p>
        </p:txBody>
      </p:sp>
      <p:sp>
        <p:nvSpPr>
          <p:cNvPr id="3" name="">
            <a:extLst xmlns:a="http://schemas.openxmlformats.org/drawingml/2006/main">
              <a:ext uri="{FF2B5EF4-FFF2-40B4-BE49-F238E27FC236}">
                <a16:creationId xmlns:a16="http://schemas.microsoft.com/office/drawing/2014/main" id="{CF73706F-1F31-42C7-AF5C-57E6CE0BF724}"/>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DAF1EBF2-B571-4DF2-8A62-95ABA2FC6F6B}"/>
              </a:ext>
            </a:extLst>
          </p:cNvPr>
          <p:cNvSpPr>
            <a:spLocks xmlns:a="http://schemas.openxmlformats.org/drawingml/2006/main" noGrp="1"/>
          </p:cNvSpPr>
          <p:nvPr/>
        </p:nvSpPr>
        <p:spPr>
          <a:xfrm xmlns:a="http://schemas.openxmlformats.org/drawingml/2006/main">
            <a:off x="1565910" y="2270760"/>
            <a:ext cx="2694623"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5" name="">
            <a:extLst xmlns:a="http://schemas.openxmlformats.org/drawingml/2006/main">
              <a:ext uri="{FF2B5EF4-FFF2-40B4-BE49-F238E27FC236}">
                <a16:creationId xmlns:a16="http://schemas.microsoft.com/office/drawing/2014/main" id="{04817982-0130-4BB2-BD7E-F6D16BAD0BE0}"/>
              </a:ext>
            </a:extLst>
          </p:cNvPr>
          <p:cNvSpPr>
            <a:spLocks xmlns:a="http://schemas.openxmlformats.org/drawingml/2006/main" noGrp="1"/>
          </p:cNvSpPr>
          <p:nvPr/>
        </p:nvSpPr>
        <p:spPr>
          <a:xfrm xmlns:a="http://schemas.openxmlformats.org/drawingml/2006/main">
            <a:off x="1565910" y="2270760"/>
            <a:ext cx="2694623"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94F524-B167-4F7F-A5D0-40EDAD72760F}"/>
              </a:ext>
            </a:extLst>
          </p:cNvPr>
          <p:cNvSpPr>
            <a:spLocks xmlns:a="http://schemas.openxmlformats.org/drawingml/2006/main" noGrp="1"/>
          </p:cNvSpPr>
          <p:nvPr/>
        </p:nvSpPr>
        <p:spPr>
          <a:xfrm xmlns:a="http://schemas.openxmlformats.org/drawingml/2006/main">
            <a:off x="1698689" y="2403539"/>
            <a:ext cx="2475929"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NEED CONTEXT</a:t>
            </a:r>
          </a:p>
        </p:txBody>
      </p:sp>
      <p:sp>
        <p:nvSpPr>
          <p:cNvPr id="7" name="">
            <a:extLst xmlns:a="http://schemas.openxmlformats.org/drawingml/2006/main">
              <a:ext uri="{FF2B5EF4-FFF2-40B4-BE49-F238E27FC236}">
                <a16:creationId xmlns:a16="http://schemas.microsoft.com/office/drawing/2014/main" id="{D8C1F566-C4CC-4B73-84D1-8C56218D188D}"/>
              </a:ext>
            </a:extLst>
          </p:cNvPr>
          <p:cNvSpPr>
            <a:spLocks xmlns:a="http://schemas.openxmlformats.org/drawingml/2006/main" noGrp="1"/>
          </p:cNvSpPr>
          <p:nvPr/>
        </p:nvSpPr>
        <p:spPr>
          <a:xfrm xmlns:a="http://schemas.openxmlformats.org/drawingml/2006/main">
            <a:off x="1698689" y="2661285"/>
            <a:ext cx="247592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3.74 million people</a:t>
            </a:r>
          </a:p>
        </p:txBody>
      </p:sp>
      <p:sp>
        <p:nvSpPr>
          <p:cNvPr id="8" name="">
            <a:extLst xmlns:a="http://schemas.openxmlformats.org/drawingml/2006/main">
              <a:ext uri="{FF2B5EF4-FFF2-40B4-BE49-F238E27FC236}">
                <a16:creationId xmlns:a16="http://schemas.microsoft.com/office/drawing/2014/main" id="{C1145D3F-97C0-403B-ADE8-6164C4DAE44C}"/>
              </a:ext>
            </a:extLst>
          </p:cNvPr>
          <p:cNvSpPr>
            <a:spLocks xmlns:a="http://schemas.openxmlformats.org/drawingml/2006/main" noGrp="1"/>
          </p:cNvSpPr>
          <p:nvPr/>
        </p:nvSpPr>
        <p:spPr>
          <a:xfrm xmlns:a="http://schemas.openxmlformats.org/drawingml/2006/main">
            <a:off x="1698689" y="3004947"/>
            <a:ext cx="2460308"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June 2024 assessment</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6 districts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64 upazilas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360 unions</a:t>
            </a:r>
          </a:p>
        </p:txBody>
      </p:sp>
      <p:sp>
        <p:nvSpPr>
          <p:cNvPr id="9" name="">
            <a:extLst xmlns:a="http://schemas.openxmlformats.org/drawingml/2006/main">
              <a:ext uri="{FF2B5EF4-FFF2-40B4-BE49-F238E27FC236}">
                <a16:creationId xmlns:a16="http://schemas.microsoft.com/office/drawing/2014/main" id="{51BEE13B-46C4-42AE-8533-E7279195BB97}"/>
              </a:ext>
            </a:extLst>
          </p:cNvPr>
          <p:cNvSpPr>
            <a:spLocks xmlns:a="http://schemas.openxmlformats.org/drawingml/2006/main" noGrp="1"/>
          </p:cNvSpPr>
          <p:nvPr/>
        </p:nvSpPr>
        <p:spPr>
          <a:xfrm xmlns:a="http://schemas.openxmlformats.org/drawingml/2006/main">
            <a:off x="4768215" y="2270760"/>
            <a:ext cx="2694623"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0" name="">
            <a:extLst xmlns:a="http://schemas.openxmlformats.org/drawingml/2006/main">
              <a:ext uri="{FF2B5EF4-FFF2-40B4-BE49-F238E27FC236}">
                <a16:creationId xmlns:a16="http://schemas.microsoft.com/office/drawing/2014/main" id="{DB200EBB-F66E-4DDB-9C3E-8BC788925ED0}"/>
              </a:ext>
            </a:extLst>
          </p:cNvPr>
          <p:cNvSpPr>
            <a:spLocks xmlns:a="http://schemas.openxmlformats.org/drawingml/2006/main" noGrp="1"/>
          </p:cNvSpPr>
          <p:nvPr/>
        </p:nvSpPr>
        <p:spPr>
          <a:xfrm xmlns:a="http://schemas.openxmlformats.org/drawingml/2006/main">
            <a:off x="4768215" y="2270760"/>
            <a:ext cx="2694623" cy="31242"/>
          </a:xfrm>
          <a:prstGeom xmlns:a="http://schemas.openxmlformats.org/drawingml/2006/main" prst="rect">
            <a:avLst/>
          </a:prstGeom>
          <a:solidFill xmlns:a="http://schemas.openxmlformats.org/drawingml/2006/main">
            <a:srgbClr val="216E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2DBB79-D778-437A-B993-6535AE660C94}"/>
              </a:ext>
            </a:extLst>
          </p:cNvPr>
          <p:cNvSpPr>
            <a:spLocks xmlns:a="http://schemas.openxmlformats.org/drawingml/2006/main" noGrp="1"/>
          </p:cNvSpPr>
          <p:nvPr/>
        </p:nvSpPr>
        <p:spPr>
          <a:xfrm xmlns:a="http://schemas.openxmlformats.org/drawingml/2006/main">
            <a:off x="4900994" y="2403539"/>
            <a:ext cx="2475929"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216E75"/>
                </a:solidFill>
                <a:latin typeface="Arial"/>
                <a:ea typeface="Arial"/>
                <a:cs typeface="Arial"/>
              </a:defRPr>
            </a:pPr>
            <a:r>
              <a:rPr sz="1107" b="1">
                <a:solidFill>
                  <a:srgbClr val="216E75"/>
                </a:solidFill>
                <a:latin typeface="Arial"/>
                <a:ea typeface="Arial"/>
                <a:cs typeface="Arial"/>
              </a:rPr>
              <a:t>REACHABLE SEGMENT</a:t>
            </a:r>
          </a:p>
        </p:txBody>
      </p:sp>
      <p:sp>
        <p:nvSpPr>
          <p:cNvPr id="12" name="">
            <a:extLst xmlns:a="http://schemas.openxmlformats.org/drawingml/2006/main">
              <a:ext uri="{FF2B5EF4-FFF2-40B4-BE49-F238E27FC236}">
                <a16:creationId xmlns:a16="http://schemas.microsoft.com/office/drawing/2014/main" id="{A9CE3EA9-4D86-43E6-B8D3-2C07D13B280B}"/>
              </a:ext>
            </a:extLst>
          </p:cNvPr>
          <p:cNvSpPr>
            <a:spLocks xmlns:a="http://schemas.openxmlformats.org/drawingml/2006/main" noGrp="1"/>
          </p:cNvSpPr>
          <p:nvPr/>
        </p:nvSpPr>
        <p:spPr>
          <a:xfrm xmlns:a="http://schemas.openxmlformats.org/drawingml/2006/main">
            <a:off x="4900994" y="2661285"/>
            <a:ext cx="247592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Institutions with a role</a:t>
            </a:r>
          </a:p>
        </p:txBody>
      </p:sp>
      <p:sp>
        <p:nvSpPr>
          <p:cNvPr id="13" name="">
            <a:extLst xmlns:a="http://schemas.openxmlformats.org/drawingml/2006/main">
              <a:ext uri="{FF2B5EF4-FFF2-40B4-BE49-F238E27FC236}">
                <a16:creationId xmlns:a16="http://schemas.microsoft.com/office/drawing/2014/main" id="{23371C83-2CA4-41E5-9D7E-86A339562939}"/>
              </a:ext>
            </a:extLst>
          </p:cNvPr>
          <p:cNvSpPr>
            <a:spLocks xmlns:a="http://schemas.openxmlformats.org/drawingml/2006/main" noGrp="1"/>
          </p:cNvSpPr>
          <p:nvPr/>
        </p:nvSpPr>
        <p:spPr>
          <a:xfrm xmlns:a="http://schemas.openxmlformats.org/drawingml/2006/main">
            <a:off x="4900994" y="3004947"/>
            <a:ext cx="2460308"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Relief logistics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Health supply coordination</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Preparedness operations</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Budget authority to verify</a:t>
            </a:r>
          </a:p>
        </p:txBody>
      </p:sp>
      <p:sp>
        <p:nvSpPr>
          <p:cNvPr id="14" name="">
            <a:extLst xmlns:a="http://schemas.openxmlformats.org/drawingml/2006/main">
              <a:ext uri="{FF2B5EF4-FFF2-40B4-BE49-F238E27FC236}">
                <a16:creationId xmlns:a16="http://schemas.microsoft.com/office/drawing/2014/main" id="{8433A209-5AB8-4CF8-8587-D8DAE2F118EC}"/>
              </a:ext>
            </a:extLst>
          </p:cNvPr>
          <p:cNvSpPr>
            <a:spLocks xmlns:a="http://schemas.openxmlformats.org/drawingml/2006/main" noGrp="1"/>
          </p:cNvSpPr>
          <p:nvPr/>
        </p:nvSpPr>
        <p:spPr>
          <a:xfrm xmlns:a="http://schemas.openxmlformats.org/drawingml/2006/main">
            <a:off x="7970520" y="2270760"/>
            <a:ext cx="2694623" cy="2108835"/>
          </a:xfrm>
          <a:prstGeom xmlns:a="http://schemas.openxmlformats.org/drawingml/2006/main" prst="rect">
            <a:avLst/>
          </a:prstGeom>
          <a:solidFill xmlns:a="http://schemas.openxmlformats.org/drawingml/2006/main">
            <a:srgbClr val="FFFFFF"/>
          </a:solidFill>
          <a:ln xmlns:a="http://schemas.openxmlformats.org/drawingml/2006/main" w="9525">
            <a:solidFill>
              <a:srgbClr val="BCCDC6"/>
            </a:solidFill>
          </a:ln>
        </p:spPr>
      </p:sp>
      <p:sp>
        <p:nvSpPr>
          <p:cNvPr id="15" name="">
            <a:extLst xmlns:a="http://schemas.openxmlformats.org/drawingml/2006/main">
              <a:ext uri="{FF2B5EF4-FFF2-40B4-BE49-F238E27FC236}">
                <a16:creationId xmlns:a16="http://schemas.microsoft.com/office/drawing/2014/main" id="{DFD59F0D-F346-46A2-B709-B8438F155072}"/>
              </a:ext>
            </a:extLst>
          </p:cNvPr>
          <p:cNvSpPr>
            <a:spLocks xmlns:a="http://schemas.openxmlformats.org/drawingml/2006/main" noGrp="1"/>
          </p:cNvSpPr>
          <p:nvPr/>
        </p:nvSpPr>
        <p:spPr>
          <a:xfrm xmlns:a="http://schemas.openxmlformats.org/drawingml/2006/main">
            <a:off x="7970520" y="2270760"/>
            <a:ext cx="2694623" cy="31242"/>
          </a:xfrm>
          <a:prstGeom xmlns:a="http://schemas.openxmlformats.org/drawingml/2006/main" prst="rect">
            <a:avLst/>
          </a:prstGeom>
          <a:solidFill xmlns:a="http://schemas.openxmlformats.org/drawingml/2006/main">
            <a:srgbClr val="123D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932F44A-8D9F-435D-9B83-B45365948F04}"/>
              </a:ext>
            </a:extLst>
          </p:cNvPr>
          <p:cNvSpPr>
            <a:spLocks xmlns:a="http://schemas.openxmlformats.org/drawingml/2006/main" noGrp="1"/>
          </p:cNvSpPr>
          <p:nvPr/>
        </p:nvSpPr>
        <p:spPr>
          <a:xfrm xmlns:a="http://schemas.openxmlformats.org/drawingml/2006/main">
            <a:off x="8103299" y="2403539"/>
            <a:ext cx="2475929" cy="195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7" b="1">
                <a:solidFill>
                  <a:srgbClr val="123D38"/>
                </a:solidFill>
                <a:latin typeface="Arial"/>
                <a:ea typeface="Arial"/>
                <a:cs typeface="Arial"/>
              </a:defRPr>
            </a:pPr>
            <a:r>
              <a:rPr sz="1107" b="1">
                <a:solidFill>
                  <a:srgbClr val="123D38"/>
                </a:solidFill>
                <a:latin typeface="Arial"/>
                <a:ea typeface="Arial"/>
                <a:cs typeface="Arial"/>
              </a:rPr>
              <a:t>FIRST EXERCISE</a:t>
            </a:r>
          </a:p>
        </p:txBody>
      </p:sp>
      <p:sp>
        <p:nvSpPr>
          <p:cNvPr id="17" name="">
            <a:extLst xmlns:a="http://schemas.openxmlformats.org/drawingml/2006/main">
              <a:ext uri="{FF2B5EF4-FFF2-40B4-BE49-F238E27FC236}">
                <a16:creationId xmlns:a16="http://schemas.microsoft.com/office/drawing/2014/main" id="{2D7659C5-FB2B-4BD5-9C8C-BB515252F1B8}"/>
              </a:ext>
            </a:extLst>
          </p:cNvPr>
          <p:cNvSpPr>
            <a:spLocks xmlns:a="http://schemas.openxmlformats.org/drawingml/2006/main" noGrp="1"/>
          </p:cNvSpPr>
          <p:nvPr/>
        </p:nvSpPr>
        <p:spPr>
          <a:xfrm xmlns:a="http://schemas.openxmlformats.org/drawingml/2006/main">
            <a:off x="8103299" y="2661285"/>
            <a:ext cx="247592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99" b="1">
                <a:solidFill>
                  <a:srgbClr val="172E2B"/>
                </a:solidFill>
                <a:latin typeface="Arial"/>
                <a:ea typeface="Arial"/>
                <a:cs typeface="Arial"/>
              </a:defRPr>
            </a:pPr>
            <a:r>
              <a:rPr sz="1599" b="1">
                <a:solidFill>
                  <a:srgbClr val="172E2B"/>
                </a:solidFill>
                <a:latin typeface="Arial"/>
                <a:ea typeface="Arial"/>
                <a:cs typeface="Arial"/>
              </a:rPr>
              <a:t>One referral chain</a:t>
            </a:r>
          </a:p>
        </p:txBody>
      </p:sp>
      <p:sp>
        <p:nvSpPr>
          <p:cNvPr id="18" name="">
            <a:extLst xmlns:a="http://schemas.openxmlformats.org/drawingml/2006/main">
              <a:ext uri="{FF2B5EF4-FFF2-40B4-BE49-F238E27FC236}">
                <a16:creationId xmlns:a16="http://schemas.microsoft.com/office/drawing/2014/main" id="{CDB3EC10-AE33-4D7B-A1CF-D369CE3D552A}"/>
              </a:ext>
            </a:extLst>
          </p:cNvPr>
          <p:cNvSpPr>
            <a:spLocks xmlns:a="http://schemas.openxmlformats.org/drawingml/2006/main" noGrp="1"/>
          </p:cNvSpPr>
          <p:nvPr/>
        </p:nvSpPr>
        <p:spPr>
          <a:xfrm xmlns:a="http://schemas.openxmlformats.org/drawingml/2006/main">
            <a:off x="8103299" y="3004947"/>
            <a:ext cx="2460308" cy="1359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One sponsor</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Experienced relief partner</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Named operational owner</a:t>
            </a:r>
          </a:p>
          <a:p xmlns:a="http://schemas.openxmlformats.org/drawingml/2006/main">
            <a:pPr>
              <a:defRPr sz="1353" b="0">
                <a:solidFill>
                  <a:srgbClr val="576B6D"/>
                </a:solidFill>
                <a:latin typeface="Arial"/>
                <a:ea typeface="Arial"/>
                <a:cs typeface="Arial"/>
              </a:defRPr>
            </a:pPr>
            <a:r>
              <a:rPr sz="1353" b="0">
                <a:solidFill>
                  <a:srgbClr val="576B6D"/>
                </a:solidFill>
                <a:latin typeface="Arial"/>
                <a:ea typeface="Arial"/>
                <a:cs typeface="Arial"/>
              </a:rPr>
              <a:t>Bounded device cohort</a:t>
            </a:r>
          </a:p>
        </p:txBody>
      </p:sp>
      <p:cxnSp>
        <p:nvCxnSpPr>
          <p:cNvPr id="41" name=""/>
          <p:cNvCxnSpPr>
            <a:stCxn xmlns:a="http://schemas.openxmlformats.org/drawingml/2006/main" id="4" idx="3"/>
            <a:endCxn xmlns:a="http://schemas.openxmlformats.org/drawingml/2006/main" id="9" idx="1"/>
          </p:cNvCxnSpPr>
          <p:nvPr/>
        </p:nvCxnSpPr>
        <p:spPr>
          <a:xfrm xmlns:a="http://schemas.openxmlformats.org/drawingml/2006/main">
            <a:off x="4260533" y="3325178"/>
            <a:ext cx="507682"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cxnSp>
        <p:nvCxnSpPr>
          <p:cNvPr id="42" name=""/>
          <p:cNvCxnSpPr>
            <a:stCxn xmlns:a="http://schemas.openxmlformats.org/drawingml/2006/main" id="9" idx="3"/>
            <a:endCxn xmlns:a="http://schemas.openxmlformats.org/drawingml/2006/main" id="14" idx="1"/>
          </p:cNvCxnSpPr>
          <p:nvPr/>
        </p:nvCxnSpPr>
        <p:spPr>
          <a:xfrm xmlns:a="http://schemas.openxmlformats.org/drawingml/2006/main">
            <a:off x="7462838" y="3325178"/>
            <a:ext cx="507682" cy="0"/>
          </a:xfrm>
          <a:prstGeom xmlns:a="http://schemas.openxmlformats.org/drawingml/2006/main" prst="straightConnector1">
            <a:avLst/>
          </a:prstGeom>
          <a:ln xmlns:a="http://schemas.openxmlformats.org/drawingml/2006/main" w="20955">
            <a:solidFill>
              <a:srgbClr val="216E75"/>
            </a:solidFill>
            <a:prstDash val="solid"/>
            <a:tailEnd type="arrow" w="med" len="med"/>
          </a:ln>
        </p:spPr>
      </p:cxnSp>
      <p:sp>
        <p:nvSpPr>
          <p:cNvPr id="21" name="">
            <a:extLst xmlns:a="http://schemas.openxmlformats.org/drawingml/2006/main">
              <a:ext uri="{FF2B5EF4-FFF2-40B4-BE49-F238E27FC236}">
                <a16:creationId xmlns:a16="http://schemas.microsoft.com/office/drawing/2014/main" id="{162FFE22-8996-4508-AE67-D11479A4B305}"/>
              </a:ext>
            </a:extLst>
          </p:cNvPr>
          <p:cNvSpPr>
            <a:spLocks xmlns:a="http://schemas.openxmlformats.org/drawingml/2006/main" noGrp="1"/>
          </p:cNvSpPr>
          <p:nvPr/>
        </p:nvSpPr>
        <p:spPr>
          <a:xfrm xmlns:a="http://schemas.openxmlformats.org/drawingml/2006/main">
            <a:off x="1565910" y="4902899"/>
            <a:ext cx="9060180" cy="3046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60" b="0">
                <a:solidFill>
                  <a:srgbClr val="123D38"/>
                </a:solidFill>
                <a:latin typeface="Arial"/>
                <a:ea typeface="Arial"/>
                <a:cs typeface="Arial"/>
              </a:defRPr>
            </a:pPr>
            <a:r>
              <a:rPr sz="1660" b="0">
                <a:solidFill>
                  <a:srgbClr val="123D38"/>
                </a:solidFill>
                <a:latin typeface="Arial"/>
                <a:ea typeface="Arial"/>
                <a:cs typeface="Arial"/>
              </a:rPr>
              <a:t>Bottom-up sizing follows verified organizations, budgets and purchase cycles.</a:t>
            </a:r>
          </a:p>
        </p:txBody>
      </p:sp>
      <p:sp>
        <p:nvSpPr>
          <p:cNvPr id="22" name="">
            <a:extLst xmlns:a="http://schemas.openxmlformats.org/drawingml/2006/main">
              <a:ext uri="{FF2B5EF4-FFF2-40B4-BE49-F238E27FC236}">
                <a16:creationId xmlns:a16="http://schemas.microsoft.com/office/drawing/2014/main" id="{229E05FF-6A90-4611-B934-3366B015276B}"/>
              </a:ext>
            </a:extLst>
          </p:cNvPr>
          <p:cNvSpPr>
            <a:spLocks xmlns:a="http://schemas.openxmlformats.org/drawingml/2006/main" noGrp="1"/>
          </p:cNvSpPr>
          <p:nvPr/>
        </p:nvSpPr>
        <p:spPr>
          <a:xfrm xmlns:a="http://schemas.openxmlformats.org/drawingml/2006/main">
            <a:off x="1565910" y="5449634"/>
            <a:ext cx="9060180"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15" b="0">
                <a:solidFill>
                  <a:srgbClr val="A96827"/>
                </a:solidFill>
                <a:latin typeface="Arial"/>
                <a:ea typeface="Arial"/>
                <a:cs typeface="Arial"/>
              </a:defRPr>
            </a:pPr>
            <a:r>
              <a:rPr sz="1415" b="0">
                <a:solidFill>
                  <a:srgbClr val="A96827"/>
                </a:solidFill>
                <a:latin typeface="Arial"/>
                <a:ea typeface="Arial"/>
                <a:cs typeface="Arial"/>
              </a:rPr>
              <a:t>S03: NAWG June 2024 assessment. Revenue market size is not yet established.</a:t>
            </a:r>
          </a:p>
        </p:txBody>
      </p:sp>
    </p:spTree>
    <p:extLst>
      <p:ext uri="{BB962C8B-B14F-4D97-AF65-F5344CB8AC3E}">
        <p14:creationId xmlns:p14="http://schemas.microsoft.com/office/powerpoint/2010/main" val="805322376"/>
      </p:ext>
    </p:extLst>
  </p:cSld>
</p:sld>
</file>

<file path=ppt/slides/slide2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8A2265-673B-488A-8DE6-1189645FFEC0}"/>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Discovery tests the buying hypothesis</a:t>
            </a:r>
          </a:p>
        </p:txBody>
      </p:sp>
      <p:sp>
        <p:nvSpPr>
          <p:cNvPr id="2" name="">
            <a:extLst xmlns:a="http://schemas.openxmlformats.org/drawingml/2006/main">
              <a:ext uri="{FF2B5EF4-FFF2-40B4-BE49-F238E27FC236}">
                <a16:creationId xmlns:a16="http://schemas.microsoft.com/office/drawing/2014/main" id="{5026CABB-6759-42D4-BD60-18076636D81C}"/>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Twelve proposed interviews across operational and institutional roles.</a:t>
            </a:r>
          </a:p>
        </p:txBody>
      </p:sp>
      <p:sp>
        <p:nvSpPr>
          <p:cNvPr id="3" name="">
            <a:extLst xmlns:a="http://schemas.openxmlformats.org/drawingml/2006/main">
              <a:ext uri="{FF2B5EF4-FFF2-40B4-BE49-F238E27FC236}">
                <a16:creationId xmlns:a16="http://schemas.microsoft.com/office/drawing/2014/main" id="{4D78808C-5580-4686-854B-B33A539A8218}"/>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23</a:t>
            </a:r>
          </a:p>
        </p:txBody>
      </p:sp>
      <p:graphicFrame>
        <p:nvGraphicFramePr>
          <p:cNvPr id="10" name=""/>
          <p:cNvGraphicFramePr/>
          <p:nvPr/>
        </p:nvGraphicFramePr>
        <p:xfrm>
          <a:off xmlns:a="http://schemas.openxmlformats.org/drawingml/2006/main" x="609600" y="2343150"/>
          <a:ext xmlns:a="http://schemas.openxmlformats.org/drawingml/2006/main" cx="10972800" cy="2514600"/>
        </p:xfrm>
        <a:graphic xmlns:a="http://schemas.openxmlformats.org/drawingml/2006/main">
          <a:graphicData uri="http://schemas.openxmlformats.org/drawingml/2006/table">
            <a:tbl>
              <a:tblPr/>
              <a:tblGrid>
                <a:gridCol w="2381250"/>
                <a:gridCol w="5048250"/>
                <a:gridCol w="3543300"/>
              </a:tblGrid>
              <a:tr h="628650">
                <a:tc>
                  <a:txBody>
                    <a:bodyPr/>
                    <a:lstStyle/>
                    <a:p>
                      <a:r>
                        <a:rPr sz="1800" b="1">
                          <a:solidFill>
                            <a:srgbClr val="FFFFFF"/>
                          </a:solidFill>
                          <a:latin typeface="Arial"/>
                          <a:ea typeface="Arial"/>
                          <a:cs typeface="Arial"/>
                        </a:rPr>
                        <a:t>Participants</a:t>
                      </a:r>
                    </a:p>
                  </a:txBody>
                  <a:tcPr marL="91440" marR="91440" marT="45720" marB="45720">
                    <a:solidFill>
                      <a:srgbClr val="123D38"/>
                    </a:solidFill>
                  </a:tcPr>
                </a:tc>
                <a:tc>
                  <a:txBody>
                    <a:bodyPr/>
                    <a:lstStyle/>
                    <a:p>
                      <a:r>
                        <a:rPr sz="1800" b="1">
                          <a:solidFill>
                            <a:srgbClr val="FFFFFF"/>
                          </a:solidFill>
                          <a:latin typeface="Arial"/>
                          <a:ea typeface="Arial"/>
                          <a:cs typeface="Arial"/>
                        </a:rPr>
                        <a:t>What to learn</a:t>
                      </a:r>
                    </a:p>
                  </a:txBody>
                  <a:tcPr marL="91440" marR="91440" marT="45720" marB="45720">
                    <a:solidFill>
                      <a:srgbClr val="123D38"/>
                    </a:solidFill>
                  </a:tcPr>
                </a:tc>
                <a:tc>
                  <a:txBody>
                    <a:bodyPr/>
                    <a:lstStyle/>
                    <a:p>
                      <a:r>
                        <a:rPr sz="1800" b="1">
                          <a:solidFill>
                            <a:srgbClr val="FFFFFF"/>
                          </a:solidFill>
                          <a:latin typeface="Arial"/>
                          <a:ea typeface="Arial"/>
                          <a:cs typeface="Arial"/>
                        </a:rPr>
                        <a:t>Decision it informs</a:t>
                      </a:r>
                    </a:p>
                  </a:txBody>
                  <a:tcPr marL="91440" marR="91440" marT="45720" marB="45720">
                    <a:solidFill>
                      <a:srgbClr val="123D38"/>
                    </a:solidFill>
                  </a:tcPr>
                </a:tc>
              </a:tr>
              <a:tr h="628650">
                <a:tc>
                  <a:txBody>
                    <a:bodyPr/>
                    <a:lstStyle/>
                    <a:p>
                      <a:r>
                        <a:rPr sz="1800" b="0">
                          <a:solidFill>
                            <a:srgbClr val="172E2B"/>
                          </a:solidFill>
                          <a:latin typeface="Arial"/>
                          <a:ea typeface="Arial"/>
                          <a:cs typeface="Arial"/>
                        </a:rPr>
                        <a:t>4 field users</a:t>
                      </a:r>
                    </a:p>
                  </a:txBody>
                  <a:tcPr marL="91440" marR="91440" marT="45720" marB="45720">
                    <a:solidFill>
                      <a:srgbClr val="FFFFFF"/>
                    </a:solidFill>
                  </a:tcPr>
                </a:tc>
                <a:tc>
                  <a:txBody>
                    <a:bodyPr/>
                    <a:lstStyle/>
                    <a:p>
                      <a:r>
                        <a:rPr sz="1800" b="0">
                          <a:solidFill>
                            <a:srgbClr val="172E2B"/>
                          </a:solidFill>
                          <a:latin typeface="Arial"/>
                          <a:ea typeface="Arial"/>
                          <a:cs typeface="Arial"/>
                        </a:rPr>
                        <a:t>Last outage, current workaround, critical errors</a:t>
                      </a:r>
                    </a:p>
                  </a:txBody>
                  <a:tcPr marL="91440" marR="91440" marT="45720" marB="45720">
                    <a:solidFill>
                      <a:srgbClr val="FFFFFF"/>
                    </a:solidFill>
                  </a:tcPr>
                </a:tc>
                <a:tc>
                  <a:txBody>
                    <a:bodyPr/>
                    <a:lstStyle/>
                    <a:p>
                      <a:r>
                        <a:rPr sz="1800" b="0">
                          <a:solidFill>
                            <a:srgbClr val="172E2B"/>
                          </a:solidFill>
                          <a:latin typeface="Arial"/>
                          <a:ea typeface="Arial"/>
                          <a:cs typeface="Arial"/>
                        </a:rPr>
                        <a:t>Workflow and interface fit</a:t>
                      </a:r>
                    </a:p>
                  </a:txBody>
                  <a:tcPr marL="91440" marR="91440" marT="45720" marB="45720">
                    <a:solidFill>
                      <a:srgbClr val="FFFFFF"/>
                    </a:solidFill>
                  </a:tcPr>
                </a:tc>
              </a:tr>
              <a:tr h="628650">
                <a:tc>
                  <a:txBody>
                    <a:bodyPr/>
                    <a:lstStyle/>
                    <a:p>
                      <a:r>
                        <a:rPr sz="1800" b="0">
                          <a:solidFill>
                            <a:srgbClr val="172E2B"/>
                          </a:solidFill>
                          <a:latin typeface="Arial"/>
                          <a:ea typeface="Arial"/>
                          <a:cs typeface="Arial"/>
                        </a:rPr>
                        <a:t>4 coordinators</a:t>
                      </a:r>
                    </a:p>
                  </a:txBody>
                  <a:tcPr marL="91440" marR="91440" marT="45720" marB="45720">
                    <a:solidFill>
                      <a:srgbClr val="EDF3EF"/>
                    </a:solidFill>
                  </a:tcPr>
                </a:tc>
                <a:tc>
                  <a:txBody>
                    <a:bodyPr/>
                    <a:lstStyle/>
                    <a:p>
                      <a:r>
                        <a:rPr sz="1800" b="0">
                          <a:solidFill>
                            <a:srgbClr val="172E2B"/>
                          </a:solidFill>
                          <a:latin typeface="Arial"/>
                          <a:ea typeface="Arial"/>
                          <a:cs typeface="Arial"/>
                        </a:rPr>
                        <a:t>Decision authority, custody and handoff exceptions</a:t>
                      </a:r>
                    </a:p>
                  </a:txBody>
                  <a:tcPr marL="91440" marR="91440" marT="45720" marB="45720">
                    <a:solidFill>
                      <a:srgbClr val="EDF3EF"/>
                    </a:solidFill>
                  </a:tcPr>
                </a:tc>
                <a:tc>
                  <a:txBody>
                    <a:bodyPr/>
                    <a:lstStyle/>
                    <a:p>
                      <a:r>
                        <a:rPr sz="1800" b="0">
                          <a:solidFill>
                            <a:srgbClr val="172E2B"/>
                          </a:solidFill>
                          <a:latin typeface="Arial"/>
                          <a:ea typeface="Arial"/>
                          <a:cs typeface="Arial"/>
                        </a:rPr>
                        <a:t>Operating procedures</a:t>
                      </a:r>
                    </a:p>
                  </a:txBody>
                  <a:tcPr marL="91440" marR="91440" marT="45720" marB="45720">
                    <a:solidFill>
                      <a:srgbClr val="EDF3EF"/>
                    </a:solidFill>
                  </a:tcPr>
                </a:tc>
              </a:tr>
              <a:tr h="628650">
                <a:tc>
                  <a:txBody>
                    <a:bodyPr/>
                    <a:lstStyle/>
                    <a:p>
                      <a:r>
                        <a:rPr sz="1800" b="0">
                          <a:solidFill>
                            <a:srgbClr val="172E2B"/>
                          </a:solidFill>
                          <a:latin typeface="Arial"/>
                          <a:ea typeface="Arial"/>
                          <a:cs typeface="Arial"/>
                        </a:rPr>
                        <a:t>4 budget or IT owners</a:t>
                      </a:r>
                    </a:p>
                  </a:txBody>
                  <a:tcPr marL="91440" marR="91440" marT="45720" marB="45720">
                    <a:solidFill>
                      <a:srgbClr val="FFFFFF"/>
                    </a:solidFill>
                  </a:tcPr>
                </a:tc>
                <a:tc>
                  <a:txBody>
                    <a:bodyPr/>
                    <a:lstStyle/>
                    <a:p>
                      <a:r>
                        <a:rPr sz="1800" b="0">
                          <a:solidFill>
                            <a:srgbClr val="172E2B"/>
                          </a:solidFill>
                          <a:latin typeface="Arial"/>
                          <a:ea typeface="Arial"/>
                          <a:cs typeface="Arial"/>
                        </a:rPr>
                        <a:t>Budget timing, procurement, support and data rules</a:t>
                      </a:r>
                    </a:p>
                  </a:txBody>
                  <a:tcPr marL="91440" marR="91440" marT="45720" marB="45720">
                    <a:solidFill>
                      <a:srgbClr val="FFFFFF"/>
                    </a:solidFill>
                  </a:tcPr>
                </a:tc>
                <a:tc>
                  <a:txBody>
                    <a:bodyPr/>
                    <a:lstStyle/>
                    <a:p>
                      <a:r>
                        <a:rPr sz="1800" b="0">
                          <a:solidFill>
                            <a:srgbClr val="172E2B"/>
                          </a:solidFill>
                          <a:latin typeface="Arial"/>
                          <a:ea typeface="Arial"/>
                          <a:cs typeface="Arial"/>
                        </a:rPr>
                        <a:t>Buyer and service model</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2997FBE-0E52-4E07-9C34-B81D770F52A2}"/>
              </a:ext>
            </a:extLst>
          </p:cNvPr>
          <p:cNvSpPr>
            <a:spLocks xmlns:a="http://schemas.openxmlformats.org/drawingml/2006/main" noGrp="1"/>
          </p:cNvSpPr>
          <p:nvPr/>
        </p:nvSpPr>
        <p:spPr>
          <a:xfrm xmlns:a="http://schemas.openxmlformats.org/drawingml/2006/main">
            <a:off x="628650" y="53340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3D38"/>
                </a:solidFill>
                <a:latin typeface="Arial"/>
                <a:ea typeface="Arial"/>
                <a:cs typeface="Arial"/>
              </a:defRPr>
            </a:pPr>
            <a:r>
              <a:rPr sz="2100" b="0">
                <a:solidFill>
                  <a:srgbClr val="123D38"/>
                </a:solidFill>
                <a:latin typeface="Arial"/>
                <a:ea typeface="Arial"/>
                <a:cs typeface="Arial"/>
              </a:rPr>
              <a:t>Recruit across Bangla and English use, device experience</a:t>
            </a:r>
          </a:p>
          <a:p xmlns:a="http://schemas.openxmlformats.org/drawingml/2006/main">
            <a:pPr>
              <a:defRPr sz="2100" b="0">
                <a:solidFill>
                  <a:srgbClr val="123D38"/>
                </a:solidFill>
                <a:latin typeface="Arial"/>
                <a:ea typeface="Arial"/>
                <a:cs typeface="Arial"/>
              </a:defRPr>
            </a:pPr>
            <a:r>
              <a:rPr sz="2100" b="0">
                <a:solidFill>
                  <a:srgbClr val="123D38"/>
                </a:solidFill>
                <a:latin typeface="Arial"/>
                <a:ea typeface="Arial"/>
                <a:cs typeface="Arial"/>
              </a:rPr>
              <a:t>and accessibility needs.</a:t>
            </a:r>
          </a:p>
        </p:txBody>
      </p:sp>
      <p:sp>
        <p:nvSpPr>
          <p:cNvPr id="6" name="">
            <a:extLst xmlns:a="http://schemas.openxmlformats.org/drawingml/2006/main">
              <a:ext uri="{FF2B5EF4-FFF2-40B4-BE49-F238E27FC236}">
                <a16:creationId xmlns:a16="http://schemas.microsoft.com/office/drawing/2014/main" id="{ED84BA56-73D9-4BCB-8D1B-4C2A4A4B0519}"/>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Illustrative discovery design. Demand, willingness to pay and sponsor ownership remain unvalidated.</a:t>
            </a:r>
          </a:p>
        </p:txBody>
      </p:sp>
    </p:spTree>
    <p:extLst>
      <p:ext uri="{BB962C8B-B14F-4D97-AF65-F5344CB8AC3E}">
        <p14:creationId xmlns:p14="http://schemas.microsoft.com/office/powerpoint/2010/main" val="1084343851"/>
      </p:ext>
    </p:extLst>
  </p:cSld>
</p:sld>
</file>

<file path=ppt/slides/slide2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A1DAF5-EEAB-4B3D-B0E6-82C8CA4B96D0}"/>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Both languages share the same mission</a:t>
            </a:r>
          </a:p>
        </p:txBody>
      </p:sp>
      <p:sp>
        <p:nvSpPr>
          <p:cNvPr id="2" name="">
            <a:extLst xmlns:a="http://schemas.openxmlformats.org/drawingml/2006/main">
              <a:ext uri="{FF2B5EF4-FFF2-40B4-BE49-F238E27FC236}">
                <a16:creationId xmlns:a16="http://schemas.microsoft.com/office/drawing/2014/main" id="{A1560C2D-ADFA-43CA-9C3B-1BD1509A9A64}"/>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language choice and authority.</a:t>
            </a:r>
          </a:p>
        </p:txBody>
      </p:sp>
      <p:sp>
        <p:nvSpPr>
          <p:cNvPr id="3" name="">
            <a:extLst xmlns:a="http://schemas.openxmlformats.org/drawingml/2006/main">
              <a:ext uri="{FF2B5EF4-FFF2-40B4-BE49-F238E27FC236}">
                <a16:creationId xmlns:a16="http://schemas.microsoft.com/office/drawing/2014/main" id="{D69A29DB-1F1C-4F36-BB4B-F2A01474C517}"/>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2b3e078b2854743"/>
          <a:stretch xmlns:a="http://schemas.openxmlformats.org/drawingml/2006/main"/>
        </p:blipFill>
        <p:spPr>
          <a:xfrm xmlns:a="http://schemas.openxmlformats.org/drawingml/2006/main">
            <a:off x="955968" y="1943100"/>
            <a:ext cx="1707563"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049662-4943-450E-B4A6-19B5893D06B6}"/>
              </a:ext>
            </a:extLst>
          </p:cNvPr>
          <p:cNvSpPr>
            <a:spLocks xmlns:a="http://schemas.openxmlformats.org/drawingml/2006/main" noGrp="1"/>
          </p:cNvSpPr>
          <p:nvPr/>
        </p:nvSpPr>
        <p:spPr>
          <a:xfrm xmlns:a="http://schemas.openxmlformats.org/drawingml/2006/main">
            <a:off x="762000" y="59055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23D38"/>
                </a:solidFill>
                <a:latin typeface="Arial"/>
                <a:ea typeface="Arial"/>
                <a:cs typeface="Arial"/>
              </a:defRPr>
            </a:pPr>
            <a:r>
              <a:rPr sz="1575" b="1">
                <a:solidFill>
                  <a:srgbClr val="123D38"/>
                </a:solidFill>
                <a:latin typeface="Arial"/>
                <a:ea typeface="Arial"/>
                <a:cs typeface="Arial"/>
              </a:rPr>
              <a:t>Language choice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fa783536a194ad8"/>
          <a:stretch xmlns:a="http://schemas.openxmlformats.org/drawingml/2006/main"/>
        </p:blipFill>
        <p:spPr>
          <a:xfrm xmlns:a="http://schemas.openxmlformats.org/drawingml/2006/main">
            <a:off x="3794418" y="1943100"/>
            <a:ext cx="1707563"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F54650C-C0A8-4C6A-9C47-5DCBA4407CEF}"/>
              </a:ext>
            </a:extLst>
          </p:cNvPr>
          <p:cNvSpPr>
            <a:spLocks xmlns:a="http://schemas.openxmlformats.org/drawingml/2006/main" noGrp="1"/>
          </p:cNvSpPr>
          <p:nvPr/>
        </p:nvSpPr>
        <p:spPr>
          <a:xfrm xmlns:a="http://schemas.openxmlformats.org/drawingml/2006/main">
            <a:off x="3600450" y="59055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23D38"/>
                </a:solidFill>
                <a:latin typeface="Arial"/>
                <a:ea typeface="Arial"/>
                <a:cs typeface="Arial"/>
              </a:defRPr>
            </a:pPr>
            <a:r>
              <a:rPr sz="1575" b="1">
                <a:solidFill>
                  <a:srgbClr val="123D38"/>
                </a:solidFill>
                <a:latin typeface="Arial"/>
                <a:ea typeface="Arial"/>
                <a:cs typeface="Arial"/>
              </a:rPr>
              <a:t>Bangla home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a454867c9b4a2d"/>
          <a:stretch xmlns:a="http://schemas.openxmlformats.org/drawingml/2006/main"/>
        </p:blipFill>
        <p:spPr>
          <a:xfrm xmlns:a="http://schemas.openxmlformats.org/drawingml/2006/main">
            <a:off x="6632868" y="1943100"/>
            <a:ext cx="1707563" cy="3810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C3F960A-C86F-445F-9BD4-F750894A78DE}"/>
              </a:ext>
            </a:extLst>
          </p:cNvPr>
          <p:cNvSpPr>
            <a:spLocks xmlns:a="http://schemas.openxmlformats.org/drawingml/2006/main" noGrp="1"/>
          </p:cNvSpPr>
          <p:nvPr/>
        </p:nvSpPr>
        <p:spPr>
          <a:xfrm xmlns:a="http://schemas.openxmlformats.org/drawingml/2006/main">
            <a:off x="6438900" y="59055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23D38"/>
                </a:solidFill>
                <a:latin typeface="Arial"/>
                <a:ea typeface="Arial"/>
                <a:cs typeface="Arial"/>
              </a:defRPr>
            </a:pPr>
            <a:r>
              <a:rPr sz="1575" b="1">
                <a:solidFill>
                  <a:srgbClr val="123D38"/>
                </a:solidFill>
                <a:latin typeface="Arial"/>
                <a:ea typeface="Arial"/>
                <a:cs typeface="Arial"/>
              </a:rPr>
              <a:t>Trusted identity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8fea215ec8a4597"/>
          <a:stretch xmlns:a="http://schemas.openxmlformats.org/drawingml/2006/main"/>
        </p:blipFill>
        <p:spPr>
          <a:xfrm xmlns:a="http://schemas.openxmlformats.org/drawingml/2006/main">
            <a:off x="9471318" y="1943100"/>
            <a:ext cx="1707563" cy="3810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2904D90-7DBC-4801-8206-33C6C96484A5}"/>
              </a:ext>
            </a:extLst>
          </p:cNvPr>
          <p:cNvSpPr>
            <a:spLocks xmlns:a="http://schemas.openxmlformats.org/drawingml/2006/main" noGrp="1"/>
          </p:cNvSpPr>
          <p:nvPr/>
        </p:nvSpPr>
        <p:spPr>
          <a:xfrm xmlns:a="http://schemas.openxmlformats.org/drawingml/2006/main">
            <a:off x="9277350" y="59055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23D38"/>
                </a:solidFill>
                <a:latin typeface="Arial"/>
                <a:ea typeface="Arial"/>
                <a:cs typeface="Arial"/>
              </a:defRPr>
            </a:pPr>
            <a:r>
              <a:rPr sz="1575" b="1">
                <a:solidFill>
                  <a:srgbClr val="123D38"/>
                </a:solidFill>
                <a:latin typeface="Arial"/>
                <a:ea typeface="Arial"/>
                <a:cs typeface="Arial"/>
              </a:rPr>
              <a:t>Role denial</a:t>
            </a:r>
          </a:p>
        </p:txBody>
      </p:sp>
      <p:sp>
        <p:nvSpPr>
          <p:cNvPr id="12" name="">
            <a:extLst xmlns:a="http://schemas.openxmlformats.org/drawingml/2006/main">
              <a:ext uri="{FF2B5EF4-FFF2-40B4-BE49-F238E27FC236}">
                <a16:creationId xmlns:a16="http://schemas.microsoft.com/office/drawing/2014/main" id="{3CF4CC19-EDEB-4E41-8C1C-B1BF4672BE1B}"/>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Original full captures. Language parity alone does not establish human accessibility.</a:t>
            </a:r>
          </a:p>
        </p:txBody>
      </p:sp>
    </p:spTree>
    <p:extLst>
      <p:ext uri="{BB962C8B-B14F-4D97-AF65-F5344CB8AC3E}">
        <p14:creationId xmlns:p14="http://schemas.microsoft.com/office/powerpoint/2010/main" val="18771939"/>
      </p:ext>
    </p:extLst>
  </p:cSld>
</p:sld>
</file>

<file path=ppt/slides/slide2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0FE7DA-15E0-477B-B3D5-3EC58185461E}"/>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active relay has a visible lifecycle</a:t>
            </a:r>
          </a:p>
        </p:txBody>
      </p:sp>
      <p:sp>
        <p:nvSpPr>
          <p:cNvPr id="2" name="">
            <a:extLst xmlns:a="http://schemas.openxmlformats.org/drawingml/2006/main">
              <a:ext uri="{FF2B5EF4-FFF2-40B4-BE49-F238E27FC236}">
                <a16:creationId xmlns:a16="http://schemas.microsoft.com/office/drawing/2014/main" id="{EBD1C7A4-610B-4BF4-946C-6469AE190DCD}"/>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Bangla and English Nearby sessions.</a:t>
            </a:r>
          </a:p>
        </p:txBody>
      </p:sp>
      <p:sp>
        <p:nvSpPr>
          <p:cNvPr id="3" name="">
            <a:extLst xmlns:a="http://schemas.openxmlformats.org/drawingml/2006/main">
              <a:ext uri="{FF2B5EF4-FFF2-40B4-BE49-F238E27FC236}">
                <a16:creationId xmlns:a16="http://schemas.microsoft.com/office/drawing/2014/main" id="{7056A47E-9887-4868-968B-FE4256D459D1}"/>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edc3e12ada48fe"/>
          <a:stretch xmlns:a="http://schemas.openxmlformats.org/drawingml/2006/main"/>
        </p:blipFill>
        <p:spPr>
          <a:xfrm xmlns:a="http://schemas.openxmlformats.org/drawingml/2006/main">
            <a:off x="934797" y="2019300"/>
            <a:ext cx="1835630" cy="40957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892234b4804784"/>
          <a:stretch xmlns:a="http://schemas.openxmlformats.org/drawingml/2006/main"/>
        </p:blipFill>
        <p:spPr>
          <a:xfrm xmlns:a="http://schemas.openxmlformats.org/drawingml/2006/main">
            <a:off x="3601797" y="2019300"/>
            <a:ext cx="183563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C9E9A6-8373-4C47-AA2A-C1DFE6C2EB39}"/>
              </a:ext>
            </a:extLst>
          </p:cNvPr>
          <p:cNvSpPr>
            <a:spLocks xmlns:a="http://schemas.openxmlformats.org/drawingml/2006/main" noGrp="1"/>
          </p:cNvSpPr>
          <p:nvPr/>
        </p:nvSpPr>
        <p:spPr>
          <a:xfrm xmlns:a="http://schemas.openxmlformats.org/drawingml/2006/main">
            <a:off x="6572250" y="2190750"/>
            <a:ext cx="4714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Authenticated peers</a:t>
            </a:r>
          </a:p>
        </p:txBody>
      </p:sp>
      <p:sp>
        <p:nvSpPr>
          <p:cNvPr id="7" name="">
            <a:extLst xmlns:a="http://schemas.openxmlformats.org/drawingml/2006/main">
              <a:ext uri="{FF2B5EF4-FFF2-40B4-BE49-F238E27FC236}">
                <a16:creationId xmlns:a16="http://schemas.microsoft.com/office/drawing/2014/main" id="{3E2BF45C-430A-4E98-97FF-3E9A58E3D6BF}"/>
              </a:ext>
            </a:extLst>
          </p:cNvPr>
          <p:cNvSpPr>
            <a:spLocks xmlns:a="http://schemas.openxmlformats.org/drawingml/2006/main" noGrp="1"/>
          </p:cNvSpPr>
          <p:nvPr/>
        </p:nvSpPr>
        <p:spPr>
          <a:xfrm xmlns:a="http://schemas.openxmlformats.org/drawingml/2006/main">
            <a:off x="6572250" y="2657475"/>
            <a:ext cx="4714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Nearby connection acceptance is followed by independent signed challenge verification.</a:t>
            </a:r>
          </a:p>
        </p:txBody>
      </p:sp>
      <p:sp>
        <p:nvSpPr>
          <p:cNvPr id="8" name="">
            <a:extLst xmlns:a="http://schemas.openxmlformats.org/drawingml/2006/main">
              <a:ext uri="{FF2B5EF4-FFF2-40B4-BE49-F238E27FC236}">
                <a16:creationId xmlns:a16="http://schemas.microsoft.com/office/drawing/2014/main" id="{BB87DFED-B6E3-4087-B508-6DA845883A88}"/>
              </a:ext>
            </a:extLst>
          </p:cNvPr>
          <p:cNvSpPr>
            <a:spLocks xmlns:a="http://schemas.openxmlformats.org/drawingml/2006/main" noGrp="1"/>
          </p:cNvSpPr>
          <p:nvPr/>
        </p:nvSpPr>
        <p:spPr>
          <a:xfrm xmlns:a="http://schemas.openxmlformats.org/drawingml/2006/main">
            <a:off x="6572250" y="4048125"/>
            <a:ext cx="4714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Durable transfer</a:t>
            </a:r>
          </a:p>
        </p:txBody>
      </p:sp>
      <p:sp>
        <p:nvSpPr>
          <p:cNvPr id="9" name="">
            <a:extLst xmlns:a="http://schemas.openxmlformats.org/drawingml/2006/main">
              <a:ext uri="{FF2B5EF4-FFF2-40B4-BE49-F238E27FC236}">
                <a16:creationId xmlns:a16="http://schemas.microsoft.com/office/drawing/2014/main" id="{B32D7B5B-C44E-449C-BAFB-E47E6202E001}"/>
              </a:ext>
            </a:extLst>
          </p:cNvPr>
          <p:cNvSpPr>
            <a:spLocks xmlns:a="http://schemas.openxmlformats.org/drawingml/2006/main" noGrp="1"/>
          </p:cNvSpPr>
          <p:nvPr/>
        </p:nvSpPr>
        <p:spPr>
          <a:xfrm xmlns:a="http://schemas.openxmlformats.org/drawingml/2006/main">
            <a:off x="6572250" y="4514850"/>
            <a:ext cx="4714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Queues persist before acknowledgement. Interruption and retry require physical validation.</a:t>
            </a:r>
          </a:p>
        </p:txBody>
      </p:sp>
      <p:sp>
        <p:nvSpPr>
          <p:cNvPr id="10" name="">
            <a:extLst xmlns:a="http://schemas.openxmlformats.org/drawingml/2006/main">
              <a:ext uri="{FF2B5EF4-FFF2-40B4-BE49-F238E27FC236}">
                <a16:creationId xmlns:a16="http://schemas.microsoft.com/office/drawing/2014/main" id="{37FCD909-F90E-450C-BE47-9A669B14DF21}"/>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Full source captures. Three physical phones must demonstrate relay interruption and recovery.</a:t>
            </a:r>
          </a:p>
        </p:txBody>
      </p:sp>
    </p:spTree>
    <p:extLst>
      <p:ext uri="{BB962C8B-B14F-4D97-AF65-F5344CB8AC3E}">
        <p14:creationId xmlns:p14="http://schemas.microsoft.com/office/powerpoint/2010/main" val="1814251354"/>
      </p:ext>
    </p:extLst>
  </p:cSld>
</p:sld>
</file>

<file path=ppt/slides/slide2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8C7069-D8A7-451F-AAA4-16ECE6123540}"/>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Maps remain available on the phone</a:t>
            </a:r>
          </a:p>
        </p:txBody>
      </p:sp>
      <p:sp>
        <p:nvSpPr>
          <p:cNvPr id="2" name="">
            <a:extLst xmlns:a="http://schemas.openxmlformats.org/drawingml/2006/main">
              <a:ext uri="{FF2B5EF4-FFF2-40B4-BE49-F238E27FC236}">
                <a16:creationId xmlns:a16="http://schemas.microsoft.com/office/drawing/2014/main" id="{3568B0C6-47F6-446F-B733-6E45069BADC6}"/>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geographic provenance and simulated overlays.</a:t>
            </a:r>
          </a:p>
        </p:txBody>
      </p:sp>
      <p:sp>
        <p:nvSpPr>
          <p:cNvPr id="3" name="">
            <a:extLst xmlns:a="http://schemas.openxmlformats.org/drawingml/2006/main">
              <a:ext uri="{FF2B5EF4-FFF2-40B4-BE49-F238E27FC236}">
                <a16:creationId xmlns:a16="http://schemas.microsoft.com/office/drawing/2014/main" id="{069FAF55-21DF-43FD-83AD-75CAA1314CAA}"/>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de979cce61f4d42"/>
          <a:stretch xmlns:a="http://schemas.openxmlformats.org/drawingml/2006/main"/>
        </p:blipFill>
        <p:spPr>
          <a:xfrm xmlns:a="http://schemas.openxmlformats.org/drawingml/2006/main">
            <a:off x="939400" y="1962150"/>
            <a:ext cx="1874050" cy="418147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122a16a57d4c15"/>
          <a:stretch xmlns:a="http://schemas.openxmlformats.org/drawingml/2006/main"/>
        </p:blipFill>
        <p:spPr>
          <a:xfrm xmlns:a="http://schemas.openxmlformats.org/drawingml/2006/main">
            <a:off x="3692125" y="1962150"/>
            <a:ext cx="1874050" cy="4181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20DD59-24A9-4C62-A8B3-E6CF920A2DE4}"/>
              </a:ext>
            </a:extLst>
          </p:cNvPr>
          <p:cNvSpPr>
            <a:spLocks xmlns:a="http://schemas.openxmlformats.org/drawingml/2006/main" noGrp="1"/>
          </p:cNvSpPr>
          <p:nvPr/>
        </p:nvSpPr>
        <p:spPr>
          <a:xfrm xmlns:a="http://schemas.openxmlformats.org/drawingml/2006/main">
            <a:off x="6743700" y="2324100"/>
            <a:ext cx="4524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Local geography</a:t>
            </a:r>
          </a:p>
        </p:txBody>
      </p:sp>
      <p:sp>
        <p:nvSpPr>
          <p:cNvPr id="7" name="">
            <a:extLst xmlns:a="http://schemas.openxmlformats.org/drawingml/2006/main">
              <a:ext uri="{FF2B5EF4-FFF2-40B4-BE49-F238E27FC236}">
                <a16:creationId xmlns:a16="http://schemas.microsoft.com/office/drawing/2014/main" id="{90D775E2-C1DF-4DFC-87BD-5D73E2DD6047}"/>
              </a:ext>
            </a:extLst>
          </p:cNvPr>
          <p:cNvSpPr>
            <a:spLocks xmlns:a="http://schemas.openxmlformats.org/drawingml/2006/main" noGrp="1"/>
          </p:cNvSpPr>
          <p:nvPr/>
        </p:nvSpPr>
        <p:spPr>
          <a:xfrm xmlns:a="http://schemas.openxmlformats.org/drawingml/2006/main">
            <a:off x="6743700" y="2790825"/>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Reviewed extract and checksum verification support offline rendering.</a:t>
            </a:r>
          </a:p>
        </p:txBody>
      </p:sp>
      <p:sp>
        <p:nvSpPr>
          <p:cNvPr id="8" name="">
            <a:extLst xmlns:a="http://schemas.openxmlformats.org/drawingml/2006/main">
              <a:ext uri="{FF2B5EF4-FFF2-40B4-BE49-F238E27FC236}">
                <a16:creationId xmlns:a16="http://schemas.microsoft.com/office/drawing/2014/main" id="{73267681-99BE-4920-BF1D-62D0E2B0F6CF}"/>
              </a:ext>
            </a:extLst>
          </p:cNvPr>
          <p:cNvSpPr>
            <a:spLocks xmlns:a="http://schemas.openxmlformats.org/drawingml/2006/main" noGrp="1"/>
          </p:cNvSpPr>
          <p:nvPr/>
        </p:nvSpPr>
        <p:spPr>
          <a:xfrm xmlns:a="http://schemas.openxmlformats.org/drawingml/2006/main">
            <a:off x="6743700" y="4067175"/>
            <a:ext cx="4524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Separate sources</a:t>
            </a:r>
          </a:p>
        </p:txBody>
      </p:sp>
      <p:sp>
        <p:nvSpPr>
          <p:cNvPr id="9" name="">
            <a:extLst xmlns:a="http://schemas.openxmlformats.org/drawingml/2006/main">
              <a:ext uri="{FF2B5EF4-FFF2-40B4-BE49-F238E27FC236}">
                <a16:creationId xmlns:a16="http://schemas.microsoft.com/office/drawing/2014/main" id="{B24228E2-2959-4865-B661-3907D97FEE92}"/>
              </a:ext>
            </a:extLst>
          </p:cNvPr>
          <p:cNvSpPr>
            <a:spLocks xmlns:a="http://schemas.openxmlformats.org/drawingml/2006/main" noGrp="1"/>
          </p:cNvSpPr>
          <p:nvPr/>
        </p:nvSpPr>
        <p:spPr>
          <a:xfrm xmlns:a="http://schemas.openxmlformats.org/drawingml/2006/main">
            <a:off x="6743700" y="4533900"/>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OSM attribution identifies the basemap. The mission overlay remains simulated.</a:t>
            </a:r>
          </a:p>
        </p:txBody>
      </p:sp>
      <p:sp>
        <p:nvSpPr>
          <p:cNvPr id="10" name="">
            <a:extLst xmlns:a="http://schemas.openxmlformats.org/drawingml/2006/main">
              <a:ext uri="{FF2B5EF4-FFF2-40B4-BE49-F238E27FC236}">
                <a16:creationId xmlns:a16="http://schemas.microsoft.com/office/drawing/2014/main" id="{C7521DC0-9C46-43F8-BE92-1B21EA2C4EB5}"/>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OpenStreetMap contributors. Full source captures. Deployment requires maintained maps and closure procedures.</a:t>
            </a:r>
          </a:p>
        </p:txBody>
      </p:sp>
    </p:spTree>
    <p:extLst>
      <p:ext uri="{BB962C8B-B14F-4D97-AF65-F5344CB8AC3E}">
        <p14:creationId xmlns:p14="http://schemas.microsoft.com/office/powerpoint/2010/main" val="405240042"/>
      </p:ext>
    </p:extLst>
  </p:cSld>
</p:sld>
</file>

<file path=ppt/slides/slide2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82C74F-68AF-4C3C-B60F-D0A3CF0EB71C}"/>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A simulated delay moves the rendezvous</a:t>
            </a:r>
          </a:p>
        </p:txBody>
      </p:sp>
      <p:sp>
        <p:nvSpPr>
          <p:cNvPr id="2" name="">
            <a:extLst xmlns:a="http://schemas.openxmlformats.org/drawingml/2006/main">
              <a:ext uri="{FF2B5EF4-FFF2-40B4-BE49-F238E27FC236}">
                <a16:creationId xmlns:a16="http://schemas.microsoft.com/office/drawing/2014/main" id="{66CB17DC-E858-40F3-924A-BB2E6694F595}"/>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the hybrid fleet calculation.</a:t>
            </a:r>
          </a:p>
        </p:txBody>
      </p:sp>
      <p:sp>
        <p:nvSpPr>
          <p:cNvPr id="3" name="">
            <a:extLst xmlns:a="http://schemas.openxmlformats.org/drawingml/2006/main">
              <a:ext uri="{FF2B5EF4-FFF2-40B4-BE49-F238E27FC236}">
                <a16:creationId xmlns:a16="http://schemas.microsoft.com/office/drawing/2014/main" id="{9EBCC339-E5B5-4CC3-AC14-DAF5BD96D88F}"/>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148daa443dd417a"/>
          <a:stretch xmlns:a="http://schemas.openxmlformats.org/drawingml/2006/main"/>
        </p:blipFill>
        <p:spPr>
          <a:xfrm xmlns:a="http://schemas.openxmlformats.org/drawingml/2006/main">
            <a:off x="1286709" y="2009775"/>
            <a:ext cx="3236832" cy="3952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8F282E-97EC-4B05-A027-4ABD9D2A667A}"/>
              </a:ext>
            </a:extLst>
          </p:cNvPr>
          <p:cNvSpPr>
            <a:spLocks xmlns:a="http://schemas.openxmlformats.org/drawingml/2006/main" noGrp="1"/>
          </p:cNvSpPr>
          <p:nvPr/>
        </p:nvSpPr>
        <p:spPr>
          <a:xfrm xmlns:a="http://schemas.openxmlformats.org/drawingml/2006/main">
            <a:off x="6267450" y="2200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18-minute delay</a:t>
            </a:r>
          </a:p>
        </p:txBody>
      </p:sp>
      <p:sp>
        <p:nvSpPr>
          <p:cNvPr id="6" name="">
            <a:extLst xmlns:a="http://schemas.openxmlformats.org/drawingml/2006/main">
              <a:ext uri="{FF2B5EF4-FFF2-40B4-BE49-F238E27FC236}">
                <a16:creationId xmlns:a16="http://schemas.microsoft.com/office/drawing/2014/main" id="{485EAEB7-52A6-4E87-AA1C-10362FEF04A9}"/>
              </a:ext>
            </a:extLst>
          </p:cNvPr>
          <p:cNvSpPr>
            <a:spLocks xmlns:a="http://schemas.openxmlformats.org/drawingml/2006/main" noGrp="1"/>
          </p:cNvSpPr>
          <p:nvPr/>
        </p:nvSpPr>
        <p:spPr>
          <a:xfrm xmlns:a="http://schemas.openxmlformats.org/drawingml/2006/main">
            <a:off x="6267450" y="266700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The seeded calculation moves the meeting point from R3 to R2.</a:t>
            </a:r>
          </a:p>
        </p:txBody>
      </p:sp>
      <p:sp>
        <p:nvSpPr>
          <p:cNvPr id="7" name="">
            <a:extLst xmlns:a="http://schemas.openxmlformats.org/drawingml/2006/main">
              <a:ext uri="{FF2B5EF4-FFF2-40B4-BE49-F238E27FC236}">
                <a16:creationId xmlns:a16="http://schemas.microsoft.com/office/drawing/2014/main" id="{DF101CA4-6D98-4645-A48A-98D02EA08101}"/>
              </a:ext>
            </a:extLst>
          </p:cNvPr>
          <p:cNvSpPr>
            <a:spLocks xmlns:a="http://schemas.openxmlformats.org/drawingml/2006/main" noGrp="1"/>
          </p:cNvSpPr>
          <p:nvPr/>
        </p:nvSpPr>
        <p:spPr>
          <a:xfrm xmlns:a="http://schemas.openxmlformats.org/drawingml/2006/main">
            <a:off x="6267450" y="408622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20% battery reserve</a:t>
            </a:r>
          </a:p>
        </p:txBody>
      </p:sp>
      <p:sp>
        <p:nvSpPr>
          <p:cNvPr id="8" name="">
            <a:extLst xmlns:a="http://schemas.openxmlformats.org/drawingml/2006/main">
              <a:ext uri="{FF2B5EF4-FFF2-40B4-BE49-F238E27FC236}">
                <a16:creationId xmlns:a16="http://schemas.microsoft.com/office/drawing/2014/main" id="{63B05AE4-10F6-435F-B672-B2F64E371511}"/>
              </a:ext>
            </a:extLst>
          </p:cNvPr>
          <p:cNvSpPr>
            <a:spLocks xmlns:a="http://schemas.openxmlformats.org/drawingml/2006/main" noGrp="1"/>
          </p:cNvSpPr>
          <p:nvPr/>
        </p:nvSpPr>
        <p:spPr>
          <a:xfrm xmlns:a="http://schemas.openxmlformats.org/drawingml/2006/main">
            <a:off x="6267450" y="455295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Candidate selection retains the configured reserve before handoff.</a:t>
            </a:r>
          </a:p>
        </p:txBody>
      </p:sp>
      <p:sp>
        <p:nvSpPr>
          <p:cNvPr id="9" name="">
            <a:extLst xmlns:a="http://schemas.openxmlformats.org/drawingml/2006/main">
              <a:ext uri="{FF2B5EF4-FFF2-40B4-BE49-F238E27FC236}">
                <a16:creationId xmlns:a16="http://schemas.microsoft.com/office/drawing/2014/main" id="{FA09750C-0C21-497C-B6B9-FCE75EFD4101}"/>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Enlarged source crop. All vehicles and telemetry are simulated. No drone hardware or control is included.</a:t>
            </a:r>
          </a:p>
        </p:txBody>
      </p:sp>
    </p:spTree>
    <p:extLst>
      <p:ext uri="{BB962C8B-B14F-4D97-AF65-F5344CB8AC3E}">
        <p14:creationId xmlns:p14="http://schemas.microsoft.com/office/powerpoint/2010/main" val="1322667893"/>
      </p:ext>
    </p:extLst>
  </p:cSld>
</p:sld>
</file>

<file path=ppt/slides/slide2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4545E0-4E3C-4831-9D90-A371F61C0D90}"/>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observer makes the mission readable</a:t>
            </a:r>
          </a:p>
        </p:txBody>
      </p:sp>
      <p:sp>
        <p:nvSpPr>
          <p:cNvPr id="2" name="">
            <a:extLst xmlns:a="http://schemas.openxmlformats.org/drawingml/2006/main">
              <a:ext uri="{FF2B5EF4-FFF2-40B4-BE49-F238E27FC236}">
                <a16:creationId xmlns:a16="http://schemas.microsoft.com/office/drawing/2014/main" id="{8AAAA620-451A-4F13-AF19-0A22E41D9AE0}"/>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overview and enlarged decision detail.</a:t>
            </a:r>
          </a:p>
        </p:txBody>
      </p:sp>
      <p:sp>
        <p:nvSpPr>
          <p:cNvPr id="3" name="">
            <a:extLst xmlns:a="http://schemas.openxmlformats.org/drawingml/2006/main">
              <a:ext uri="{FF2B5EF4-FFF2-40B4-BE49-F238E27FC236}">
                <a16:creationId xmlns:a16="http://schemas.microsoft.com/office/drawing/2014/main" id="{9FC0BB2C-B984-4938-A716-7D9A59586CF5}"/>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7c0f50391864a3b"/>
          <a:stretch xmlns:a="http://schemas.openxmlformats.org/drawingml/2006/main"/>
        </p:blipFill>
        <p:spPr>
          <a:xfrm xmlns:a="http://schemas.openxmlformats.org/drawingml/2006/main">
            <a:off x="836083" y="2209800"/>
            <a:ext cx="6976533" cy="39243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ddc2fef19a64e72"/>
          <a:stretch xmlns:a="http://schemas.openxmlformats.org/drawingml/2006/main"/>
        </p:blipFill>
        <p:spPr>
          <a:xfrm xmlns:a="http://schemas.openxmlformats.org/drawingml/2006/main">
            <a:off x="8896350" y="2405873"/>
            <a:ext cx="2381250" cy="32273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B2FEE7-D45F-4D2C-9A64-8E6477541BC3}"/>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Full capture plus enlarged detail. OpenStreetMap contributors. Field actions do not depend on this screen.</a:t>
            </a:r>
          </a:p>
        </p:txBody>
      </p:sp>
    </p:spTree>
    <p:extLst>
      <p:ext uri="{BB962C8B-B14F-4D97-AF65-F5344CB8AC3E}">
        <p14:creationId xmlns:p14="http://schemas.microsoft.com/office/powerpoint/2010/main" val="1159930919"/>
      </p:ext>
    </p:extLst>
  </p:cSld>
</p:sld>
</file>

<file path=ppt/slides/slide2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2F6237-B935-4680-BC29-6C58FE7DE498}"/>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The observer can replay a missed interval</a:t>
            </a:r>
          </a:p>
        </p:txBody>
      </p:sp>
      <p:sp>
        <p:nvSpPr>
          <p:cNvPr id="2" name="">
            <a:extLst xmlns:a="http://schemas.openxmlformats.org/drawingml/2006/main">
              <a:ext uri="{FF2B5EF4-FFF2-40B4-BE49-F238E27FC236}">
                <a16:creationId xmlns:a16="http://schemas.microsoft.com/office/drawing/2014/main" id="{EDB1E593-D786-4BBB-B4BB-0B13BBBFFC0A}"/>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disconnect at sequence 7, then recover events 8–14.</a:t>
            </a:r>
          </a:p>
        </p:txBody>
      </p:sp>
      <p:sp>
        <p:nvSpPr>
          <p:cNvPr id="3" name="">
            <a:extLst xmlns:a="http://schemas.openxmlformats.org/drawingml/2006/main">
              <a:ext uri="{FF2B5EF4-FFF2-40B4-BE49-F238E27FC236}">
                <a16:creationId xmlns:a16="http://schemas.microsoft.com/office/drawing/2014/main" id="{001B99D1-029F-4CB8-991B-CE11A723D8A7}"/>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b5fc2a50fa743aa"/>
          <a:stretch xmlns:a="http://schemas.openxmlformats.org/drawingml/2006/main"/>
        </p:blipFill>
        <p:spPr>
          <a:xfrm xmlns:a="http://schemas.openxmlformats.org/drawingml/2006/main">
            <a:off x="786755" y="2190750"/>
            <a:ext cx="6979940" cy="3924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AE47B4-1981-401B-9F28-C16919233D12}"/>
              </a:ext>
            </a:extLst>
          </p:cNvPr>
          <p:cNvSpPr>
            <a:spLocks xmlns:a="http://schemas.openxmlformats.org/drawingml/2006/main" noGrp="1"/>
          </p:cNvSpPr>
          <p:nvPr/>
        </p:nvSpPr>
        <p:spPr>
          <a:xfrm xmlns:a="http://schemas.openxmlformats.org/drawingml/2006/main">
            <a:off x="8705850" y="23431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123D38"/>
                </a:solidFill>
                <a:latin typeface="Georgia"/>
                <a:ea typeface="Georgia"/>
                <a:cs typeface="Georgia"/>
              </a:defRPr>
            </a:pPr>
            <a:r>
              <a:rPr sz="2625" b="0">
                <a:solidFill>
                  <a:srgbClr val="123D38"/>
                </a:solidFill>
                <a:latin typeface="Georgia"/>
                <a:ea typeface="Georgia"/>
                <a:cs typeface="Georgia"/>
              </a:rPr>
              <a:t>Sequence 7</a:t>
            </a:r>
          </a:p>
        </p:txBody>
      </p:sp>
      <p:sp>
        <p:nvSpPr>
          <p:cNvPr id="6" name="">
            <a:extLst xmlns:a="http://schemas.openxmlformats.org/drawingml/2006/main">
              <a:ext uri="{FF2B5EF4-FFF2-40B4-BE49-F238E27FC236}">
                <a16:creationId xmlns:a16="http://schemas.microsoft.com/office/drawing/2014/main" id="{73542FBB-B573-4938-905F-59C372DFA96C}"/>
              </a:ext>
            </a:extLst>
          </p:cNvPr>
          <p:cNvSpPr>
            <a:spLocks xmlns:a="http://schemas.openxmlformats.org/drawingml/2006/main" noGrp="1"/>
          </p:cNvSpPr>
          <p:nvPr/>
        </p:nvSpPr>
        <p:spPr>
          <a:xfrm xmlns:a="http://schemas.openxmlformats.org/drawingml/2006/main">
            <a:off x="8705850" y="29527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Observer disconnects</a:t>
            </a:r>
          </a:p>
        </p:txBody>
      </p:sp>
      <p:sp>
        <p:nvSpPr>
          <p:cNvPr id="7" name="">
            <a:extLst xmlns:a="http://schemas.openxmlformats.org/drawingml/2006/main">
              <a:ext uri="{FF2B5EF4-FFF2-40B4-BE49-F238E27FC236}">
                <a16:creationId xmlns:a16="http://schemas.microsoft.com/office/drawing/2014/main" id="{4D3895AF-FC69-4960-97AD-DF9BE15BA6A7}"/>
              </a:ext>
            </a:extLst>
          </p:cNvPr>
          <p:cNvSpPr>
            <a:spLocks xmlns:a="http://schemas.openxmlformats.org/drawingml/2006/main" noGrp="1"/>
          </p:cNvSpPr>
          <p:nvPr/>
        </p:nvSpPr>
        <p:spPr>
          <a:xfrm xmlns:a="http://schemas.openxmlformats.org/drawingml/2006/main">
            <a:off x="8705850" y="4095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216E75"/>
                </a:solidFill>
                <a:latin typeface="Georgia"/>
                <a:ea typeface="Georgia"/>
                <a:cs typeface="Georgia"/>
              </a:defRPr>
            </a:pPr>
            <a:r>
              <a:rPr sz="2625" b="0">
                <a:solidFill>
                  <a:srgbClr val="216E75"/>
                </a:solidFill>
                <a:latin typeface="Georgia"/>
                <a:ea typeface="Georgia"/>
                <a:cs typeface="Georgia"/>
              </a:rPr>
              <a:t>Events 8–14</a:t>
            </a:r>
          </a:p>
        </p:txBody>
      </p:sp>
      <p:sp>
        <p:nvSpPr>
          <p:cNvPr id="8" name="">
            <a:extLst xmlns:a="http://schemas.openxmlformats.org/drawingml/2006/main">
              <a:ext uri="{FF2B5EF4-FFF2-40B4-BE49-F238E27FC236}">
                <a16:creationId xmlns:a16="http://schemas.microsoft.com/office/drawing/2014/main" id="{E2498987-7147-46D2-8012-9ACA65C38559}"/>
              </a:ext>
            </a:extLst>
          </p:cNvPr>
          <p:cNvSpPr>
            <a:spLocks xmlns:a="http://schemas.openxmlformats.org/drawingml/2006/main" noGrp="1"/>
          </p:cNvSpPr>
          <p:nvPr/>
        </p:nvSpPr>
        <p:spPr>
          <a:xfrm xmlns:a="http://schemas.openxmlformats.org/drawingml/2006/main">
            <a:off x="8705850" y="470535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Replay after reconnect</a:t>
            </a:r>
          </a:p>
        </p:txBody>
      </p:sp>
      <p:sp>
        <p:nvSpPr>
          <p:cNvPr id="9" name="">
            <a:extLst xmlns:a="http://schemas.openxmlformats.org/drawingml/2006/main">
              <a:ext uri="{FF2B5EF4-FFF2-40B4-BE49-F238E27FC236}">
                <a16:creationId xmlns:a16="http://schemas.microsoft.com/office/drawing/2014/main" id="{E2530410-5824-4E65-812A-AB87B6201325}"/>
              </a:ext>
            </a:extLst>
          </p:cNvPr>
          <p:cNvSpPr>
            <a:spLocks xmlns:a="http://schemas.openxmlformats.org/drawingml/2006/main" noGrp="1"/>
          </p:cNvSpPr>
          <p:nvPr/>
        </p:nvSpPr>
        <p:spPr>
          <a:xfrm xmlns:a="http://schemas.openxmlformats.org/drawingml/2006/main">
            <a:off x="609600" y="6229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local observer evidence. This does not establish the physical laptop-off phone journey.</a:t>
            </a:r>
          </a:p>
        </p:txBody>
      </p:sp>
    </p:spTree>
    <p:extLst>
      <p:ext uri="{BB962C8B-B14F-4D97-AF65-F5344CB8AC3E}">
        <p14:creationId xmlns:p14="http://schemas.microsoft.com/office/powerpoint/2010/main" val="591935057"/>
      </p:ext>
    </p:extLst>
  </p:cSld>
</p:sld>
</file>

<file path=ppt/slides/slide3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8F3460-37D2-45AC-8CFE-2111C17F6C8B}"/>
              </a:ext>
            </a:extLst>
          </p:cNvPr>
          <p:cNvSpPr>
            <a:spLocks xmlns:a="http://schemas.openxmlformats.org/drawingml/2006/main" noGrp="1"/>
          </p:cNvSpPr>
          <p:nvPr/>
        </p:nvSpPr>
        <p:spPr>
          <a:xfrm xmlns:a="http://schemas.openxmlformats.org/drawingml/2006/main">
            <a:off x="609600" y="4000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0">
                <a:solidFill>
                  <a:srgbClr val="172E2B"/>
                </a:solidFill>
                <a:latin typeface="Georgia"/>
                <a:ea typeface="Georgia"/>
                <a:cs typeface="Georgia"/>
              </a:defRPr>
            </a:pPr>
            <a:r>
              <a:rPr sz="3375" b="0">
                <a:solidFill>
                  <a:srgbClr val="172E2B"/>
                </a:solidFill>
                <a:latin typeface="Georgia"/>
                <a:ea typeface="Georgia"/>
                <a:cs typeface="Georgia"/>
              </a:rPr>
              <a:t>Sources and evidence</a:t>
            </a:r>
          </a:p>
        </p:txBody>
      </p:sp>
      <p:sp>
        <p:nvSpPr>
          <p:cNvPr id="2" name="">
            <a:extLst xmlns:a="http://schemas.openxmlformats.org/drawingml/2006/main">
              <a:ext uri="{FF2B5EF4-FFF2-40B4-BE49-F238E27FC236}">
                <a16:creationId xmlns:a16="http://schemas.microsoft.com/office/drawing/2014/main" id="{15F60114-B0FC-451F-8C57-A55FFCC69B4B}"/>
              </a:ext>
            </a:extLst>
          </p:cNvPr>
          <p:cNvSpPr>
            <a:spLocks xmlns:a="http://schemas.openxmlformats.org/drawingml/2006/main" noGrp="1"/>
          </p:cNvSpPr>
          <p:nvPr/>
        </p:nvSpPr>
        <p:spPr>
          <a:xfrm xmlns:a="http://schemas.openxmlformats.org/drawingml/2006/main">
            <a:off x="628650" y="127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report contains the complete register and implementation boundaries.</a:t>
            </a:r>
          </a:p>
        </p:txBody>
      </p:sp>
      <p:sp>
        <p:nvSpPr>
          <p:cNvPr id="3" name="">
            <a:extLst xmlns:a="http://schemas.openxmlformats.org/drawingml/2006/main">
              <a:ext uri="{FF2B5EF4-FFF2-40B4-BE49-F238E27FC236}">
                <a16:creationId xmlns:a16="http://schemas.microsoft.com/office/drawing/2014/main" id="{D74CF36C-9343-48C9-BE33-9C1E23A456F7}"/>
              </a:ext>
            </a:extLst>
          </p:cNvPr>
          <p:cNvSpPr>
            <a:spLocks xmlns:a="http://schemas.openxmlformats.org/drawingml/2006/main" noGrp="1"/>
          </p:cNvSpPr>
          <p:nvPr/>
        </p:nvSpPr>
        <p:spPr>
          <a:xfrm xmlns:a="http://schemas.openxmlformats.org/drawingml/2006/main">
            <a:off x="11277600" y="64484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BB10E9B1-BE12-495F-97DC-A26907FC5136}"/>
              </a:ext>
            </a:extLst>
          </p:cNvPr>
          <p:cNvSpPr>
            <a:spLocks xmlns:a="http://schemas.openxmlformats.org/drawingml/2006/main" noGrp="1"/>
          </p:cNvSpPr>
          <p:nvPr/>
        </p:nvSpPr>
        <p:spPr>
          <a:xfrm xmlns:a="http://schemas.openxmlformats.org/drawingml/2006/main">
            <a:off x="628650" y="233362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Problem and market</a:t>
            </a:r>
          </a:p>
        </p:txBody>
      </p:sp>
      <p:sp>
        <p:nvSpPr>
          <p:cNvPr id="5" name="">
            <a:extLst xmlns:a="http://schemas.openxmlformats.org/drawingml/2006/main">
              <a:ext uri="{FF2B5EF4-FFF2-40B4-BE49-F238E27FC236}">
                <a16:creationId xmlns:a16="http://schemas.microsoft.com/office/drawing/2014/main" id="{E2E4BDFE-9107-4E62-9A31-CAC33B1DEB89}"/>
              </a:ext>
            </a:extLst>
          </p:cNvPr>
          <p:cNvSpPr>
            <a:spLocks xmlns:a="http://schemas.openxmlformats.org/drawingml/2006/main" noGrp="1"/>
          </p:cNvSpPr>
          <p:nvPr/>
        </p:nvSpPr>
        <p:spPr>
          <a:xfrm xmlns:a="http://schemas.openxmlformats.org/drawingml/2006/main">
            <a:off x="628650" y="28003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UN Bangladesh 2022 response plan</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NAWG June 2024 assessment</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World Bank May 2025 financing</a:t>
            </a:r>
          </a:p>
        </p:txBody>
      </p:sp>
      <p:sp>
        <p:nvSpPr>
          <p:cNvPr id="6" name="">
            <a:extLst xmlns:a="http://schemas.openxmlformats.org/drawingml/2006/main">
              <a:ext uri="{FF2B5EF4-FFF2-40B4-BE49-F238E27FC236}">
                <a16:creationId xmlns:a16="http://schemas.microsoft.com/office/drawing/2014/main" id="{DBAF52CD-BF90-41FD-A833-8ADEEC1606DD}"/>
              </a:ext>
            </a:extLst>
          </p:cNvPr>
          <p:cNvSpPr>
            <a:spLocks xmlns:a="http://schemas.openxmlformats.org/drawingml/2006/main" noGrp="1"/>
          </p:cNvSpPr>
          <p:nvPr/>
        </p:nvSpPr>
        <p:spPr>
          <a:xfrm xmlns:a="http://schemas.openxmlformats.org/drawingml/2006/main">
            <a:off x="6572250" y="233362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Comparison</a:t>
            </a:r>
          </a:p>
        </p:txBody>
      </p:sp>
      <p:sp>
        <p:nvSpPr>
          <p:cNvPr id="7" name="">
            <a:extLst xmlns:a="http://schemas.openxmlformats.org/drawingml/2006/main">
              <a:ext uri="{FF2B5EF4-FFF2-40B4-BE49-F238E27FC236}">
                <a16:creationId xmlns:a16="http://schemas.microsoft.com/office/drawing/2014/main" id="{69124C47-CE8D-4CCE-B2B9-F41E45251C79}"/>
              </a:ext>
            </a:extLst>
          </p:cNvPr>
          <p:cNvSpPr>
            <a:spLocks xmlns:a="http://schemas.openxmlformats.org/drawingml/2006/main" noGrp="1"/>
          </p:cNvSpPr>
          <p:nvPr/>
        </p:nvSpPr>
        <p:spPr>
          <a:xfrm xmlns:a="http://schemas.openxmlformats.org/drawingml/2006/main">
            <a:off x="6572250" y="280035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Sahana, KoboToolbox, Ushahidi,</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Briar and Meshtastic official sources</a:t>
            </a:r>
          </a:p>
        </p:txBody>
      </p:sp>
      <p:sp>
        <p:nvSpPr>
          <p:cNvPr id="8" name="">
            <a:extLst xmlns:a="http://schemas.openxmlformats.org/drawingml/2006/main">
              <a:ext uri="{FF2B5EF4-FFF2-40B4-BE49-F238E27FC236}">
                <a16:creationId xmlns:a16="http://schemas.microsoft.com/office/drawing/2014/main" id="{AFA37CB3-2E14-4697-A422-7EDC2A783E52}"/>
              </a:ext>
            </a:extLst>
          </p:cNvPr>
          <p:cNvSpPr>
            <a:spLocks xmlns:a="http://schemas.openxmlformats.org/drawingml/2006/main" noGrp="1"/>
          </p:cNvSpPr>
          <p:nvPr/>
        </p:nvSpPr>
        <p:spPr>
          <a:xfrm xmlns:a="http://schemas.openxmlformats.org/drawingml/2006/main">
            <a:off x="628650" y="4524375"/>
            <a:ext cx="5143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Implementation</a:t>
            </a:r>
          </a:p>
        </p:txBody>
      </p:sp>
      <p:sp>
        <p:nvSpPr>
          <p:cNvPr id="9" name="">
            <a:extLst xmlns:a="http://schemas.openxmlformats.org/drawingml/2006/main">
              <a:ext uri="{FF2B5EF4-FFF2-40B4-BE49-F238E27FC236}">
                <a16:creationId xmlns:a16="http://schemas.microsoft.com/office/drawing/2014/main" id="{807A1AFD-21C2-4741-B4CC-2A53675A771F}"/>
              </a:ext>
            </a:extLst>
          </p:cNvPr>
          <p:cNvSpPr>
            <a:spLocks xmlns:a="http://schemas.openxmlformats.org/drawingml/2006/main" noGrp="1"/>
          </p:cNvSpPr>
          <p:nvPr/>
        </p:nvSpPr>
        <p:spPr>
          <a:xfrm xmlns:a="http://schemas.openxmlformats.org/drawingml/2006/main">
            <a:off x="628650" y="499110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Architecture and testing documents</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Dated local gate and model card</a:t>
            </a:r>
          </a:p>
        </p:txBody>
      </p:sp>
      <p:sp>
        <p:nvSpPr>
          <p:cNvPr id="10" name="">
            <a:extLst xmlns:a="http://schemas.openxmlformats.org/drawingml/2006/main">
              <a:ext uri="{FF2B5EF4-FFF2-40B4-BE49-F238E27FC236}">
                <a16:creationId xmlns:a16="http://schemas.microsoft.com/office/drawing/2014/main" id="{6BFE1ADD-16C6-4E7D-895A-3D68F4F7D062}"/>
              </a:ext>
            </a:extLst>
          </p:cNvPr>
          <p:cNvSpPr>
            <a:spLocks xmlns:a="http://schemas.openxmlformats.org/drawingml/2006/main" noGrp="1"/>
          </p:cNvSpPr>
          <p:nvPr/>
        </p:nvSpPr>
        <p:spPr>
          <a:xfrm xmlns:a="http://schemas.openxmlformats.org/drawingml/2006/main">
            <a:off x="6572250" y="45243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3D38"/>
                </a:solidFill>
                <a:latin typeface="Arial"/>
                <a:ea typeface="Arial"/>
                <a:cs typeface="Arial"/>
              </a:defRPr>
            </a:pPr>
            <a:r>
              <a:rPr sz="2025" b="1">
                <a:solidFill>
                  <a:srgbClr val="123D38"/>
                </a:solidFill>
                <a:latin typeface="Arial"/>
                <a:ea typeface="Arial"/>
                <a:cs typeface="Arial"/>
              </a:rPr>
              <a:t>Traceability</a:t>
            </a:r>
          </a:p>
        </p:txBody>
      </p:sp>
      <p:sp>
        <p:nvSpPr>
          <p:cNvPr id="11" name="">
            <a:extLst xmlns:a="http://schemas.openxmlformats.org/drawingml/2006/main">
              <a:ext uri="{FF2B5EF4-FFF2-40B4-BE49-F238E27FC236}">
                <a16:creationId xmlns:a16="http://schemas.microsoft.com/office/drawing/2014/main" id="{409509ED-4488-4E3A-A6F3-260C78973A52}"/>
              </a:ext>
            </a:extLst>
          </p:cNvPr>
          <p:cNvSpPr>
            <a:spLocks xmlns:a="http://schemas.openxmlformats.org/drawingml/2006/main" noGrp="1"/>
          </p:cNvSpPr>
          <p:nvPr/>
        </p:nvSpPr>
        <p:spPr>
          <a:xfrm xmlns:a="http://schemas.openxmlformats.org/drawingml/2006/main">
            <a:off x="6572250" y="499110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Slide notes include sources.</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Report pages 39–40 contain the register.</a:t>
            </a:r>
          </a:p>
        </p:txBody>
      </p:sp>
    </p:spTree>
    <p:extLst>
      <p:ext uri="{BB962C8B-B14F-4D97-AF65-F5344CB8AC3E}">
        <p14:creationId xmlns:p14="http://schemas.microsoft.com/office/powerpoint/2010/main" val="1224389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2026-09-04T15:57:41.3800000Z</dcterms:created>
  <dcterms:modified xsi:type="dcterms:W3CDTF">2026-09-04T15:57:41.3800000Z</dcterms:modified>
</coreProperties>
</file>