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305e82c2d34065" /><Relationship Type="http://schemas.openxmlformats.org/officeDocument/2006/relationships/extended-properties" Target="/docProps/app.xml" Id="R700687ee69fa4a02" /><Relationship Type="http://schemas.openxmlformats.org/officeDocument/2006/relationships/officeDocument" Target="/ppt/presentation.xml" Id="R48e6bdf024dd43d5" /></Relationships>
</file>

<file path=ppt/presentation.xml><?xml version="1.0" encoding="utf-8"?>
<p:presentation xmlns:p="http://schemas.openxmlformats.org/presentationml/2006/main">
  <p:sldMasterIdLst>
    <p:sldMasterId xmlns:r="http://schemas.openxmlformats.org/officeDocument/2006/relationships" id="2147483648" r:id="R9168a43db00546cc"/>
  </p:sldMasterIdLst>
  <p:notesMasterIdLst>
    <p:notesMasterId xmlns:r="http://schemas.openxmlformats.org/officeDocument/2006/relationships" r:id="R8618fd496f254347"/>
  </p:notesMasterIdLst>
  <p:sldIdLst>
    <p:sldId xmlns:r="http://schemas.openxmlformats.org/officeDocument/2006/relationships" id="256" r:id="R1bd2355614c44617"/>
    <p:sldId xmlns:r="http://schemas.openxmlformats.org/officeDocument/2006/relationships" id="257" r:id="Re628f8bc0e9a4a26"/>
    <p:sldId xmlns:r="http://schemas.openxmlformats.org/officeDocument/2006/relationships" id="258" r:id="R8e811d0ecbb848be"/>
    <p:sldId xmlns:r="http://schemas.openxmlformats.org/officeDocument/2006/relationships" id="259" r:id="R19a0059e08674012"/>
    <p:sldId xmlns:r="http://schemas.openxmlformats.org/officeDocument/2006/relationships" id="260" r:id="Rb7c94f1918e24faf"/>
    <p:sldId xmlns:r="http://schemas.openxmlformats.org/officeDocument/2006/relationships" id="261" r:id="Re319556790ab4687"/>
    <p:sldId xmlns:r="http://schemas.openxmlformats.org/officeDocument/2006/relationships" id="262" r:id="R39200aa054584563"/>
    <p:sldId xmlns:r="http://schemas.openxmlformats.org/officeDocument/2006/relationships" id="263" r:id="R44cc6c4a00c3424c"/>
    <p:sldId xmlns:r="http://schemas.openxmlformats.org/officeDocument/2006/relationships" id="264" r:id="R9e4da2053fb345de"/>
    <p:sldId xmlns:r="http://schemas.openxmlformats.org/officeDocument/2006/relationships" id="265" r:id="R99ac99d19e7d4012"/>
    <p:sldId xmlns:r="http://schemas.openxmlformats.org/officeDocument/2006/relationships" id="266" r:id="Rfffa0d2114d74bae"/>
    <p:sldId xmlns:r="http://schemas.openxmlformats.org/officeDocument/2006/relationships" id="267" r:id="Rddcba45fb19a4631"/>
    <p:sldId xmlns:r="http://schemas.openxmlformats.org/officeDocument/2006/relationships" id="268" r:id="R37c263602915497d"/>
    <p:sldId xmlns:r="http://schemas.openxmlformats.org/officeDocument/2006/relationships" id="269" r:id="R123ab61ed15e42e5"/>
    <p:sldId xmlns:r="http://schemas.openxmlformats.org/officeDocument/2006/relationships" id="270" r:id="R0a3429dc00804e48"/>
    <p:sldId xmlns:r="http://schemas.openxmlformats.org/officeDocument/2006/relationships" id="271" r:id="R39a2ed1b3b904e0c"/>
    <p:sldId xmlns:r="http://schemas.openxmlformats.org/officeDocument/2006/relationships" id="272" r:id="R9d890bbcb7b84ab2"/>
    <p:sldId xmlns:r="http://schemas.openxmlformats.org/officeDocument/2006/relationships" id="273" r:id="Rcdff786a0fb04dc7"/>
    <p:sldId xmlns:r="http://schemas.openxmlformats.org/officeDocument/2006/relationships" id="274" r:id="R4de602ef3cf549c9"/>
    <p:sldId xmlns:r="http://schemas.openxmlformats.org/officeDocument/2006/relationships" id="275" r:id="R8fb6e6f5fad546e4"/>
    <p:sldId xmlns:r="http://schemas.openxmlformats.org/officeDocument/2006/relationships" id="276" r:id="R66b1c5d01bab491e"/>
    <p:sldId xmlns:r="http://schemas.openxmlformats.org/officeDocument/2006/relationships" id="277" r:id="Re6bd0c6d46974f3c"/>
    <p:sldId xmlns:r="http://schemas.openxmlformats.org/officeDocument/2006/relationships" id="278" r:id="Rcff777cc5f3a4de2"/>
    <p:sldId xmlns:r="http://schemas.openxmlformats.org/officeDocument/2006/relationships" id="279" r:id="R36499be397b24bbd"/>
    <p:sldId xmlns:r="http://schemas.openxmlformats.org/officeDocument/2006/relationships" id="280" r:id="Rce10b6aec2ea4b3c"/>
    <p:sldId xmlns:r="http://schemas.openxmlformats.org/officeDocument/2006/relationships" id="281" r:id="R79127c613ca149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10a344a26e49c5" /><Relationship Type="http://schemas.openxmlformats.org/officeDocument/2006/relationships/slideMaster" Target="/ppt/slideMasters/slideMaster1.xml" Id="R9168a43db00546cc" /><Relationship Type="http://schemas.openxmlformats.org/officeDocument/2006/relationships/notesMaster" Target="/ppt/notesMasters/notesMaster1.xml" Id="R8618fd496f254347" /><Relationship Type="http://schemas.openxmlformats.org/officeDocument/2006/relationships/presProps" Target="/ppt/presProps.xml" Id="Rada926d3f38d4826" /><Relationship Type="http://schemas.openxmlformats.org/officeDocument/2006/relationships/tableStyles" Target="/ppt/tableStyles.xml" Id="R0f51a61293cc40cd" /><Relationship Type="http://schemas.openxmlformats.org/officeDocument/2006/relationships/slide" Target="/ppt/slides/slide1.xml" Id="R1bd2355614c44617" /><Relationship Type="http://schemas.openxmlformats.org/officeDocument/2006/relationships/slide" Target="/ppt/slides/slide2.xml" Id="Re628f8bc0e9a4a26" /><Relationship Type="http://schemas.openxmlformats.org/officeDocument/2006/relationships/slide" Target="/ppt/slides/slide3.xml" Id="R8e811d0ecbb848be" /><Relationship Type="http://schemas.openxmlformats.org/officeDocument/2006/relationships/slide" Target="/ppt/slides/slide4.xml" Id="R19a0059e08674012" /><Relationship Type="http://schemas.openxmlformats.org/officeDocument/2006/relationships/slide" Target="/ppt/slides/slide5.xml" Id="Rb7c94f1918e24faf" /><Relationship Type="http://schemas.openxmlformats.org/officeDocument/2006/relationships/slide" Target="/ppt/slides/slide6.xml" Id="Re319556790ab4687" /><Relationship Type="http://schemas.openxmlformats.org/officeDocument/2006/relationships/slide" Target="/ppt/slides/slide7.xml" Id="R39200aa054584563" /><Relationship Type="http://schemas.openxmlformats.org/officeDocument/2006/relationships/slide" Target="/ppt/slides/slide8.xml" Id="R44cc6c4a00c3424c" /><Relationship Type="http://schemas.openxmlformats.org/officeDocument/2006/relationships/slide" Target="/ppt/slides/slide9.xml" Id="R9e4da2053fb345de" /><Relationship Type="http://schemas.openxmlformats.org/officeDocument/2006/relationships/slide" Target="/ppt/slides/slide10.xml" Id="R99ac99d19e7d4012" /><Relationship Type="http://schemas.openxmlformats.org/officeDocument/2006/relationships/slide" Target="/ppt/slides/slide11.xml" Id="Rfffa0d2114d74bae" /><Relationship Type="http://schemas.openxmlformats.org/officeDocument/2006/relationships/slide" Target="/ppt/slides/slide12.xml" Id="Rddcba45fb19a4631" /><Relationship Type="http://schemas.openxmlformats.org/officeDocument/2006/relationships/slide" Target="/ppt/slides/slide13.xml" Id="R37c263602915497d" /><Relationship Type="http://schemas.openxmlformats.org/officeDocument/2006/relationships/slide" Target="/ppt/slides/slide14.xml" Id="R123ab61ed15e42e5" /><Relationship Type="http://schemas.openxmlformats.org/officeDocument/2006/relationships/slide" Target="/ppt/slides/slide15.xml" Id="R0a3429dc00804e48" /><Relationship Type="http://schemas.openxmlformats.org/officeDocument/2006/relationships/slide" Target="/ppt/slides/slide16.xml" Id="R39a2ed1b3b904e0c" /><Relationship Type="http://schemas.openxmlformats.org/officeDocument/2006/relationships/slide" Target="/ppt/slides/slide17.xml" Id="R9d890bbcb7b84ab2" /><Relationship Type="http://schemas.openxmlformats.org/officeDocument/2006/relationships/slide" Target="/ppt/slides/slide18.xml" Id="Rcdff786a0fb04dc7" /><Relationship Type="http://schemas.openxmlformats.org/officeDocument/2006/relationships/slide" Target="/ppt/slides/slide19.xml" Id="R4de602ef3cf549c9" /><Relationship Type="http://schemas.openxmlformats.org/officeDocument/2006/relationships/slide" Target="/ppt/slides/slide20.xml" Id="R8fb6e6f5fad546e4" /><Relationship Type="http://schemas.openxmlformats.org/officeDocument/2006/relationships/slide" Target="/ppt/slides/slide21.xml" Id="R66b1c5d01bab491e" /><Relationship Type="http://schemas.openxmlformats.org/officeDocument/2006/relationships/slide" Target="/ppt/slides/slide22.xml" Id="Re6bd0c6d46974f3c" /><Relationship Type="http://schemas.openxmlformats.org/officeDocument/2006/relationships/slide" Target="/ppt/slides/slide23.xml" Id="Rcff777cc5f3a4de2" /><Relationship Type="http://schemas.openxmlformats.org/officeDocument/2006/relationships/slide" Target="/ppt/slides/slide24.xml" Id="R36499be397b24bbd" /><Relationship Type="http://schemas.openxmlformats.org/officeDocument/2006/relationships/slide" Target="/ppt/slides/slide25.xml" Id="Rce10b6aec2ea4b3c" /><Relationship Type="http://schemas.openxmlformats.org/officeDocument/2006/relationships/slide" Target="/ppt/slides/slide26.xml" Id="R79127c613ca149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375729c72b45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229986f4f4595" /><Relationship Type="http://schemas.openxmlformats.org/officeDocument/2006/relationships/notesMaster" Target="/ppt/notesMasters/notesMaster1.xml" Id="R2468aad4e8364a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169c6d6a3c4c2e" /><Relationship Type="http://schemas.openxmlformats.org/officeDocument/2006/relationships/notesMaster" Target="/ppt/notesMasters/notesMaster1.xml" Id="R548fc54cf82643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979bce32964632" /><Relationship Type="http://schemas.openxmlformats.org/officeDocument/2006/relationships/notesMaster" Target="/ppt/notesMasters/notesMaster1.xml" Id="R129615b197294a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d4e0ea1ced4077" /><Relationship Type="http://schemas.openxmlformats.org/officeDocument/2006/relationships/notesMaster" Target="/ppt/notesMasters/notesMaster1.xml" Id="Rffa389a1a56448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3a865f48ba4c39" /><Relationship Type="http://schemas.openxmlformats.org/officeDocument/2006/relationships/notesMaster" Target="/ppt/notesMasters/notesMaster1.xml" Id="R46160fec00fe44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a42468967c4fc9" /><Relationship Type="http://schemas.openxmlformats.org/officeDocument/2006/relationships/notesMaster" Target="/ppt/notesMasters/notesMaster1.xml" Id="R02ad727dbce149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6afb5550dd4a90" /><Relationship Type="http://schemas.openxmlformats.org/officeDocument/2006/relationships/notesMaster" Target="/ppt/notesMasters/notesMaster1.xml" Id="R54fe2e9482ba45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24ac2c66544f08" /><Relationship Type="http://schemas.openxmlformats.org/officeDocument/2006/relationships/notesMaster" Target="/ppt/notesMasters/notesMaster1.xml" Id="R070bd394745644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4110955b9e4371" /><Relationship Type="http://schemas.openxmlformats.org/officeDocument/2006/relationships/notesMaster" Target="/ppt/notesMasters/notesMaster1.xml" Id="Ree85f9c77c9b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9b3eb27a9245dd" /><Relationship Type="http://schemas.openxmlformats.org/officeDocument/2006/relationships/notesMaster" Target="/ppt/notesMasters/notesMaster1.xml" Id="Rd8e0520f7ef749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e01287f6a74492" /><Relationship Type="http://schemas.openxmlformats.org/officeDocument/2006/relationships/notesMaster" Target="/ppt/notesMasters/notesMaster1.xml" Id="Ra1dd6ec5763b4b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7f326b9cc14daa" /><Relationship Type="http://schemas.openxmlformats.org/officeDocument/2006/relationships/notesMaster" Target="/ppt/notesMasters/notesMaster1.xml" Id="R9515dea4bc9741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0611bdefdf4871" /><Relationship Type="http://schemas.openxmlformats.org/officeDocument/2006/relationships/notesMaster" Target="/ppt/notesMasters/notesMaster1.xml" Id="Re6eaf7e6e96245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0f0fd03ba1431b" /><Relationship Type="http://schemas.openxmlformats.org/officeDocument/2006/relationships/notesMaster" Target="/ppt/notesMasters/notesMaster1.xml" Id="R0c8d5066dd454f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d2df10724244c0" /><Relationship Type="http://schemas.openxmlformats.org/officeDocument/2006/relationships/notesMaster" Target="/ppt/notesMasters/notesMaster1.xml" Id="Re4bf6479e6d147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f2e09fda6b440e" /><Relationship Type="http://schemas.openxmlformats.org/officeDocument/2006/relationships/notesMaster" Target="/ppt/notesMasters/notesMaster1.xml" Id="R45f6becd63574d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9efc24cee942cb" /><Relationship Type="http://schemas.openxmlformats.org/officeDocument/2006/relationships/notesMaster" Target="/ppt/notesMasters/notesMaster1.xml" Id="Rcf3565c254c545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91282002d3431a" /><Relationship Type="http://schemas.openxmlformats.org/officeDocument/2006/relationships/notesMaster" Target="/ppt/notesMasters/notesMaster1.xml" Id="R805fb0d0936c46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368c280d9c48b9" /><Relationship Type="http://schemas.openxmlformats.org/officeDocument/2006/relationships/notesMaster" Target="/ppt/notesMasters/notesMaster1.xml" Id="R7b228ae4e2ea4fe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7b190ebb9f440c" /><Relationship Type="http://schemas.openxmlformats.org/officeDocument/2006/relationships/notesMaster" Target="/ppt/notesMasters/notesMaster1.xml" Id="R6dd3423fc70640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1f03c064724c18" /><Relationship Type="http://schemas.openxmlformats.org/officeDocument/2006/relationships/notesMaster" Target="/ppt/notesMasters/notesMaster1.xml" Id="Rc1bc640d0bb24e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a6ab9a486647d1" /><Relationship Type="http://schemas.openxmlformats.org/officeDocument/2006/relationships/notesMaster" Target="/ppt/notesMasters/notesMaster1.xml" Id="Rb96c7ea41f9a41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685ae15661546a4" /><Relationship Type="http://schemas.openxmlformats.org/officeDocument/2006/relationships/notesMaster" Target="/ppt/notesMasters/notesMaster1.xml" Id="R57beb95f2df946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05608caf3784e9a" /><Relationship Type="http://schemas.openxmlformats.org/officeDocument/2006/relationships/notesMaster" Target="/ppt/notesMasters/notesMaster1.xml" Id="R5d131c13e8ac42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08e4cd936e430d" /><Relationship Type="http://schemas.openxmlformats.org/officeDocument/2006/relationships/notesMaster" Target="/ppt/notesMasters/notesMaster1.xml" Id="Rfe0b65ed0d384b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885084f5b14f1b" /><Relationship Type="http://schemas.openxmlformats.org/officeDocument/2006/relationships/notesMaster" Target="/ppt/notesMasters/notesMaster1.xml" Id="R63aea473cb5341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pitch. Introduce Touhidul Alam Seyam, BGC Trust University Bangladesh. Theme: Innovate to Market. Digital Delta is an offline disaster logistics demonstration. All cover artwork is an AI-generated concept illustration, not documentary evidence. Suggested short pitch route: slides 1, 2, 3, 6, 8, 9, 11, 15 and 17. The remaining slides support a longer presentation and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 Bangladesh 2022 response plan estimated 7.2 million affected people across nine northeastern districts. The June 2024 NAWG rapid assessment reported 3.74 million across six districts. These counts cover different events and areas and should not be added or compared as a growth trend. The 19 June 2022 situation update documents simultaneous power, road and communication disruption. Sources: https://bangladesh.un.org/en/188010-flash-floods-humanitarian-response-plan-2022-united-nations-bangladesh-coordinated-appeal</a:t>
            </a:r>
          </a:p>
          <a:p xmlns:a="http://schemas.openxmlformats.org/drawingml/2006/main">
            <a:r>
              <a:t>https://bangladesh.un.org/sites/default/files/2022-06/situation_overview_flash_flood_final_draft_.pdf</a:t>
            </a:r>
          </a:p>
          <a:p xmlns:a="http://schemas.openxmlformats.org/drawingml/2006/main">
            <a:r>
              <a:t>https://bangladesh.un.org/bn/download/163651/272834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clinic request, locally stored Protobuf event and recipient-encrypted outbox. Queued means persisted, not delivered or accepted. The screenshot is actual application evidence from the repository. Physical end-to-end radio verification remains open. Sources: README.md, docs/ARCHITECTURE.md, docs/TESTING.md and /Users/seyam/Work/Innovation_fair/artifacts/screenshots/field-en/03-field-en-p0-request-1280x2856.png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Next.js headquarters application runs on the local laptop. It uses the bundled OpenStreetMap-derived PMTiles archive and an optional Go observer stream. This is a seeded simulated mission, not real vehicles or weather. The field phones retain authority. Sources: docs/ARCHITECTURE.md and /Users/seyam/Work/Innovation_fair/artifacts/screenshots/command-en/02-command-en-live-overview-1920x1080.png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languages ship in the APK. Protocol state uses language-neutral codes. Automated parity and emulator journeys support implementation. Human comprehension, accessibility and target-phone testing remain required. Sources: docs/LOCALIZATION.md, docs/TESTING.md and screenshot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architecture diagram derived from docs/ARCHITECTURE.md. Nearby carries framed Protobuf, not gRPC. gRPC applies to IP-capable node and observer links. Browser SSE uses a sanitized JSON presentation object, which is not a mesh domain payload. Each phone owns local storage, identity, routing, triage and custody. Dashed arrows indicate optional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screenshots establish a real Nearby foreground-service lifecycle on an emulator. They do not establish multi-phone range or completed physical A-to-B-to-C relay. Durable queues and duplicate rejection have automated evidence. Sources: docs/ARCHITECTURE.md, docs/TESTING.md and field relay captures.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truck path uses E1 and E3. A simulated E3 failure excludes the truck path and chooses boat edges E6 and E7. Deterministic graph search and strict transport constraints run locally. A valid graph path does not prove actual navigation safety. Source: docs/ROUTING.md, docs/TESTING.md and route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software signs a Protobuf offer with Android Keystore RSA-PSS, verifies trusted fields and atomically records a two-party receipt. A replay or tampered offer must not create a second custody event. The screenshots are actual application states of simulated cargo. Physical camera scanning between phones is still required. Sources: docs/PROOF_OF_DELIVERY.md, docs/TESTING.md.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uses 6,000 deterministic synthetic examples with 4,200 train, 900 validation and 900 test. Threshold 0.285 selected on validation data. Held-out model precision 0.612766, recall 0.837209, F1 0.707617. Baseline F1 0.114754. The editable chart displays the F1 comparison only. These are not real flood forecast results. Source: models/route-decay/MODEL_CARD.md.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commercial hypothesis, not validated demand or partnership. The proposed sponsor is a district, health logistics institution or NGO with an operational owner. Discovery must establish budget authority, current procedures and capacity to maintain devices. The 2024 assessment frame contains 6 districts, 64 upazilas and 360 unions, but those counts are not paying accounts. Source: https://bangladesh.un.org/bn/download/163651/272834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First-party comparison as of 4 September 2026. Sahana page is a legacy archive. Kobo supports offline collection after setup, followed by server upload. Ushahidi documents reporting and mapping. Briar documents encrypted Bluetooth/Wi-Fi sync. Meshtastic uses LoRa radio hardware. Absence of an integrated Digital Delta workflow in these reviewed pages does not prove a competitor cannot add it. Sources:</a:t>
            </a:r>
          </a:p>
          <a:p xmlns:a="http://schemas.openxmlformats.org/drawingml/2006/main">
            <a:r>
              <a:t>https://sahanafoundation.org/products/eden/</a:t>
            </a:r>
          </a:p>
          <a:p xmlns:a="http://schemas.openxmlformats.org/drawingml/2006/main">
            <a:r>
              <a:t>https://support.kobotoolbox.org/data_collection_kobocollect.html</a:t>
            </a:r>
          </a:p>
          <a:p xmlns:a="http://schemas.openxmlformats.org/drawingml/2006/main">
            <a:r>
              <a:t>https://www.ushahidi.com/features/</a:t>
            </a:r>
          </a:p>
          <a:p xmlns:a="http://schemas.openxmlformats.org/drawingml/2006/main">
            <a:r>
              <a:t>https://briarproject.org/how-it-works/</a:t>
            </a:r>
          </a:p>
          <a:p xmlns:a="http://schemas.openxmlformats.org/drawingml/2006/main">
            <a:r>
              <a:t>https://meshtastic.org/docs/introduction/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business model, not current revenue. Offer includes workflow mapping, configured devices, identities, maps, training, supervised exercise and evidence review. Recurring support could cover seasonal readiness, release maintenance and credential administration. Approved integrations are separately scoped. Pricing and willingness to pay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BDT planning model, not market quotations or actual expenditure. Engineering 40 days×5,000=200,000; facilitation 12×4,000=48,000; security review 5×8,000=40,000; phones 6×18,000=108,000; accessories 6×4,000=24,000; logistics allowance 30,000. Subtotal 450,000. 15 percent contingency 67,500. Total 517,500. Excludes taxes, emergency transport, long-term salaries and ongoing production support. Replace inputs with quotations and agreed staffing before procurement.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Cited from existing dated evidence. Final local gate 2026-09-04 passed scripts/verify-local.sh --connected. Same 60 journeys pass on Android 15 and 16 emulators. Go load test held 10,000 independent acknowledged streams on loopback, p95 57.645 seconds, peak RSS about 1.19 GiB. It does not include wireless contention or recipient encryption load. Sources: artifacts/reports/verification/2026-09-04-final-local-gate.md and artifacts/reports/load/2026-09-04-go-10000.md. No new test run is claimed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proposed pilot schedule, not an organizer requirement or customer commitment. Existing approved procedures remain authoritative in shadow mode. Agree technical, human, governance and support gates before conducting the exercise. Stop if no owner exists, critical errors persist, or devices fail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pitch. Ask for a discovery meeting, a nominated operational owner and agreement on a supervised three-phone scenario. Do not claim a current partnership, award, customer or field deployment. Project lead: Touhidul Alam Seyam, BGC Trust University Bangladesh. Repository: https://github.com/Seyamalam/digital-delta. Optional public presentation: https://digital-delta-headquarters.vercel.app. The following slides are technical and product detail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Compose and ViewModels read local state. Domain rules and repositories coordinate Room, Keystore, ONNX and Nearby. Active radio runs in the foreground service. WorkManager handles bounded deferred work. Source: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Sender stores a recipient-encrypted Protobuf envelope. The relay persists ciphertext before acknowledging. The recipient decrypts, verifies, deduplicates and applies. A durable receipt is not final domain acceptance. Source: docs/ARCHITECTURE.md and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Vector clocks expose concurrent edits. Safe sets and counters use deterministic merges. Safety-sensitive fields require authorized human review. Equal accepted events and policy versions should yield the same convergence hash. Physical multi-phone convergence remains open. Source: docs/CONFLICTS.md and docs/TESTING.md.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closures exclude edges. Synthetic model risk adds cost. Route ETA feeds the priority engine with a 30 percent slowdown, stale-estimate checks and safe-waypoint constraints. A person confirms changes. Source: docs/ARCHITECTURE.md, docs/TRIAGE.md and models/route-decay/MODEL_CARD.md.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seeded fallback predicts a P0 SLA breach and proposes a safe P2 deposit. The policy rejects estimates older than five minutes, orders concurrent urgent cargo and records a confirmed assignment atomically. This is logistics priority, not clinical triage. Sources: docs/TRIAGE.md, docs/TESTING.md and actual app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air-only destination is classified drone-required in the graph. The seeded engine selects R3 then switches to R2 after an 18-minute simulated boat delay. Plans require a 20 percent battery reserve. A signed receipt records boat-to-simulated-drone custody. No drone hardware or control is part of the build. Sources: README.md, docs/TESTING.md and M8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Android uses a checksum-pinned extract derived from the reviewed OpenStreetMap PMTiles archive. MapLibre Native has local sources, with separate simulated mission overlay. Deployment needs maintained maps and official closure procedures. Sources: docs/ARCHITECTURE.md, offline map README files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local disconnect experiment closed the projector at sequence 7, published sequences 8–14 while absent and replayed the gap after reconnection. This is laptop observer evidence. It does not replace a physical phone action with the laptop off. Source: artifacts/reports/fault-injection/2026-09-04-dashboard-disconnect.md and screenshot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external sources were reviewed 4 September 2026. External source links:</a:t>
            </a:r>
          </a:p>
          <a:p xmlns:a="http://schemas.openxmlformats.org/drawingml/2006/main">
            <a:r>
              <a:t>S01 Flash Floods Humanitarian Response Plan 2022 https://bangladesh.un.org/en/188010-flash-floods-humanitarian-response-plan-2022-united-nations-bangladesh-coordinated-appeal</a:t>
            </a:r>
          </a:p>
          <a:p xmlns:a="http://schemas.openxmlformats.org/drawingml/2006/main">
            <a:r>
              <a:t>S02 Severe Flash Floods Situation Update 1 https://bangladesh.un.org/sites/default/files/2022-06/situation_overview_flash_flood_final_draft_.pdf</a:t>
            </a:r>
          </a:p>
          <a:p xmlns:a="http://schemas.openxmlformats.org/drawingml/2006/main">
            <a:r>
              <a:t>S03 Rapid Assessment of Northeastern Flood 2024 https://bangladesh.un.org/bn/download/163651/272834</a:t>
            </a:r>
          </a:p>
          <a:p xmlns:a="http://schemas.openxmlformats.org/drawingml/2006/main">
            <a:r>
              <a:t>S04 Bangladesh flood risk reduction and recovery financing https://www.worldbank.org/en/news/press-release/2025/05/14/world-bank-supports-bangladesh-in-flood-risk-reduction-and-recovery</a:t>
            </a:r>
          </a:p>
          <a:p xmlns:a="http://schemas.openxmlformats.org/drawingml/2006/main">
            <a:r>
              <a:t>S05 Innovate to Market and exhibitor information https://www.innovationfairbd.org/</a:t>
            </a:r>
          </a:p>
          <a:p xmlns:a="http://schemas.openxmlformats.org/drawingml/2006/main">
            <a:r>
              <a:t>S06 Eden Legacy Archive and documented capabilities https://sahanafoundation.org/products/eden/</a:t>
            </a:r>
          </a:p>
          <a:p xmlns:a="http://schemas.openxmlformats.org/drawingml/2006/main">
            <a:r>
              <a:t>S07 Collecting data using KoboCollect https://support.kobotoolbox.org/data_collection_kobocollect.html</a:t>
            </a:r>
          </a:p>
          <a:p xmlns:a="http://schemas.openxmlformats.org/drawingml/2006/main">
            <a:r>
              <a:t>S08 Platform features and enterprise deployments https://www.ushahidi.com/features/</a:t>
            </a:r>
          </a:p>
          <a:p xmlns:a="http://schemas.openxmlformats.org/drawingml/2006/main">
            <a:r>
              <a:t>S09 How it works https://briarproject.org/how-it-works/</a:t>
            </a:r>
          </a:p>
          <a:p xmlns:a="http://schemas.openxmlformats.org/drawingml/2006/main">
            <a:r>
              <a:t>S10 Introduction to off grid mesh communication https://meshtastic.org/docs/introduction/</a:t>
            </a:r>
          </a:p>
          <a:p xmlns:a="http://schemas.openxmlformats.org/drawingml/2006/main">
            <a:r>
              <a:t>R01 README and technical architecture https://github.com/Seyamalam/digital-delta</a:t>
            </a:r>
          </a:p>
          <a:p xmlns:a="http://schemas.openxmlformats.org/drawingml/2006/main">
            <a:r>
              <a:t>Repository evidence:</a:t>
            </a:r>
          </a:p>
          <a:p xmlns:a="http://schemas.openxmlformats.org/drawingml/2006/main">
            <a:r>
              <a:t>R02 artifacts/reports/verification/2026-09-04-final-local-gate.md</a:t>
            </a:r>
          </a:p>
          <a:p xmlns:a="http://schemas.openxmlformats.org/drawingml/2006/main">
            <a:r>
              <a:t>R03 artifacts/reports/load/2026-09-04-go-10000.md</a:t>
            </a:r>
          </a:p>
          <a:p xmlns:a="http://schemas.openxmlformats.org/drawingml/2006/main">
            <a:r>
              <a:t>R04 models/route-decay/MODEL_CARD.md</a:t>
            </a:r>
          </a:p>
          <a:p xmlns:a="http://schemas.openxmlformats.org/drawingml/2006/main">
            <a:r>
              <a:t>R05 docs/TESTING.md and docs/PHYSICAL_DEVICE_TEST.md</a:t>
            </a:r>
          </a:p>
          <a:p xmlns:a="http://schemas.openxmlformats.org/drawingml/2006/main">
            <a:r>
              <a:t>R06 artifacts/screenshots/field-bn, field-en, command-bn, command-en</a:t>
            </a:r>
          </a:p>
          <a:p xmlns:a="http://schemas.openxmlformats.org/drawingml/2006/main">
            <a:r>
              <a:t>R07 docs/SECURITY.md and artifacts/reports/claim-audit/2026-09-04.md</a:t>
            </a:r>
          </a:p>
          <a:p xmlns:a="http://schemas.openxmlformats.org/drawingml/2006/main">
            <a:r>
              <a:t>R08 docs/PRD.md and research/innovation-fair-fit.md</a:t>
            </a:r>
          </a:p>
          <a:p xmlns:a="http://schemas.openxmlformats.org/drawingml/2006/main">
            <a:r>
              <a:t>Original app screenshots are from artifacts/screenshots. Cover is an AI-generated concept illustration. Diagrams are editable original summaries derived from architecture documentation. Market proposals and budget inputs are assumptions. No field deployment or customer research is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15e8214cae4e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1c848e194a4536" /><Relationship Type="http://schemas.openxmlformats.org/officeDocument/2006/relationships/slideLayout" Target="/ppt/slideLayouts/slideLayout1.xml" Id="R94103b8a78084a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103b8a78084a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47b0b5ec0c4e6d" /><Relationship Type="http://schemas.openxmlformats.org/officeDocument/2006/relationships/image" Target="/ppt/media/image.png" Id="Rc2157fb8278148b7" /><Relationship Type="http://schemas.openxmlformats.org/officeDocument/2006/relationships/notesSlide" Target="/ppt/notesSlides/notesSlide1.xml" Id="Rbf4a9e4f338641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f775b44e9d4d14" /><Relationship Type="http://schemas.openxmlformats.org/officeDocument/2006/relationships/notesSlide" Target="/ppt/notesSlides/notesSlide2.xml" Id="R8be0f57b6c4342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ee1e6a7dc94e90" /><Relationship Type="http://schemas.openxmlformats.org/officeDocument/2006/relationships/image" Target="/ppt/media/image2.png" Id="R5d12d8879a644649" /><Relationship Type="http://schemas.openxmlformats.org/officeDocument/2006/relationships/notesSlide" Target="/ppt/notesSlides/notesSlide3.xml" Id="R04374c2135ff4f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93d4d007904057" /><Relationship Type="http://schemas.openxmlformats.org/officeDocument/2006/relationships/image" Target="/ppt/media/image3.png" Id="R8854d3a6c5e44661" /><Relationship Type="http://schemas.openxmlformats.org/officeDocument/2006/relationships/notesSlide" Target="/ppt/notesSlides/notesSlide4.xml" Id="R1d19d709a61b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fc9933edb64875" /><Relationship Type="http://schemas.openxmlformats.org/officeDocument/2006/relationships/image" Target="/ppt/media/image4.png" Id="Rcf4883d8045d47c5" /><Relationship Type="http://schemas.openxmlformats.org/officeDocument/2006/relationships/image" Target="/ppt/media/image5.png" Id="Rfde4835c9dec4a5d" /><Relationship Type="http://schemas.openxmlformats.org/officeDocument/2006/relationships/notesSlide" Target="/ppt/notesSlides/notesSlide5.xml" Id="R987b1d88d22f4d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51a64d51514335" /><Relationship Type="http://schemas.openxmlformats.org/officeDocument/2006/relationships/notesSlide" Target="/ppt/notesSlides/notesSlide6.xml" Id="Rb59eea0af6e143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5c856e98464204" /><Relationship Type="http://schemas.openxmlformats.org/officeDocument/2006/relationships/image" Target="/ppt/media/image6.png" Id="Rbc6ad56815eb401d" /><Relationship Type="http://schemas.openxmlformats.org/officeDocument/2006/relationships/image" Target="/ppt/media/image7.png" Id="R95e353ce78fb49dc" /><Relationship Type="http://schemas.openxmlformats.org/officeDocument/2006/relationships/notesSlide" Target="/ppt/notesSlides/notesSlide7.xml" Id="Rc1918eed5ed144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3f4e243b854045" /><Relationship Type="http://schemas.openxmlformats.org/officeDocument/2006/relationships/image" Target="/ppt/media/image8.png" Id="R00bb3af334d64916" /><Relationship Type="http://schemas.openxmlformats.org/officeDocument/2006/relationships/image" Target="/ppt/media/image9.png" Id="R116328d5c58d44d0" /><Relationship Type="http://schemas.openxmlformats.org/officeDocument/2006/relationships/notesSlide" Target="/ppt/notesSlides/notesSlide8.xml" Id="R0db4577390d745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9cd432336c46ae" /><Relationship Type="http://schemas.openxmlformats.org/officeDocument/2006/relationships/image" Target="/ppt/media/image10.png" Id="Rddb6ac0597504650" /><Relationship Type="http://schemas.openxmlformats.org/officeDocument/2006/relationships/image" Target="/ppt/media/image11.png" Id="R32bb4cd8c2014c37" /><Relationship Type="http://schemas.openxmlformats.org/officeDocument/2006/relationships/image" Target="/ppt/media/image12.png" Id="R5c3d387bd71d49fb" /><Relationship Type="http://schemas.openxmlformats.org/officeDocument/2006/relationships/notesSlide" Target="/ppt/notesSlides/notesSlide9.xml" Id="R7b729b01747643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d93601d29c4007" /><Relationship Type="http://schemas.openxmlformats.org/officeDocument/2006/relationships/chart" Target="/ppt/slides/charts/chart1.xml" Id="R484d255d6103465a" /><Relationship Type="http://schemas.openxmlformats.org/officeDocument/2006/relationships/image" Target="/ppt/media/image13.png" Id="Rc88a6652f9ce4069" /><Relationship Type="http://schemas.openxmlformats.org/officeDocument/2006/relationships/notesSlide" Target="/ppt/notesSlides/notesSlide10.xml" Id="R2eae3c37979d46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20f5d083ab4e12" /><Relationship Type="http://schemas.openxmlformats.org/officeDocument/2006/relationships/notesSlide" Target="/ppt/notesSlides/notesSlide11.xml" Id="R885e2375c4ae4f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cd43874fb0459c" /><Relationship Type="http://schemas.openxmlformats.org/officeDocument/2006/relationships/notesSlide" Target="/ppt/notesSlides/notesSlide12.xml" Id="Rc041468bdc1942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535168098d46e9" /><Relationship Type="http://schemas.openxmlformats.org/officeDocument/2006/relationships/notesSlide" Target="/ppt/notesSlides/notesSlide13.xml" Id="R765d1d6f0cdd40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45f376492a49c9" /><Relationship Type="http://schemas.openxmlformats.org/officeDocument/2006/relationships/notesSlide" Target="/ppt/notesSlides/notesSlide14.xml" Id="Ra96ba28e208640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0e4dedd8c674ee0" /><Relationship Type="http://schemas.openxmlformats.org/officeDocument/2006/relationships/notesSlide" Target="/ppt/notesSlides/notesSlide15.xml" Id="R9aed10c604ac4b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86d5126a9547f1" /><Relationship Type="http://schemas.openxmlformats.org/officeDocument/2006/relationships/notesSlide" Target="/ppt/notesSlides/notesSlide16.xml" Id="R1537529fce894b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70f991a3bd243cf" /><Relationship Type="http://schemas.openxmlformats.org/officeDocument/2006/relationships/notesSlide" Target="/ppt/notesSlides/notesSlide17.xml" Id="R5174702c2a5246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d2b57b33884f16" /><Relationship Type="http://schemas.openxmlformats.org/officeDocument/2006/relationships/notesSlide" Target="/ppt/notesSlides/notesSlide18.xml" Id="Rab68db53251341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7b0d79211324dad" /><Relationship Type="http://schemas.openxmlformats.org/officeDocument/2006/relationships/notesSlide" Target="/ppt/notesSlides/notesSlide19.xml" Id="R3b6004b989de4f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03860dcd0a4db5" /><Relationship Type="http://schemas.openxmlformats.org/officeDocument/2006/relationships/notesSlide" Target="/ppt/notesSlides/notesSlide20.xml" Id="Rcd0bf5e1fc4d4f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48beb381f74b7a" /><Relationship Type="http://schemas.openxmlformats.org/officeDocument/2006/relationships/notesSlide" Target="/ppt/notesSlides/notesSlide21.xml" Id="R4c360c41f1a043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cf5acee63245f5" /><Relationship Type="http://schemas.openxmlformats.org/officeDocument/2006/relationships/image" Target="/ppt/media/image14.png" Id="Rde4925a3a1844c82" /><Relationship Type="http://schemas.openxmlformats.org/officeDocument/2006/relationships/image" Target="/ppt/media/image15.png" Id="R2201e4eaddaf4fec" /><Relationship Type="http://schemas.openxmlformats.org/officeDocument/2006/relationships/notesSlide" Target="/ppt/notesSlides/notesSlide22.xml" Id="R07b7c7c93bcc48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6f772289b94b99" /><Relationship Type="http://schemas.openxmlformats.org/officeDocument/2006/relationships/image" Target="/ppt/media/image16.png" Id="R181bdd20657f4908" /><Relationship Type="http://schemas.openxmlformats.org/officeDocument/2006/relationships/image" Target="/ppt/media/image17.png" Id="Rfa314defb1864adf" /><Relationship Type="http://schemas.openxmlformats.org/officeDocument/2006/relationships/notesSlide" Target="/ppt/notesSlides/notesSlide23.xml" Id="Rf7c627c094c743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a074b8cd00d4baa" /><Relationship Type="http://schemas.openxmlformats.org/officeDocument/2006/relationships/image" Target="/ppt/media/image18.png" Id="R0b8d3f672b9f4e4f" /><Relationship Type="http://schemas.openxmlformats.org/officeDocument/2006/relationships/image" Target="/ppt/media/image19.png" Id="R16c7e788f58a4086" /><Relationship Type="http://schemas.openxmlformats.org/officeDocument/2006/relationships/notesSlide" Target="/ppt/notesSlides/notesSlide24.xml" Id="Rf6f354ba230843b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8a16c3505ff4aa5" /><Relationship Type="http://schemas.openxmlformats.org/officeDocument/2006/relationships/image" Target="/ppt/media/image20.png" Id="R42509153abe34628" /><Relationship Type="http://schemas.openxmlformats.org/officeDocument/2006/relationships/notesSlide" Target="/ppt/notesSlides/notesSlide25.xml" Id="R1810813e1c99435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d07dfaaa8044e35" /><Relationship Type="http://schemas.openxmlformats.org/officeDocument/2006/relationships/notesSlide" Target="/ppt/notesSlides/notesSlide26.xml" Id="Rdbac9bc919e0450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F1</c:v>
          </c:tx>
          <c:spPr>
            <a:solidFill xmlns:a="http://schemas.openxmlformats.org/drawingml/2006/main">
              <a:srgbClr val="216E75"/>
            </a:solidFill>
          </c:spPr>
          <c:cat>
            <c:strRef>
              <c:f>'Chart Data'!$A$2:$A$3</c:f>
              <c:strCache>
                <c:ptCount val="2"/>
                <c:pt idx="0">
                  <c:v>Baseline F1 0.115</c:v>
                </c:pt>
                <c:pt idx="1">
                  <c:v>Model F1 0.708</c:v>
                </c:pt>
              </c:strCache>
            </c:strRef>
          </c:cat>
          <c:val>
            <c:numRef>
              <c:f>'Chart Data'!$B$2:$B$3</c:f>
              <c:numCache>
                <c:formatCode>0.0</c:formatCode>
                <c:ptCount val="2"/>
                <c:pt idx="0">
                  <c:v>0.114754</c:v>
                </c:pt>
                <c:pt idx="1">
                  <c:v>0.707617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6B6D"/>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6B6D"/>
                </a:solidFill>
                <a:latin typeface="Arial"/>
                <a:ea typeface="Arial"/>
                <a:cs typeface="Arial"/>
              </a:defRPr>
            </a:pPr>
          </a:p>
        </c:txPr>
        <c:crossAx val="48650112"/>
        <c:crossBetween val="between"/>
        <c:majorUnit val="0.2"/>
      </c:valAx>
    </c:plotArea>
    <c:plotVisOnly val="1"/>
  </c:chart>
  <c:spPr>
    <a:solidFill xmlns:a="http://schemas.openxmlformats.org/drawingml/2006/main">
      <a:srgbClr val="FAFA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C19AE7-36E3-4D18-8D45-33E6EF9F0D23}"/>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Digital Delta</a:t>
            </a:r>
          </a:p>
        </p:txBody>
      </p:sp>
      <p:sp>
        <p:nvSpPr>
          <p:cNvPr id="2" name="">
            <a:extLst xmlns:a="http://schemas.openxmlformats.org/drawingml/2006/main">
              <a:ext uri="{FF2B5EF4-FFF2-40B4-BE49-F238E27FC236}">
                <a16:creationId xmlns:a16="http://schemas.microsoft.com/office/drawing/2014/main" id="{0AAF8F6C-E05B-42EC-B099-6E35F8EF0CEE}"/>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C0A8FE6-8025-4707-9BF5-1CB4AF8345D3}"/>
              </a:ext>
            </a:extLst>
          </p:cNvPr>
          <p:cNvSpPr>
            <a:spLocks xmlns:a="http://schemas.openxmlformats.org/drawingml/2006/main" noGrp="1"/>
          </p:cNvSpPr>
          <p:nvPr/>
        </p:nvSpPr>
        <p:spPr>
          <a:xfrm xmlns:a="http://schemas.openxmlformats.org/drawingml/2006/main">
            <a:off x="628650" y="1476375"/>
            <a:ext cx="523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Offline relief coordination</a:t>
            </a:r>
          </a:p>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for Bangladesh</a:t>
            </a:r>
          </a:p>
        </p:txBody>
      </p:sp>
      <p:sp>
        <p:nvSpPr>
          <p:cNvPr id="4" name="">
            <a:extLst xmlns:a="http://schemas.openxmlformats.org/drawingml/2006/main">
              <a:ext uri="{FF2B5EF4-FFF2-40B4-BE49-F238E27FC236}">
                <a16:creationId xmlns:a16="http://schemas.microsoft.com/office/drawing/2014/main" id="{F2D57134-D3B8-4D89-8D6D-3275CD1A6505}"/>
              </a:ext>
            </a:extLst>
          </p:cNvPr>
          <p:cNvSpPr>
            <a:spLocks xmlns:a="http://schemas.openxmlformats.org/drawingml/2006/main" noGrp="1"/>
          </p:cNvSpPr>
          <p:nvPr/>
        </p:nvSpPr>
        <p:spPr>
          <a:xfrm xmlns:a="http://schemas.openxmlformats.org/drawingml/2006/main">
            <a:off x="628650" y="31051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Innovate to Market</a:t>
            </a:r>
          </a:p>
        </p:txBody>
      </p:sp>
      <p:sp>
        <p:nvSpPr>
          <p:cNvPr id="5" name="">
            <a:extLst xmlns:a="http://schemas.openxmlformats.org/drawingml/2006/main">
              <a:ext uri="{FF2B5EF4-FFF2-40B4-BE49-F238E27FC236}">
                <a16:creationId xmlns:a16="http://schemas.microsoft.com/office/drawing/2014/main" id="{D1F70B6A-5129-48BD-BE54-1D96CB981D6F}"/>
              </a:ext>
            </a:extLst>
          </p:cNvPr>
          <p:cNvSpPr>
            <a:spLocks xmlns:a="http://schemas.openxmlformats.org/drawingml/2006/main" noGrp="1"/>
          </p:cNvSpPr>
          <p:nvPr/>
        </p:nvSpPr>
        <p:spPr>
          <a:xfrm xmlns:a="http://schemas.openxmlformats.org/drawingml/2006/main">
            <a:off x="628650" y="38576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Touhidul Alam Seyam</a:t>
            </a:r>
          </a:p>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BGC Trust University Bangladesh</a:t>
            </a:r>
          </a:p>
        </p:txBody>
      </p:sp>
      <p:sp>
        <p:nvSpPr>
          <p:cNvPr id="6" name="">
            <a:extLst xmlns:a="http://schemas.openxmlformats.org/drawingml/2006/main">
              <a:ext uri="{FF2B5EF4-FFF2-40B4-BE49-F238E27FC236}">
                <a16:creationId xmlns:a16="http://schemas.microsoft.com/office/drawing/2014/main" id="{CB76FFD8-1F98-4A4B-B5FB-94FE0F7CB53E}"/>
              </a:ext>
            </a:extLst>
          </p:cNvPr>
          <p:cNvSpPr>
            <a:spLocks xmlns:a="http://schemas.openxmlformats.org/drawingml/2006/main" noGrp="1"/>
          </p:cNvSpPr>
          <p:nvPr/>
        </p:nvSpPr>
        <p:spPr>
          <a:xfrm xmlns:a="http://schemas.openxmlformats.org/drawingml/2006/main">
            <a:off x="628650" y="532447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76B6D"/>
                </a:solidFill>
                <a:latin typeface="Arial"/>
                <a:ea typeface="Arial"/>
                <a:cs typeface="Arial"/>
              </a:defRPr>
            </a:pPr>
            <a:r>
              <a:rPr sz="1650" b="0">
                <a:solidFill>
                  <a:srgbClr val="576B6D"/>
                </a:solidFill>
                <a:latin typeface="Arial"/>
                <a:ea typeface="Arial"/>
                <a:cs typeface="Arial"/>
              </a:rPr>
              <a:t>Innovation Fair 2026</a:t>
            </a:r>
          </a:p>
          <a:p xmlns:a="http://schemas.openxmlformats.org/drawingml/2006/main">
            <a:pPr>
              <a:defRPr sz="1650" b="0">
                <a:solidFill>
                  <a:srgbClr val="576B6D"/>
                </a:solidFill>
                <a:latin typeface="Arial"/>
                <a:ea typeface="Arial"/>
                <a:cs typeface="Arial"/>
              </a:defRPr>
            </a:pPr>
            <a:r>
              <a:rPr sz="1650" b="0">
                <a:solidFill>
                  <a:srgbClr val="576B6D"/>
                </a:solidFill>
                <a:latin typeface="Arial"/>
                <a:ea typeface="Arial"/>
                <a:cs typeface="Arial"/>
              </a:rPr>
              <a:t>4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157fb8278148b7"/>
          <a:stretch xmlns:a="http://schemas.openxmlformats.org/drawingml/2006/main"/>
        </p:blipFill>
        <p:spPr>
          <a:xfrm xmlns:a="http://schemas.openxmlformats.org/drawingml/2006/main">
            <a:off x="5848350" y="1706563"/>
            <a:ext cx="5810250" cy="3873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CAA63C9-B229-4EBF-A4B8-095A6B9B5835}"/>
              </a:ext>
            </a:extLst>
          </p:cNvPr>
          <p:cNvSpPr>
            <a:spLocks xmlns:a="http://schemas.openxmlformats.org/drawingml/2006/main" noGrp="1"/>
          </p:cNvSpPr>
          <p:nvPr/>
        </p:nvSpPr>
        <p:spPr>
          <a:xfrm xmlns:a="http://schemas.openxmlformats.org/drawingml/2006/main">
            <a:off x="5857875" y="5838825"/>
            <a:ext cx="566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AI-generated concept illustration</a:t>
            </a:r>
          </a:p>
        </p:txBody>
      </p:sp>
    </p:spTree>
    <p:extLst>
      <p:ext uri="{BB962C8B-B14F-4D97-AF65-F5344CB8AC3E}">
        <p14:creationId xmlns:p14="http://schemas.microsoft.com/office/powerpoint/2010/main" val="204959596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C13B79-7FEA-47BC-824A-B7D3FD3944B1}"/>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Relief coordination during outages</a:t>
            </a:r>
          </a:p>
        </p:txBody>
      </p:sp>
      <p:sp>
        <p:nvSpPr>
          <p:cNvPr id="2" name="">
            <a:extLst xmlns:a="http://schemas.openxmlformats.org/drawingml/2006/main">
              <a:ext uri="{FF2B5EF4-FFF2-40B4-BE49-F238E27FC236}">
                <a16:creationId xmlns:a16="http://schemas.microsoft.com/office/drawing/2014/main" id="{16B1F8BA-99B0-47C3-991B-61924EB6EA1B}"/>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Transport, power and communications can fail together.</a:t>
            </a:r>
          </a:p>
        </p:txBody>
      </p:sp>
      <p:sp>
        <p:nvSpPr>
          <p:cNvPr id="3" name="">
            <a:extLst xmlns:a="http://schemas.openxmlformats.org/drawingml/2006/main">
              <a:ext uri="{FF2B5EF4-FFF2-40B4-BE49-F238E27FC236}">
                <a16:creationId xmlns:a16="http://schemas.microsoft.com/office/drawing/2014/main" id="{898D646D-21ED-4EAD-B99D-D2B204907FE1}"/>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B1B191B-40F3-4D43-AB19-89E5A4318F13}"/>
              </a:ext>
            </a:extLst>
          </p:cNvPr>
          <p:cNvSpPr>
            <a:spLocks xmlns:a="http://schemas.openxmlformats.org/drawingml/2006/main" noGrp="1"/>
          </p:cNvSpPr>
          <p:nvPr/>
        </p:nvSpPr>
        <p:spPr>
          <a:xfrm xmlns:a="http://schemas.openxmlformats.org/drawingml/2006/main">
            <a:off x="619125" y="2095500"/>
            <a:ext cx="5334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0">
                <a:solidFill>
                  <a:srgbClr val="123D38"/>
                </a:solidFill>
                <a:latin typeface="Georgia"/>
                <a:ea typeface="Georgia"/>
                <a:cs typeface="Georgia"/>
              </a:defRPr>
            </a:pPr>
            <a:r>
              <a:rPr sz="5700" b="0">
                <a:solidFill>
                  <a:srgbClr val="123D38"/>
                </a:solidFill>
                <a:latin typeface="Georgia"/>
                <a:ea typeface="Georgia"/>
                <a:cs typeface="Georgia"/>
              </a:rPr>
              <a:t>7.2 million</a:t>
            </a:r>
          </a:p>
        </p:txBody>
      </p:sp>
      <p:sp>
        <p:nvSpPr>
          <p:cNvPr id="5" name="">
            <a:extLst xmlns:a="http://schemas.openxmlformats.org/drawingml/2006/main">
              <a:ext uri="{FF2B5EF4-FFF2-40B4-BE49-F238E27FC236}">
                <a16:creationId xmlns:a16="http://schemas.microsoft.com/office/drawing/2014/main" id="{D172594F-34B0-4CE0-BC51-2E2CFEF77B16}"/>
              </a:ext>
            </a:extLst>
          </p:cNvPr>
          <p:cNvSpPr>
            <a:spLocks xmlns:a="http://schemas.openxmlformats.org/drawingml/2006/main" noGrp="1"/>
          </p:cNvSpPr>
          <p:nvPr/>
        </p:nvSpPr>
        <p:spPr>
          <a:xfrm xmlns:a="http://schemas.openxmlformats.org/drawingml/2006/main">
            <a:off x="638175" y="32385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2B"/>
                </a:solidFill>
                <a:latin typeface="Arial"/>
                <a:ea typeface="Arial"/>
                <a:cs typeface="Arial"/>
              </a:defRPr>
            </a:pPr>
            <a:r>
              <a:rPr sz="2025" b="0">
                <a:solidFill>
                  <a:srgbClr val="172E2B"/>
                </a:solidFill>
                <a:latin typeface="Arial"/>
                <a:ea typeface="Arial"/>
                <a:cs typeface="Arial"/>
              </a:rPr>
              <a:t>Affected people</a:t>
            </a:r>
          </a:p>
          <a:p xmlns:a="http://schemas.openxmlformats.org/drawingml/2006/main">
            <a:pPr>
              <a:defRPr sz="2025" b="0">
                <a:solidFill>
                  <a:srgbClr val="172E2B"/>
                </a:solidFill>
                <a:latin typeface="Arial"/>
                <a:ea typeface="Arial"/>
                <a:cs typeface="Arial"/>
              </a:defRPr>
            </a:pPr>
            <a:r>
              <a:rPr sz="2025" b="0">
                <a:solidFill>
                  <a:srgbClr val="172E2B"/>
                </a:solidFill>
                <a:latin typeface="Arial"/>
                <a:ea typeface="Arial"/>
                <a:cs typeface="Arial"/>
              </a:rPr>
              <a:t>June 2022, nine districts</a:t>
            </a:r>
          </a:p>
        </p:txBody>
      </p:sp>
      <p:sp>
        <p:nvSpPr>
          <p:cNvPr id="6" name="">
            <a:extLst xmlns:a="http://schemas.openxmlformats.org/drawingml/2006/main">
              <a:ext uri="{FF2B5EF4-FFF2-40B4-BE49-F238E27FC236}">
                <a16:creationId xmlns:a16="http://schemas.microsoft.com/office/drawing/2014/main" id="{8305FFAE-17CD-4BA2-8657-99B93BE05424}"/>
              </a:ext>
            </a:extLst>
          </p:cNvPr>
          <p:cNvSpPr>
            <a:spLocks xmlns:a="http://schemas.openxmlformats.org/drawingml/2006/main" noGrp="1"/>
          </p:cNvSpPr>
          <p:nvPr/>
        </p:nvSpPr>
        <p:spPr>
          <a:xfrm xmlns:a="http://schemas.openxmlformats.org/drawingml/2006/main">
            <a:off x="6429375" y="2095500"/>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0">
                <a:solidFill>
                  <a:srgbClr val="123D38"/>
                </a:solidFill>
                <a:latin typeface="Georgia"/>
                <a:ea typeface="Georgia"/>
                <a:cs typeface="Georgia"/>
              </a:defRPr>
            </a:pPr>
            <a:r>
              <a:rPr sz="5700" b="0">
                <a:solidFill>
                  <a:srgbClr val="123D38"/>
                </a:solidFill>
                <a:latin typeface="Georgia"/>
                <a:ea typeface="Georgia"/>
                <a:cs typeface="Georgia"/>
              </a:rPr>
              <a:t>3.74 million</a:t>
            </a:r>
          </a:p>
        </p:txBody>
      </p:sp>
      <p:sp>
        <p:nvSpPr>
          <p:cNvPr id="7" name="">
            <a:extLst xmlns:a="http://schemas.openxmlformats.org/drawingml/2006/main">
              <a:ext uri="{FF2B5EF4-FFF2-40B4-BE49-F238E27FC236}">
                <a16:creationId xmlns:a16="http://schemas.microsoft.com/office/drawing/2014/main" id="{F5724897-5175-4C14-B3D7-E551AB968E5A}"/>
              </a:ext>
            </a:extLst>
          </p:cNvPr>
          <p:cNvSpPr>
            <a:spLocks xmlns:a="http://schemas.openxmlformats.org/drawingml/2006/main" noGrp="1"/>
          </p:cNvSpPr>
          <p:nvPr/>
        </p:nvSpPr>
        <p:spPr>
          <a:xfrm xmlns:a="http://schemas.openxmlformats.org/drawingml/2006/main">
            <a:off x="6448425" y="32385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2B"/>
                </a:solidFill>
                <a:latin typeface="Arial"/>
                <a:ea typeface="Arial"/>
                <a:cs typeface="Arial"/>
              </a:defRPr>
            </a:pPr>
            <a:r>
              <a:rPr sz="2025" b="0">
                <a:solidFill>
                  <a:srgbClr val="172E2B"/>
                </a:solidFill>
                <a:latin typeface="Arial"/>
                <a:ea typeface="Arial"/>
                <a:cs typeface="Arial"/>
              </a:rPr>
              <a:t>Affected people</a:t>
            </a:r>
          </a:p>
          <a:p xmlns:a="http://schemas.openxmlformats.org/drawingml/2006/main">
            <a:pPr>
              <a:defRPr sz="2025" b="0">
                <a:solidFill>
                  <a:srgbClr val="172E2B"/>
                </a:solidFill>
                <a:latin typeface="Arial"/>
                <a:ea typeface="Arial"/>
                <a:cs typeface="Arial"/>
              </a:defRPr>
            </a:pPr>
            <a:r>
              <a:rPr sz="2025" b="0">
                <a:solidFill>
                  <a:srgbClr val="172E2B"/>
                </a:solidFill>
                <a:latin typeface="Arial"/>
                <a:ea typeface="Arial"/>
                <a:cs typeface="Arial"/>
              </a:rPr>
              <a:t>June 2024, six districts</a:t>
            </a:r>
          </a:p>
        </p:txBody>
      </p:sp>
      <p:sp>
        <p:nvSpPr>
          <p:cNvPr id="8" name="">
            <a:extLst xmlns:a="http://schemas.openxmlformats.org/drawingml/2006/main">
              <a:ext uri="{FF2B5EF4-FFF2-40B4-BE49-F238E27FC236}">
                <a16:creationId xmlns:a16="http://schemas.microsoft.com/office/drawing/2014/main" id="{DEC6657D-7CE3-4AA7-84DA-70E384DCACC0}"/>
              </a:ext>
            </a:extLst>
          </p:cNvPr>
          <p:cNvSpPr>
            <a:spLocks xmlns:a="http://schemas.openxmlformats.org/drawingml/2006/main" noGrp="1"/>
          </p:cNvSpPr>
          <p:nvPr/>
        </p:nvSpPr>
        <p:spPr>
          <a:xfrm xmlns:a="http://schemas.openxmlformats.org/drawingml/2006/main">
            <a:off x="628650" y="4810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216E75"/>
                </a:solidFill>
                <a:latin typeface="Arial"/>
                <a:ea typeface="Arial"/>
                <a:cs typeface="Arial"/>
              </a:defRPr>
            </a:pPr>
            <a:r>
              <a:rPr sz="2250" b="0">
                <a:solidFill>
                  <a:srgbClr val="216E75"/>
                </a:solidFill>
                <a:latin typeface="Arial"/>
                <a:ea typeface="Arial"/>
                <a:cs typeface="Arial"/>
              </a:rPr>
              <a:t>The product question is how field teams preserve requests,</a:t>
            </a:r>
          </a:p>
          <a:p xmlns:a="http://schemas.openxmlformats.org/drawingml/2006/main">
            <a:pPr>
              <a:defRPr sz="2250" b="0">
                <a:solidFill>
                  <a:srgbClr val="216E75"/>
                </a:solidFill>
                <a:latin typeface="Arial"/>
                <a:ea typeface="Arial"/>
                <a:cs typeface="Arial"/>
              </a:defRPr>
            </a:pPr>
            <a:r>
              <a:rPr sz="2250" b="0">
                <a:solidFill>
                  <a:srgbClr val="216E75"/>
                </a:solidFill>
                <a:latin typeface="Arial"/>
                <a:ea typeface="Arial"/>
                <a:cs typeface="Arial"/>
              </a:rPr>
              <a:t>decisions and delivery records through disconnected periods.</a:t>
            </a:r>
          </a:p>
        </p:txBody>
      </p:sp>
      <p:sp>
        <p:nvSpPr>
          <p:cNvPr id="9" name="">
            <a:extLst xmlns:a="http://schemas.openxmlformats.org/drawingml/2006/main">
              <a:ext uri="{FF2B5EF4-FFF2-40B4-BE49-F238E27FC236}">
                <a16:creationId xmlns:a16="http://schemas.microsoft.com/office/drawing/2014/main" id="{00718925-26CE-46BB-9F64-2A3EDF8570C9}"/>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Sources: UN Bangladesh 2022 response plan and NAWG June 2024 assessment. Event-specific estimates.</a:t>
            </a:r>
          </a:p>
        </p:txBody>
      </p:sp>
    </p:spTree>
    <p:extLst>
      <p:ext uri="{BB962C8B-B14F-4D97-AF65-F5344CB8AC3E}">
        <p14:creationId xmlns:p14="http://schemas.microsoft.com/office/powerpoint/2010/main" val="1448602731"/>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A150BE-F337-4256-8D9D-1F537DE73AC5}"/>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One urgent supply request</a:t>
            </a:r>
          </a:p>
        </p:txBody>
      </p:sp>
      <p:sp>
        <p:nvSpPr>
          <p:cNvPr id="2" name="">
            <a:extLst xmlns:a="http://schemas.openxmlformats.org/drawingml/2006/main">
              <a:ext uri="{FF2B5EF4-FFF2-40B4-BE49-F238E27FC236}">
                <a16:creationId xmlns:a16="http://schemas.microsoft.com/office/drawing/2014/main" id="{628EA528-6C5C-49A1-B4F9-6EE5F497A9EC}"/>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 field phone saves the mission before it attempts transfer.</a:t>
            </a:r>
          </a:p>
        </p:txBody>
      </p:sp>
      <p:sp>
        <p:nvSpPr>
          <p:cNvPr id="3" name="">
            <a:extLst xmlns:a="http://schemas.openxmlformats.org/drawingml/2006/main">
              <a:ext uri="{FF2B5EF4-FFF2-40B4-BE49-F238E27FC236}">
                <a16:creationId xmlns:a16="http://schemas.microsoft.com/office/drawing/2014/main" id="{F17398B5-7191-449B-BFA4-BC64CBD072E0}"/>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C0DF878-350B-4D85-A4ED-AA1DE028BEC3}"/>
              </a:ext>
            </a:extLst>
          </p:cNvPr>
          <p:cNvSpPr>
            <a:spLocks xmlns:a="http://schemas.openxmlformats.org/drawingml/2006/main" noGrp="1"/>
          </p:cNvSpPr>
          <p:nvPr/>
        </p:nvSpPr>
        <p:spPr>
          <a:xfrm xmlns:a="http://schemas.openxmlformats.org/drawingml/2006/main">
            <a:off x="628650" y="2114550"/>
            <a:ext cx="623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Clinic</a:t>
            </a:r>
          </a:p>
        </p:txBody>
      </p:sp>
      <p:sp>
        <p:nvSpPr>
          <p:cNvPr id="5" name="">
            <a:extLst xmlns:a="http://schemas.openxmlformats.org/drawingml/2006/main">
              <a:ext uri="{FF2B5EF4-FFF2-40B4-BE49-F238E27FC236}">
                <a16:creationId xmlns:a16="http://schemas.microsoft.com/office/drawing/2014/main" id="{432CAA5C-4433-4E01-B9BD-BD3DCBA830F9}"/>
              </a:ext>
            </a:extLst>
          </p:cNvPr>
          <p:cNvSpPr>
            <a:spLocks xmlns:a="http://schemas.openxmlformats.org/drawingml/2006/main" noGrp="1"/>
          </p:cNvSpPr>
          <p:nvPr/>
        </p:nvSpPr>
        <p:spPr>
          <a:xfrm xmlns:a="http://schemas.openxmlformats.org/drawingml/2006/main">
            <a:off x="628650" y="2619375"/>
            <a:ext cx="623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Records the need and urgency in a bundled bilingual interface.</a:t>
            </a:r>
          </a:p>
        </p:txBody>
      </p:sp>
      <p:sp>
        <p:nvSpPr>
          <p:cNvPr id="6" name="">
            <a:extLst xmlns:a="http://schemas.openxmlformats.org/drawingml/2006/main">
              <a:ext uri="{FF2B5EF4-FFF2-40B4-BE49-F238E27FC236}">
                <a16:creationId xmlns:a16="http://schemas.microsoft.com/office/drawing/2014/main" id="{E3B620C6-6BD5-48AA-9DB7-C9548019D3D2}"/>
              </a:ext>
            </a:extLst>
          </p:cNvPr>
          <p:cNvSpPr>
            <a:spLocks xmlns:a="http://schemas.openxmlformats.org/drawingml/2006/main" noGrp="1"/>
          </p:cNvSpPr>
          <p:nvPr/>
        </p:nvSpPr>
        <p:spPr>
          <a:xfrm xmlns:a="http://schemas.openxmlformats.org/drawingml/2006/main">
            <a:off x="628650" y="4029075"/>
            <a:ext cx="623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Local record</a:t>
            </a:r>
          </a:p>
        </p:txBody>
      </p:sp>
      <p:sp>
        <p:nvSpPr>
          <p:cNvPr id="7" name="">
            <a:extLst xmlns:a="http://schemas.openxmlformats.org/drawingml/2006/main">
              <a:ext uri="{FF2B5EF4-FFF2-40B4-BE49-F238E27FC236}">
                <a16:creationId xmlns:a16="http://schemas.microsoft.com/office/drawing/2014/main" id="{84BED761-71C0-4C30-B42B-94AE2CAD5F3C}"/>
              </a:ext>
            </a:extLst>
          </p:cNvPr>
          <p:cNvSpPr>
            <a:spLocks xmlns:a="http://schemas.openxmlformats.org/drawingml/2006/main" noGrp="1"/>
          </p:cNvSpPr>
          <p:nvPr/>
        </p:nvSpPr>
        <p:spPr>
          <a:xfrm xmlns:a="http://schemas.openxmlformats.org/drawingml/2006/main">
            <a:off x="628650" y="4533900"/>
            <a:ext cx="623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Keeps the request and encrypted envelope through disconnection.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d12d8879a644649"/>
          <a:stretch xmlns:a="http://schemas.openxmlformats.org/drawingml/2006/main"/>
        </p:blipFill>
        <p:spPr>
          <a:xfrm xmlns:a="http://schemas.openxmlformats.org/drawingml/2006/main">
            <a:off x="8389270" y="1876425"/>
            <a:ext cx="1938084" cy="4324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B1051D2-571B-45A6-A4E7-90E08AC5E238}"/>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app capture. Mission data is simulated. A queued request is not a confirmed delivery.</a:t>
            </a:r>
          </a:p>
        </p:txBody>
      </p:sp>
    </p:spTree>
    <p:extLst>
      <p:ext uri="{BB962C8B-B14F-4D97-AF65-F5344CB8AC3E}">
        <p14:creationId xmlns:p14="http://schemas.microsoft.com/office/powerpoint/2010/main" val="1491237352"/>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79BB49-5180-4C2C-AB06-A751B30C88F1}"/>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Delta Command</a:t>
            </a:r>
          </a:p>
        </p:txBody>
      </p:sp>
      <p:sp>
        <p:nvSpPr>
          <p:cNvPr id="2" name="">
            <a:extLst xmlns:a="http://schemas.openxmlformats.org/drawingml/2006/main">
              <a:ext uri="{FF2B5EF4-FFF2-40B4-BE49-F238E27FC236}">
                <a16:creationId xmlns:a16="http://schemas.microsoft.com/office/drawing/2014/main" id="{A0F39328-5106-4C31-A55D-F96B3C798C22}"/>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 local observer makes the mission visible on the projector.</a:t>
            </a:r>
          </a:p>
        </p:txBody>
      </p:sp>
      <p:sp>
        <p:nvSpPr>
          <p:cNvPr id="3" name="">
            <a:extLst xmlns:a="http://schemas.openxmlformats.org/drawingml/2006/main">
              <a:ext uri="{FF2B5EF4-FFF2-40B4-BE49-F238E27FC236}">
                <a16:creationId xmlns:a16="http://schemas.microsoft.com/office/drawing/2014/main" id="{F7FF658E-E79E-4B00-9D1B-6E402A5C07AA}"/>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854d3a6c5e44661"/>
          <a:stretch xmlns:a="http://schemas.openxmlformats.org/drawingml/2006/main"/>
        </p:blipFill>
        <p:spPr>
          <a:xfrm xmlns:a="http://schemas.openxmlformats.org/drawingml/2006/main">
            <a:off x="2286000" y="1762125"/>
            <a:ext cx="7620000" cy="428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27A22BF-F63D-4F1A-83CF-1C74A675448C}"/>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1920 × 1080 capture. OpenStreetMap contributors. Field operations do not depend on this view.</a:t>
            </a:r>
          </a:p>
        </p:txBody>
      </p:sp>
    </p:spTree>
    <p:extLst>
      <p:ext uri="{BB962C8B-B14F-4D97-AF65-F5344CB8AC3E}">
        <p14:creationId xmlns:p14="http://schemas.microsoft.com/office/powerpoint/2010/main" val="1542739881"/>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48A032-9DE2-43B5-9D6D-202B5EE222BE}"/>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Bangla and English together</a:t>
            </a:r>
          </a:p>
        </p:txBody>
      </p:sp>
      <p:sp>
        <p:nvSpPr>
          <p:cNvPr id="2" name="">
            <a:extLst xmlns:a="http://schemas.openxmlformats.org/drawingml/2006/main">
              <a:ext uri="{FF2B5EF4-FFF2-40B4-BE49-F238E27FC236}">
                <a16:creationId xmlns:a16="http://schemas.microsoft.com/office/drawing/2014/main" id="{DDBA8102-22D3-4FAB-9174-4A6DB572033B}"/>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Language changes the display while the mission state remains the same.</a:t>
            </a:r>
          </a:p>
        </p:txBody>
      </p:sp>
      <p:sp>
        <p:nvSpPr>
          <p:cNvPr id="3" name="">
            <a:extLst xmlns:a="http://schemas.openxmlformats.org/drawingml/2006/main">
              <a:ext uri="{FF2B5EF4-FFF2-40B4-BE49-F238E27FC236}">
                <a16:creationId xmlns:a16="http://schemas.microsoft.com/office/drawing/2014/main" id="{DC8498F7-BE4A-49C1-A9E0-154106C6D70A}"/>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E4D9809-C8C4-4DBD-AB6B-3EDAACB58EE1}"/>
              </a:ext>
            </a:extLst>
          </p:cNvPr>
          <p:cNvSpPr>
            <a:spLocks xmlns:a="http://schemas.openxmlformats.org/drawingml/2006/main" noGrp="1"/>
          </p:cNvSpPr>
          <p:nvPr/>
        </p:nvSpPr>
        <p:spPr>
          <a:xfrm xmlns:a="http://schemas.openxmlformats.org/drawingml/2006/main">
            <a:off x="628650" y="242887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23D38"/>
                </a:solidFill>
                <a:latin typeface="Arial"/>
                <a:ea typeface="Arial"/>
                <a:cs typeface="Arial"/>
              </a:defRPr>
            </a:pPr>
            <a:r>
              <a:rPr sz="2250" b="1">
                <a:solidFill>
                  <a:srgbClr val="123D38"/>
                </a:solidFill>
                <a:latin typeface="Arial"/>
                <a:ea typeface="Arial"/>
                <a:cs typeface="Arial"/>
              </a:rPr>
              <a:t>Bundled language choice</a:t>
            </a:r>
          </a:p>
        </p:txBody>
      </p:sp>
      <p:sp>
        <p:nvSpPr>
          <p:cNvPr id="5" name="">
            <a:extLst xmlns:a="http://schemas.openxmlformats.org/drawingml/2006/main">
              <a:ext uri="{FF2B5EF4-FFF2-40B4-BE49-F238E27FC236}">
                <a16:creationId xmlns:a16="http://schemas.microsoft.com/office/drawing/2014/main" id="{3FD23E75-51BA-4D3B-8E31-D743A3B64DC5}"/>
              </a:ext>
            </a:extLst>
          </p:cNvPr>
          <p:cNvSpPr>
            <a:spLocks xmlns:a="http://schemas.openxmlformats.org/drawingml/2006/main" noGrp="1"/>
          </p:cNvSpPr>
          <p:nvPr/>
        </p:nvSpPr>
        <p:spPr>
          <a:xfrm xmlns:a="http://schemas.openxmlformats.org/drawingml/2006/main">
            <a:off x="628650" y="3114675"/>
            <a:ext cx="5334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No language-pack download.</a:t>
            </a:r>
          </a:p>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No mission reset when switching.</a:t>
            </a:r>
          </a:p>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Equivalent field responsibilities.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4883d8045d47c5"/>
          <a:stretch xmlns:a="http://schemas.openxmlformats.org/drawingml/2006/main"/>
        </p:blipFill>
        <p:spPr>
          <a:xfrm xmlns:a="http://schemas.openxmlformats.org/drawingml/2006/main">
            <a:off x="6624184" y="1943100"/>
            <a:ext cx="1886857" cy="42100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e4835c9dec4a5d"/>
          <a:stretch xmlns:a="http://schemas.openxmlformats.org/drawingml/2006/main"/>
        </p:blipFill>
        <p:spPr>
          <a:xfrm xmlns:a="http://schemas.openxmlformats.org/drawingml/2006/main">
            <a:off x="9224509" y="1943100"/>
            <a:ext cx="1886857" cy="4210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8AD82C5-3674-4BE8-86E2-39BCD1C3E69F}"/>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app captures. Human accessibility review remains an open gate.</a:t>
            </a:r>
          </a:p>
        </p:txBody>
      </p:sp>
    </p:spTree>
    <p:extLst>
      <p:ext uri="{BB962C8B-B14F-4D97-AF65-F5344CB8AC3E}">
        <p14:creationId xmlns:p14="http://schemas.microsoft.com/office/powerpoint/2010/main" val="612208206"/>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2E93963-14F0-402B-96F0-7FA625471991}"/>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Field phones own the workflow</a:t>
            </a:r>
          </a:p>
        </p:txBody>
      </p:sp>
      <p:sp>
        <p:nvSpPr>
          <p:cNvPr id="2" name="">
            <a:extLst xmlns:a="http://schemas.openxmlformats.org/drawingml/2006/main">
              <a:ext uri="{FF2B5EF4-FFF2-40B4-BE49-F238E27FC236}">
                <a16:creationId xmlns:a16="http://schemas.microsoft.com/office/drawing/2014/main" id="{A659B756-2BA3-461C-9621-B6891B1DDEA3}"/>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Encrypted Protobuf moves between peers. Observation is optional.</a:t>
            </a:r>
          </a:p>
        </p:txBody>
      </p:sp>
      <p:sp>
        <p:nvSpPr>
          <p:cNvPr id="3" name="">
            <a:extLst xmlns:a="http://schemas.openxmlformats.org/drawingml/2006/main">
              <a:ext uri="{FF2B5EF4-FFF2-40B4-BE49-F238E27FC236}">
                <a16:creationId xmlns:a16="http://schemas.microsoft.com/office/drawing/2014/main" id="{23388919-348C-447F-9680-1EF87841F9DE}"/>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A5C19F4-A8E8-433F-8F0D-01B5A25DCE27}"/>
              </a:ext>
            </a:extLst>
          </p:cNvPr>
          <p:cNvSpPr>
            <a:spLocks xmlns:a="http://schemas.openxmlformats.org/drawingml/2006/main" noGrp="1"/>
          </p:cNvSpPr>
          <p:nvPr/>
        </p:nvSpPr>
        <p:spPr>
          <a:xfrm xmlns:a="http://schemas.openxmlformats.org/drawingml/2006/main">
            <a:off x="1162050" y="2064544"/>
            <a:ext cx="2671763" cy="1214438"/>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5" name="">
            <a:extLst xmlns:a="http://schemas.openxmlformats.org/drawingml/2006/main">
              <a:ext uri="{FF2B5EF4-FFF2-40B4-BE49-F238E27FC236}">
                <a16:creationId xmlns:a16="http://schemas.microsoft.com/office/drawing/2014/main" id="{F1928F43-6C01-470F-8B24-157E8D375687}"/>
              </a:ext>
            </a:extLst>
          </p:cNvPr>
          <p:cNvSpPr>
            <a:spLocks xmlns:a="http://schemas.openxmlformats.org/drawingml/2006/main" noGrp="1"/>
          </p:cNvSpPr>
          <p:nvPr/>
        </p:nvSpPr>
        <p:spPr>
          <a:xfrm xmlns:a="http://schemas.openxmlformats.org/drawingml/2006/main">
            <a:off x="1243013" y="2202180"/>
            <a:ext cx="2509838" cy="275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6" b="1">
                <a:solidFill>
                  <a:srgbClr val="123D38"/>
                </a:solidFill>
                <a:latin typeface="Arial"/>
                <a:ea typeface="Arial"/>
                <a:cs typeface="Arial"/>
              </a:defRPr>
            </a:pPr>
            <a:r>
              <a:rPr sz="1466" b="1">
                <a:solidFill>
                  <a:srgbClr val="123D38"/>
                </a:solidFill>
                <a:latin typeface="Arial"/>
                <a:ea typeface="Arial"/>
                <a:cs typeface="Arial"/>
              </a:rPr>
              <a:t>Clinic phone</a:t>
            </a:r>
          </a:p>
        </p:txBody>
      </p:sp>
      <p:sp>
        <p:nvSpPr>
          <p:cNvPr id="6" name="">
            <a:extLst xmlns:a="http://schemas.openxmlformats.org/drawingml/2006/main">
              <a:ext uri="{FF2B5EF4-FFF2-40B4-BE49-F238E27FC236}">
                <a16:creationId xmlns:a16="http://schemas.microsoft.com/office/drawing/2014/main" id="{5B288FB8-63FE-4EA0-A8BD-31C76954A884}"/>
              </a:ext>
            </a:extLst>
          </p:cNvPr>
          <p:cNvSpPr>
            <a:spLocks xmlns:a="http://schemas.openxmlformats.org/drawingml/2006/main" noGrp="1"/>
          </p:cNvSpPr>
          <p:nvPr/>
        </p:nvSpPr>
        <p:spPr>
          <a:xfrm xmlns:a="http://schemas.openxmlformats.org/drawingml/2006/main">
            <a:off x="1243013" y="2501741"/>
            <a:ext cx="250983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Room record</a:t>
            </a:r>
          </a:p>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Identity and local rules</a:t>
            </a:r>
          </a:p>
        </p:txBody>
      </p:sp>
      <p:sp>
        <p:nvSpPr>
          <p:cNvPr id="7" name="">
            <a:extLst xmlns:a="http://schemas.openxmlformats.org/drawingml/2006/main">
              <a:ext uri="{FF2B5EF4-FFF2-40B4-BE49-F238E27FC236}">
                <a16:creationId xmlns:a16="http://schemas.microsoft.com/office/drawing/2014/main" id="{FD3A5773-89CF-4532-8F8E-2088D90828E3}"/>
              </a:ext>
            </a:extLst>
          </p:cNvPr>
          <p:cNvSpPr>
            <a:spLocks xmlns:a="http://schemas.openxmlformats.org/drawingml/2006/main" noGrp="1"/>
          </p:cNvSpPr>
          <p:nvPr/>
        </p:nvSpPr>
        <p:spPr>
          <a:xfrm xmlns:a="http://schemas.openxmlformats.org/drawingml/2006/main">
            <a:off x="4360069" y="2064544"/>
            <a:ext cx="2671763" cy="1214438"/>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8" name="">
            <a:extLst xmlns:a="http://schemas.openxmlformats.org/drawingml/2006/main">
              <a:ext uri="{FF2B5EF4-FFF2-40B4-BE49-F238E27FC236}">
                <a16:creationId xmlns:a16="http://schemas.microsoft.com/office/drawing/2014/main" id="{FA895F9F-4A85-471F-986F-9568B2C9B719}"/>
              </a:ext>
            </a:extLst>
          </p:cNvPr>
          <p:cNvSpPr>
            <a:spLocks xmlns:a="http://schemas.openxmlformats.org/drawingml/2006/main" noGrp="1"/>
          </p:cNvSpPr>
          <p:nvPr/>
        </p:nvSpPr>
        <p:spPr>
          <a:xfrm xmlns:a="http://schemas.openxmlformats.org/drawingml/2006/main">
            <a:off x="4441031" y="2202180"/>
            <a:ext cx="2509838" cy="275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6" b="1">
                <a:solidFill>
                  <a:srgbClr val="123D38"/>
                </a:solidFill>
                <a:latin typeface="Arial"/>
                <a:ea typeface="Arial"/>
                <a:cs typeface="Arial"/>
              </a:defRPr>
            </a:pPr>
            <a:r>
              <a:rPr sz="1466" b="1">
                <a:solidFill>
                  <a:srgbClr val="123D38"/>
                </a:solidFill>
                <a:latin typeface="Arial"/>
                <a:ea typeface="Arial"/>
                <a:cs typeface="Arial"/>
              </a:rPr>
              <a:t>Relay phone</a:t>
            </a:r>
          </a:p>
        </p:txBody>
      </p:sp>
      <p:sp>
        <p:nvSpPr>
          <p:cNvPr id="9" name="">
            <a:extLst xmlns:a="http://schemas.openxmlformats.org/drawingml/2006/main">
              <a:ext uri="{FF2B5EF4-FFF2-40B4-BE49-F238E27FC236}">
                <a16:creationId xmlns:a16="http://schemas.microsoft.com/office/drawing/2014/main" id="{722F6AF8-220A-47AA-8674-D9FFE9EC38B0}"/>
              </a:ext>
            </a:extLst>
          </p:cNvPr>
          <p:cNvSpPr>
            <a:spLocks xmlns:a="http://schemas.openxmlformats.org/drawingml/2006/main" noGrp="1"/>
          </p:cNvSpPr>
          <p:nvPr/>
        </p:nvSpPr>
        <p:spPr>
          <a:xfrm xmlns:a="http://schemas.openxmlformats.org/drawingml/2006/main">
            <a:off x="4441031" y="2501741"/>
            <a:ext cx="250983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Durable encrypted queue</a:t>
            </a:r>
          </a:p>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No payload decryption</a:t>
            </a:r>
          </a:p>
        </p:txBody>
      </p:sp>
      <p:sp>
        <p:nvSpPr>
          <p:cNvPr id="10" name="">
            <a:extLst xmlns:a="http://schemas.openxmlformats.org/drawingml/2006/main">
              <a:ext uri="{FF2B5EF4-FFF2-40B4-BE49-F238E27FC236}">
                <a16:creationId xmlns:a16="http://schemas.microsoft.com/office/drawing/2014/main" id="{EEB88B0B-C52A-43C7-9D98-3B1F7CA3330F}"/>
              </a:ext>
            </a:extLst>
          </p:cNvPr>
          <p:cNvSpPr>
            <a:spLocks xmlns:a="http://schemas.openxmlformats.org/drawingml/2006/main" noGrp="1"/>
          </p:cNvSpPr>
          <p:nvPr/>
        </p:nvSpPr>
        <p:spPr>
          <a:xfrm xmlns:a="http://schemas.openxmlformats.org/drawingml/2006/main">
            <a:off x="7558088" y="2064544"/>
            <a:ext cx="2671763" cy="1214438"/>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1" name="">
            <a:extLst xmlns:a="http://schemas.openxmlformats.org/drawingml/2006/main">
              <a:ext uri="{FF2B5EF4-FFF2-40B4-BE49-F238E27FC236}">
                <a16:creationId xmlns:a16="http://schemas.microsoft.com/office/drawing/2014/main" id="{FF250591-9F8A-43B0-BFCE-79BE4F710E49}"/>
              </a:ext>
            </a:extLst>
          </p:cNvPr>
          <p:cNvSpPr>
            <a:spLocks xmlns:a="http://schemas.openxmlformats.org/drawingml/2006/main" noGrp="1"/>
          </p:cNvSpPr>
          <p:nvPr/>
        </p:nvSpPr>
        <p:spPr>
          <a:xfrm xmlns:a="http://schemas.openxmlformats.org/drawingml/2006/main">
            <a:off x="7639050" y="2202180"/>
            <a:ext cx="2509838" cy="275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6" b="1">
                <a:solidFill>
                  <a:srgbClr val="123D38"/>
                </a:solidFill>
                <a:latin typeface="Arial"/>
                <a:ea typeface="Arial"/>
                <a:cs typeface="Arial"/>
              </a:defRPr>
            </a:pPr>
            <a:r>
              <a:rPr sz="1466" b="1">
                <a:solidFill>
                  <a:srgbClr val="123D38"/>
                </a:solidFill>
                <a:latin typeface="Arial"/>
                <a:ea typeface="Arial"/>
                <a:cs typeface="Arial"/>
              </a:rPr>
              <a:t>Recipient phone</a:t>
            </a:r>
          </a:p>
        </p:txBody>
      </p:sp>
      <p:sp>
        <p:nvSpPr>
          <p:cNvPr id="12" name="">
            <a:extLst xmlns:a="http://schemas.openxmlformats.org/drawingml/2006/main">
              <a:ext uri="{FF2B5EF4-FFF2-40B4-BE49-F238E27FC236}">
                <a16:creationId xmlns:a16="http://schemas.microsoft.com/office/drawing/2014/main" id="{65E75D99-59A6-4E0F-B26E-780455CA3931}"/>
              </a:ext>
            </a:extLst>
          </p:cNvPr>
          <p:cNvSpPr>
            <a:spLocks xmlns:a="http://schemas.openxmlformats.org/drawingml/2006/main" noGrp="1"/>
          </p:cNvSpPr>
          <p:nvPr/>
        </p:nvSpPr>
        <p:spPr>
          <a:xfrm xmlns:a="http://schemas.openxmlformats.org/drawingml/2006/main">
            <a:off x="7639050" y="2501741"/>
            <a:ext cx="250983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Verification and local routes</a:t>
            </a:r>
          </a:p>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Signed custody</a:t>
            </a:r>
          </a:p>
        </p:txBody>
      </p:sp>
      <p:sp>
        <p:nvSpPr>
          <p:cNvPr id="13" name="">
            <a:extLst xmlns:a="http://schemas.openxmlformats.org/drawingml/2006/main">
              <a:ext uri="{FF2B5EF4-FFF2-40B4-BE49-F238E27FC236}">
                <a16:creationId xmlns:a16="http://schemas.microsoft.com/office/drawing/2014/main" id="{48C8B587-F9EA-40D7-B006-1B4FA7E94FFD}"/>
              </a:ext>
            </a:extLst>
          </p:cNvPr>
          <p:cNvSpPr>
            <a:spLocks xmlns:a="http://schemas.openxmlformats.org/drawingml/2006/main" noGrp="1"/>
          </p:cNvSpPr>
          <p:nvPr/>
        </p:nvSpPr>
        <p:spPr>
          <a:xfrm xmlns:a="http://schemas.openxmlformats.org/drawingml/2006/main">
            <a:off x="2781300" y="4533900"/>
            <a:ext cx="2914650" cy="1052513"/>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4" name="">
            <a:extLst xmlns:a="http://schemas.openxmlformats.org/drawingml/2006/main">
              <a:ext uri="{FF2B5EF4-FFF2-40B4-BE49-F238E27FC236}">
                <a16:creationId xmlns:a16="http://schemas.microsoft.com/office/drawing/2014/main" id="{3030C6A6-6B2E-443B-B77E-8607F80D2472}"/>
              </a:ext>
            </a:extLst>
          </p:cNvPr>
          <p:cNvSpPr>
            <a:spLocks xmlns:a="http://schemas.openxmlformats.org/drawingml/2006/main" noGrp="1"/>
          </p:cNvSpPr>
          <p:nvPr/>
        </p:nvSpPr>
        <p:spPr>
          <a:xfrm xmlns:a="http://schemas.openxmlformats.org/drawingml/2006/main">
            <a:off x="2862263" y="4671536"/>
            <a:ext cx="2752725" cy="275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6" b="1">
                <a:solidFill>
                  <a:srgbClr val="123D38"/>
                </a:solidFill>
                <a:latin typeface="Arial"/>
                <a:ea typeface="Arial"/>
                <a:cs typeface="Arial"/>
              </a:defRPr>
            </a:pPr>
            <a:r>
              <a:rPr sz="1466" b="1">
                <a:solidFill>
                  <a:srgbClr val="123D38"/>
                </a:solidFill>
                <a:latin typeface="Arial"/>
                <a:ea typeface="Arial"/>
                <a:cs typeface="Arial"/>
              </a:rPr>
              <a:t>Local observer</a:t>
            </a:r>
          </a:p>
        </p:txBody>
      </p:sp>
      <p:sp>
        <p:nvSpPr>
          <p:cNvPr id="15" name="">
            <a:extLst xmlns:a="http://schemas.openxmlformats.org/drawingml/2006/main">
              <a:ext uri="{FF2B5EF4-FFF2-40B4-BE49-F238E27FC236}">
                <a16:creationId xmlns:a16="http://schemas.microsoft.com/office/drawing/2014/main" id="{637997D8-F486-4DF8-81A5-AD089F2294DF}"/>
              </a:ext>
            </a:extLst>
          </p:cNvPr>
          <p:cNvSpPr>
            <a:spLocks xmlns:a="http://schemas.openxmlformats.org/drawingml/2006/main" noGrp="1"/>
          </p:cNvSpPr>
          <p:nvPr/>
        </p:nvSpPr>
        <p:spPr>
          <a:xfrm xmlns:a="http://schemas.openxmlformats.org/drawingml/2006/main">
            <a:off x="2862263" y="4971098"/>
            <a:ext cx="2752725" cy="615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Go event log and Next.js</a:t>
            </a:r>
          </a:p>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Optional laptop projection</a:t>
            </a:r>
          </a:p>
        </p:txBody>
      </p:sp>
      <p:sp>
        <p:nvSpPr>
          <p:cNvPr id="16" name="">
            <a:extLst xmlns:a="http://schemas.openxmlformats.org/drawingml/2006/main">
              <a:ext uri="{FF2B5EF4-FFF2-40B4-BE49-F238E27FC236}">
                <a16:creationId xmlns:a16="http://schemas.microsoft.com/office/drawing/2014/main" id="{FE15371A-4972-445F-8FC6-1AE6338F3245}"/>
              </a:ext>
            </a:extLst>
          </p:cNvPr>
          <p:cNvSpPr>
            <a:spLocks xmlns:a="http://schemas.openxmlformats.org/drawingml/2006/main" noGrp="1"/>
          </p:cNvSpPr>
          <p:nvPr/>
        </p:nvSpPr>
        <p:spPr>
          <a:xfrm xmlns:a="http://schemas.openxmlformats.org/drawingml/2006/main">
            <a:off x="6748463" y="4533900"/>
            <a:ext cx="2914650" cy="1052513"/>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7" name="">
            <a:extLst xmlns:a="http://schemas.openxmlformats.org/drawingml/2006/main">
              <a:ext uri="{FF2B5EF4-FFF2-40B4-BE49-F238E27FC236}">
                <a16:creationId xmlns:a16="http://schemas.microsoft.com/office/drawing/2014/main" id="{15768B4B-EFDF-485B-AFDD-B11025DA37C1}"/>
              </a:ext>
            </a:extLst>
          </p:cNvPr>
          <p:cNvSpPr>
            <a:spLocks xmlns:a="http://schemas.openxmlformats.org/drawingml/2006/main" noGrp="1"/>
          </p:cNvSpPr>
          <p:nvPr/>
        </p:nvSpPr>
        <p:spPr>
          <a:xfrm xmlns:a="http://schemas.openxmlformats.org/drawingml/2006/main">
            <a:off x="6829425" y="4671536"/>
            <a:ext cx="2752725" cy="275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66" b="1">
                <a:solidFill>
                  <a:srgbClr val="123D38"/>
                </a:solidFill>
                <a:latin typeface="Arial"/>
                <a:ea typeface="Arial"/>
                <a:cs typeface="Arial"/>
              </a:defRPr>
            </a:pPr>
            <a:r>
              <a:rPr sz="1466" b="1">
                <a:solidFill>
                  <a:srgbClr val="123D38"/>
                </a:solidFill>
                <a:latin typeface="Arial"/>
                <a:ea typeface="Arial"/>
                <a:cs typeface="Arial"/>
              </a:rPr>
              <a:t>Public presentation</a:t>
            </a:r>
          </a:p>
        </p:txBody>
      </p:sp>
      <p:sp>
        <p:nvSpPr>
          <p:cNvPr id="18" name="">
            <a:extLst xmlns:a="http://schemas.openxmlformats.org/drawingml/2006/main">
              <a:ext uri="{FF2B5EF4-FFF2-40B4-BE49-F238E27FC236}">
                <a16:creationId xmlns:a16="http://schemas.microsoft.com/office/drawing/2014/main" id="{B2BBF205-542D-4C8A-A3B5-071A32373071}"/>
              </a:ext>
            </a:extLst>
          </p:cNvPr>
          <p:cNvSpPr>
            <a:spLocks xmlns:a="http://schemas.openxmlformats.org/drawingml/2006/main" noGrp="1"/>
          </p:cNvSpPr>
          <p:nvPr/>
        </p:nvSpPr>
        <p:spPr>
          <a:xfrm xmlns:a="http://schemas.openxmlformats.org/drawingml/2006/main">
            <a:off x="6829425" y="4971098"/>
            <a:ext cx="2752725" cy="615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Vercel and sanitized D1</a:t>
            </a:r>
          </a:p>
          <a:p xmlns:a="http://schemas.openxmlformats.org/drawingml/2006/main">
            <a:pPr>
              <a:defRPr sz="1275" b="0">
                <a:solidFill>
                  <a:srgbClr val="172E2B"/>
                </a:solidFill>
                <a:latin typeface="Arial"/>
                <a:ea typeface="Arial"/>
                <a:cs typeface="Arial"/>
              </a:defRPr>
            </a:pPr>
            <a:r>
              <a:rPr sz="1275" b="0">
                <a:solidFill>
                  <a:srgbClr val="172E2B"/>
                </a:solidFill>
                <a:latin typeface="Arial"/>
                <a:ea typeface="Arial"/>
                <a:cs typeface="Arial"/>
              </a:rPr>
              <a:t>Optional non-authoritative view</a:t>
            </a:r>
          </a:p>
        </p:txBody>
      </p:sp>
      <p:cxnSp>
        <p:nvCxnSpPr>
          <p:cNvPr id="44" name=""/>
          <p:cNvCxnSpPr>
            <a:stCxn xmlns:a="http://schemas.openxmlformats.org/drawingml/2006/main" id="4" idx="3"/>
            <a:endCxn xmlns:a="http://schemas.openxmlformats.org/drawingml/2006/main" id="7" idx="1"/>
          </p:cNvCxnSpPr>
          <p:nvPr/>
        </p:nvCxnSpPr>
        <p:spPr>
          <a:xfrm xmlns:a="http://schemas.openxmlformats.org/drawingml/2006/main">
            <a:off x="3833813" y="2671763"/>
            <a:ext cx="526256" cy="0"/>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7031832" y="2671763"/>
            <a:ext cx="526256" cy="0"/>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cxnSp>
        <p:nvCxnSpPr>
          <p:cNvPr id="46" name=""/>
          <p:cNvCxnSpPr>
            <a:stCxn xmlns:a="http://schemas.openxmlformats.org/drawingml/2006/main" id="7" idx="2"/>
            <a:endCxn xmlns:a="http://schemas.openxmlformats.org/drawingml/2006/main" id="13" idx="0"/>
          </p:cNvCxnSpPr>
          <p:nvPr/>
        </p:nvCxnSpPr>
        <p:spPr>
          <a:xfrm xmlns:a="http://schemas.openxmlformats.org/drawingml/2006/main" flipH="1">
            <a:off x="4238625" y="3278982"/>
            <a:ext cx="1457326" cy="1254918"/>
          </a:xfrm>
          <a:prstGeom xmlns:a="http://schemas.openxmlformats.org/drawingml/2006/main" prst="bentConnector4">
            <a:avLst>
              <a:gd name="adj1" fmla="val 0"/>
              <a:gd name="adj2" fmla="val 50000"/>
            </a:avLst>
          </a:prstGeom>
          <a:ln xmlns:a="http://schemas.openxmlformats.org/drawingml/2006/main" w="19050">
            <a:solidFill>
              <a:srgbClr val="216E75"/>
            </a:solidFill>
            <a:prstDash val="dash"/>
            <a:tailEnd type="arrow" w="med" len="med"/>
          </a:ln>
        </p:spPr>
      </p:cxnSp>
      <p:cxnSp>
        <p:nvCxnSpPr>
          <p:cNvPr id="47" name=""/>
          <p:cNvCxnSpPr>
            <a:stCxn xmlns:a="http://schemas.openxmlformats.org/drawingml/2006/main" id="13" idx="3"/>
            <a:endCxn xmlns:a="http://schemas.openxmlformats.org/drawingml/2006/main" id="16" idx="1"/>
          </p:cNvCxnSpPr>
          <p:nvPr/>
        </p:nvCxnSpPr>
        <p:spPr>
          <a:xfrm xmlns:a="http://schemas.openxmlformats.org/drawingml/2006/main">
            <a:off x="5695950" y="5060157"/>
            <a:ext cx="1052513" cy="0"/>
          </a:xfrm>
          <a:prstGeom xmlns:a="http://schemas.openxmlformats.org/drawingml/2006/main" prst="straightConnector1">
            <a:avLst/>
          </a:prstGeom>
          <a:ln xmlns:a="http://schemas.openxmlformats.org/drawingml/2006/main" w="19050">
            <a:solidFill>
              <a:srgbClr val="216E75"/>
            </a:solidFill>
            <a:prstDash val="dash"/>
            <a:tailEnd type="arrow" w="med" len="med"/>
          </a:ln>
        </p:spPr>
      </p:cxnSp>
      <p:sp>
        <p:nvSpPr>
          <p:cNvPr id="23" name="">
            <a:extLst xmlns:a="http://schemas.openxmlformats.org/drawingml/2006/main">
              <a:ext uri="{FF2B5EF4-FFF2-40B4-BE49-F238E27FC236}">
                <a16:creationId xmlns:a16="http://schemas.microsoft.com/office/drawing/2014/main" id="{FFBEB265-0F47-4FD1-8934-9D3EAD70D83A}"/>
              </a:ext>
            </a:extLst>
          </p:cNvPr>
          <p:cNvSpPr>
            <a:spLocks xmlns:a="http://schemas.openxmlformats.org/drawingml/2006/main" noGrp="1"/>
          </p:cNvSpPr>
          <p:nvPr/>
        </p:nvSpPr>
        <p:spPr>
          <a:xfrm xmlns:a="http://schemas.openxmlformats.org/drawingml/2006/main">
            <a:off x="4400550" y="184594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48" b="0">
                <a:solidFill>
                  <a:srgbClr val="216E75"/>
                </a:solidFill>
                <a:latin typeface="Arial"/>
                <a:ea typeface="Arial"/>
                <a:cs typeface="Arial"/>
              </a:defRPr>
            </a:pPr>
            <a:r>
              <a:rPr sz="1148" b="0">
                <a:solidFill>
                  <a:srgbClr val="216E75"/>
                </a:solidFill>
                <a:latin typeface="Arial"/>
                <a:ea typeface="Arial"/>
                <a:cs typeface="Arial"/>
              </a:rPr>
              <a:t>Nearby framed Protobuf</a:t>
            </a:r>
          </a:p>
        </p:txBody>
      </p:sp>
      <p:sp>
        <p:nvSpPr>
          <p:cNvPr id="24" name="">
            <a:extLst xmlns:a="http://schemas.openxmlformats.org/drawingml/2006/main">
              <a:ext uri="{FF2B5EF4-FFF2-40B4-BE49-F238E27FC236}">
                <a16:creationId xmlns:a16="http://schemas.microsoft.com/office/drawing/2014/main" id="{5428F976-B2A0-4CBF-8999-8756DE30E644}"/>
              </a:ext>
            </a:extLst>
          </p:cNvPr>
          <p:cNvSpPr>
            <a:spLocks xmlns:a="http://schemas.openxmlformats.org/drawingml/2006/main" noGrp="1"/>
          </p:cNvSpPr>
          <p:nvPr/>
        </p:nvSpPr>
        <p:spPr>
          <a:xfrm xmlns:a="http://schemas.openxmlformats.org/drawingml/2006/main">
            <a:off x="4279106" y="4007644"/>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48" b="0">
                <a:solidFill>
                  <a:srgbClr val="216E75"/>
                </a:solidFill>
                <a:latin typeface="Arial"/>
                <a:ea typeface="Arial"/>
                <a:cs typeface="Arial"/>
              </a:defRPr>
            </a:pPr>
            <a:r>
              <a:rPr sz="1148" b="0">
                <a:solidFill>
                  <a:srgbClr val="216E75"/>
                </a:solidFill>
                <a:latin typeface="Arial"/>
                <a:ea typeface="Arial"/>
                <a:cs typeface="Arial"/>
              </a:rPr>
              <a:t>Optional observation only</a:t>
            </a:r>
          </a:p>
        </p:txBody>
      </p:sp>
      <p:sp>
        <p:nvSpPr>
          <p:cNvPr id="25" name="">
            <a:extLst xmlns:a="http://schemas.openxmlformats.org/drawingml/2006/main">
              <a:ext uri="{FF2B5EF4-FFF2-40B4-BE49-F238E27FC236}">
                <a16:creationId xmlns:a16="http://schemas.microsoft.com/office/drawing/2014/main" id="{DAB137E1-9AEE-4E77-835F-E872B8EBCF9B}"/>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Solid links: field message path. Dashed links: optional observation. Vercel and D1 never own field authority.</a:t>
            </a:r>
          </a:p>
        </p:txBody>
      </p:sp>
    </p:spTree>
    <p:extLst>
      <p:ext uri="{BB962C8B-B14F-4D97-AF65-F5344CB8AC3E}">
        <p14:creationId xmlns:p14="http://schemas.microsoft.com/office/powerpoint/2010/main" val="1119852921"/>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4CF695-BD6B-4F4A-932C-CA9205F82204}"/>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Store carry and forward</a:t>
            </a:r>
          </a:p>
        </p:txBody>
      </p:sp>
      <p:sp>
        <p:nvSpPr>
          <p:cNvPr id="2" name="">
            <a:extLst xmlns:a="http://schemas.openxmlformats.org/drawingml/2006/main">
              <a:ext uri="{FF2B5EF4-FFF2-40B4-BE49-F238E27FC236}">
                <a16:creationId xmlns:a16="http://schemas.microsoft.com/office/drawing/2014/main" id="{B9075858-8978-47CD-AAA1-79434504CA33}"/>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An active nearby relay persists encrypted envelopes before acknowledgement.</a:t>
            </a:r>
          </a:p>
        </p:txBody>
      </p:sp>
      <p:sp>
        <p:nvSpPr>
          <p:cNvPr id="3" name="">
            <a:extLst xmlns:a="http://schemas.openxmlformats.org/drawingml/2006/main">
              <a:ext uri="{FF2B5EF4-FFF2-40B4-BE49-F238E27FC236}">
                <a16:creationId xmlns:a16="http://schemas.microsoft.com/office/drawing/2014/main" id="{1D1A1895-AAF1-4C3E-9F95-18B751265A85}"/>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7B8CF81-59B4-4988-824D-54074ED69DDE}"/>
              </a:ext>
            </a:extLst>
          </p:cNvPr>
          <p:cNvSpPr>
            <a:spLocks xmlns:a="http://schemas.openxmlformats.org/drawingml/2006/main" noGrp="1"/>
          </p:cNvSpPr>
          <p:nvPr/>
        </p:nvSpPr>
        <p:spPr>
          <a:xfrm xmlns:a="http://schemas.openxmlformats.org/drawingml/2006/main">
            <a:off x="628650" y="2571750"/>
            <a:ext cx="5334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3D38"/>
                </a:solidFill>
                <a:latin typeface="Arial"/>
                <a:ea typeface="Arial"/>
                <a:cs typeface="Arial"/>
              </a:defRPr>
            </a:pPr>
            <a:r>
              <a:rPr sz="2400" b="0">
                <a:solidFill>
                  <a:srgbClr val="123D38"/>
                </a:solidFill>
                <a:latin typeface="Arial"/>
                <a:ea typeface="Arial"/>
                <a:cs typeface="Arial"/>
              </a:rPr>
              <a:t>Trusted peers</a:t>
            </a:r>
          </a:p>
          <a:p xmlns:a="http://schemas.openxmlformats.org/drawingml/2006/main">
            <a:pPr>
              <a:defRPr sz="2400" b="0">
                <a:solidFill>
                  <a:srgbClr val="123D38"/>
                </a:solidFill>
                <a:latin typeface="Arial"/>
                <a:ea typeface="Arial"/>
                <a:cs typeface="Arial"/>
              </a:defRPr>
            </a:pPr>
            <a:r>
              <a:rPr sz="2400" b="0">
                <a:solidFill>
                  <a:srgbClr val="123D38"/>
                </a:solidFill>
                <a:latin typeface="Arial"/>
                <a:ea typeface="Arial"/>
                <a:cs typeface="Arial"/>
              </a:rPr>
              <a:t>Durable queues</a:t>
            </a:r>
          </a:p>
          <a:p xmlns:a="http://schemas.openxmlformats.org/drawingml/2006/main">
            <a:pPr>
              <a:defRPr sz="2400" b="0">
                <a:solidFill>
                  <a:srgbClr val="123D38"/>
                </a:solidFill>
                <a:latin typeface="Arial"/>
                <a:ea typeface="Arial"/>
                <a:cs typeface="Arial"/>
              </a:defRPr>
            </a:pPr>
            <a:r>
              <a:rPr sz="2400" b="0">
                <a:solidFill>
                  <a:srgbClr val="123D38"/>
                </a:solidFill>
                <a:latin typeface="Arial"/>
                <a:ea typeface="Arial"/>
                <a:cs typeface="Arial"/>
              </a:rPr>
              <a:t>Expiry and hop limits</a:t>
            </a:r>
          </a:p>
          <a:p xmlns:a="http://schemas.openxmlformats.org/drawingml/2006/main">
            <a:pPr>
              <a:defRPr sz="2400" b="0">
                <a:solidFill>
                  <a:srgbClr val="123D38"/>
                </a:solidFill>
                <a:latin typeface="Arial"/>
                <a:ea typeface="Arial"/>
                <a:cs typeface="Arial"/>
              </a:defRPr>
            </a:pPr>
            <a:r>
              <a:rPr sz="2400" b="0">
                <a:solidFill>
                  <a:srgbClr val="123D38"/>
                </a:solidFill>
                <a:latin typeface="Arial"/>
                <a:ea typeface="Arial"/>
                <a:cs typeface="Arial"/>
              </a:rPr>
              <a:t>Duplicate rejection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6ad56815eb401d"/>
          <a:stretch xmlns:a="http://schemas.openxmlformats.org/drawingml/2006/main"/>
        </p:blipFill>
        <p:spPr>
          <a:xfrm xmlns:a="http://schemas.openxmlformats.org/drawingml/2006/main">
            <a:off x="6635683" y="1885950"/>
            <a:ext cx="1921008" cy="42862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5e353ce78fb49dc"/>
          <a:stretch xmlns:a="http://schemas.openxmlformats.org/drawingml/2006/main"/>
        </p:blipFill>
        <p:spPr>
          <a:xfrm xmlns:a="http://schemas.openxmlformats.org/drawingml/2006/main">
            <a:off x="9188383" y="1885950"/>
            <a:ext cx="1921008"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6DC6804-2C5C-4D6C-8310-05C11110B10B}"/>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Physical radio transfer, range and recovery measurements remain open.</a:t>
            </a:r>
          </a:p>
        </p:txBody>
      </p:sp>
    </p:spTree>
    <p:extLst>
      <p:ext uri="{BB962C8B-B14F-4D97-AF65-F5344CB8AC3E}">
        <p14:creationId xmlns:p14="http://schemas.microsoft.com/office/powerpoint/2010/main" val="310515944"/>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837D71-2B4A-45D9-967C-17B6FA9F4C63}"/>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A failed road changes the route</a:t>
            </a:r>
          </a:p>
        </p:txBody>
      </p:sp>
      <p:sp>
        <p:nvSpPr>
          <p:cNvPr id="2" name="">
            <a:extLst xmlns:a="http://schemas.openxmlformats.org/drawingml/2006/main">
              <a:ext uri="{FF2B5EF4-FFF2-40B4-BE49-F238E27FC236}">
                <a16:creationId xmlns:a16="http://schemas.microsoft.com/office/drawing/2014/main" id="{9599C7FC-5A81-4614-98BF-8F38521ACD92}"/>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phone selects a mode-valid boat alternative in the seeded drill.</a:t>
            </a:r>
          </a:p>
        </p:txBody>
      </p:sp>
      <p:sp>
        <p:nvSpPr>
          <p:cNvPr id="3" name="">
            <a:extLst xmlns:a="http://schemas.openxmlformats.org/drawingml/2006/main">
              <a:ext uri="{FF2B5EF4-FFF2-40B4-BE49-F238E27FC236}">
                <a16:creationId xmlns:a16="http://schemas.microsoft.com/office/drawing/2014/main" id="{8A8BAE21-C360-457C-A600-DBF2BBFCB479}"/>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2060347-3D3B-41FC-9968-4766D1CE59F0}"/>
              </a:ext>
            </a:extLst>
          </p:cNvPr>
          <p:cNvSpPr>
            <a:spLocks xmlns:a="http://schemas.openxmlformats.org/drawingml/2006/main" noGrp="1"/>
          </p:cNvSpPr>
          <p:nvPr/>
        </p:nvSpPr>
        <p:spPr>
          <a:xfrm xmlns:a="http://schemas.openxmlformats.org/drawingml/2006/main">
            <a:off x="762000" y="25717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23D38"/>
                </a:solidFill>
                <a:latin typeface="Arial"/>
                <a:ea typeface="Arial"/>
                <a:cs typeface="Arial"/>
              </a:defRPr>
            </a:pPr>
            <a:r>
              <a:rPr sz="2250" b="1">
                <a:solidFill>
                  <a:srgbClr val="123D38"/>
                </a:solidFill>
                <a:latin typeface="Arial"/>
                <a:ea typeface="Arial"/>
                <a:cs typeface="Arial"/>
              </a:rPr>
              <a:t>Initial truck path</a:t>
            </a:r>
          </a:p>
        </p:txBody>
      </p:sp>
      <p:sp>
        <p:nvSpPr>
          <p:cNvPr id="5" name="">
            <a:extLst xmlns:a="http://schemas.openxmlformats.org/drawingml/2006/main">
              <a:ext uri="{FF2B5EF4-FFF2-40B4-BE49-F238E27FC236}">
                <a16:creationId xmlns:a16="http://schemas.microsoft.com/office/drawing/2014/main" id="{1251D192-F62E-42D3-B67B-319CA2D71308}"/>
              </a:ext>
            </a:extLst>
          </p:cNvPr>
          <p:cNvSpPr>
            <a:spLocks xmlns:a="http://schemas.openxmlformats.org/drawingml/2006/main" noGrp="1"/>
          </p:cNvSpPr>
          <p:nvPr/>
        </p:nvSpPr>
        <p:spPr>
          <a:xfrm xmlns:a="http://schemas.openxmlformats.org/drawingml/2006/main">
            <a:off x="762000" y="3124200"/>
            <a:ext cx="504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E1 and E3</a:t>
            </a:r>
          </a:p>
        </p:txBody>
      </p:sp>
      <p:sp>
        <p:nvSpPr>
          <p:cNvPr id="6" name="">
            <a:extLst xmlns:a="http://schemas.openxmlformats.org/drawingml/2006/main">
              <a:ext uri="{FF2B5EF4-FFF2-40B4-BE49-F238E27FC236}">
                <a16:creationId xmlns:a16="http://schemas.microsoft.com/office/drawing/2014/main" id="{7BDAA995-508E-4724-8300-8DB80A5F124B}"/>
              </a:ext>
            </a:extLst>
          </p:cNvPr>
          <p:cNvSpPr>
            <a:spLocks xmlns:a="http://schemas.openxmlformats.org/drawingml/2006/main" noGrp="1"/>
          </p:cNvSpPr>
          <p:nvPr/>
        </p:nvSpPr>
        <p:spPr>
          <a:xfrm xmlns:a="http://schemas.openxmlformats.org/drawingml/2006/main">
            <a:off x="762000" y="41910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23D38"/>
                </a:solidFill>
                <a:latin typeface="Arial"/>
                <a:ea typeface="Arial"/>
                <a:cs typeface="Arial"/>
              </a:defRPr>
            </a:pPr>
            <a:r>
              <a:rPr sz="2250" b="1">
                <a:solidFill>
                  <a:srgbClr val="123D38"/>
                </a:solidFill>
                <a:latin typeface="Arial"/>
                <a:ea typeface="Arial"/>
                <a:cs typeface="Arial"/>
              </a:rPr>
              <a:t>After the simulated failure</a:t>
            </a:r>
          </a:p>
        </p:txBody>
      </p:sp>
      <p:sp>
        <p:nvSpPr>
          <p:cNvPr id="7" name="">
            <a:extLst xmlns:a="http://schemas.openxmlformats.org/drawingml/2006/main">
              <a:ext uri="{FF2B5EF4-FFF2-40B4-BE49-F238E27FC236}">
                <a16:creationId xmlns:a16="http://schemas.microsoft.com/office/drawing/2014/main" id="{6C1655BF-5A45-402B-B4B4-1199E9D3AA7B}"/>
              </a:ext>
            </a:extLst>
          </p:cNvPr>
          <p:cNvSpPr>
            <a:spLocks xmlns:a="http://schemas.openxmlformats.org/drawingml/2006/main" noGrp="1"/>
          </p:cNvSpPr>
          <p:nvPr/>
        </p:nvSpPr>
        <p:spPr>
          <a:xfrm xmlns:a="http://schemas.openxmlformats.org/drawingml/2006/main">
            <a:off x="762000" y="4733925"/>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216E75"/>
                </a:solidFill>
                <a:latin typeface="Georgia"/>
                <a:ea typeface="Georgia"/>
                <a:cs typeface="Georgia"/>
              </a:defRPr>
            </a:pPr>
            <a:r>
              <a:rPr sz="2925" b="0">
                <a:solidFill>
                  <a:srgbClr val="216E75"/>
                </a:solidFill>
                <a:latin typeface="Georgia"/>
                <a:ea typeface="Georgia"/>
                <a:cs typeface="Georgia"/>
              </a:rPr>
              <a:t>Boat path E6 and E7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0bb3af334d64916"/>
          <a:stretch xmlns:a="http://schemas.openxmlformats.org/drawingml/2006/main"/>
        </p:blipFill>
        <p:spPr>
          <a:xfrm xmlns:a="http://schemas.openxmlformats.org/drawingml/2006/main">
            <a:off x="6649971" y="1914525"/>
            <a:ext cx="1921008" cy="42862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16328d5c58d44d0"/>
          <a:stretch xmlns:a="http://schemas.openxmlformats.org/drawingml/2006/main"/>
        </p:blipFill>
        <p:spPr>
          <a:xfrm xmlns:a="http://schemas.openxmlformats.org/drawingml/2006/main">
            <a:off x="9202671" y="1914525"/>
            <a:ext cx="1921008" cy="4286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592EBC7-05F2-4A39-A1D9-82E499447DBF}"/>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Vehicles, route failure and movement are simulated. Target-phone latency remains to be measured.</a:t>
            </a:r>
          </a:p>
        </p:txBody>
      </p:sp>
    </p:spTree>
    <p:extLst>
      <p:ext uri="{BB962C8B-B14F-4D97-AF65-F5344CB8AC3E}">
        <p14:creationId xmlns:p14="http://schemas.microsoft.com/office/powerpoint/2010/main" val="1992837964"/>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9847CA-AE76-4157-A317-0630EBD61A85}"/>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A delivery can be accepted only once</a:t>
            </a:r>
          </a:p>
        </p:txBody>
      </p:sp>
      <p:sp>
        <p:nvSpPr>
          <p:cNvPr id="2" name="">
            <a:extLst xmlns:a="http://schemas.openxmlformats.org/drawingml/2006/main">
              <a:ext uri="{FF2B5EF4-FFF2-40B4-BE49-F238E27FC236}">
                <a16:creationId xmlns:a16="http://schemas.microsoft.com/office/drawing/2014/main" id="{720F35F8-4094-4FA5-AA32-6CF450F65C9A}"/>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Signatures and nonce checks protect the custody transition.</a:t>
            </a:r>
          </a:p>
        </p:txBody>
      </p:sp>
      <p:sp>
        <p:nvSpPr>
          <p:cNvPr id="3" name="">
            <a:extLst xmlns:a="http://schemas.openxmlformats.org/drawingml/2006/main">
              <a:ext uri="{FF2B5EF4-FFF2-40B4-BE49-F238E27FC236}">
                <a16:creationId xmlns:a16="http://schemas.microsoft.com/office/drawing/2014/main" id="{2228E3A8-8B99-4B44-B3FD-68A07528A22B}"/>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db6ac0597504650"/>
          <a:stretch xmlns:a="http://schemas.openxmlformats.org/drawingml/2006/main"/>
        </p:blipFill>
        <p:spPr>
          <a:xfrm xmlns:a="http://schemas.openxmlformats.org/drawingml/2006/main">
            <a:off x="1789274" y="1809750"/>
            <a:ext cx="1869752" cy="41624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53A3ECE-0585-452D-9A01-FE4BF03B6F4C}"/>
              </a:ext>
            </a:extLst>
          </p:cNvPr>
          <p:cNvSpPr>
            <a:spLocks xmlns:a="http://schemas.openxmlformats.org/drawingml/2006/main" noGrp="1"/>
          </p:cNvSpPr>
          <p:nvPr/>
        </p:nvSpPr>
        <p:spPr>
          <a:xfrm xmlns:a="http://schemas.openxmlformats.org/drawingml/2006/main">
            <a:off x="1628775" y="60102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23D38"/>
                </a:solidFill>
                <a:latin typeface="Arial"/>
                <a:ea typeface="Arial"/>
                <a:cs typeface="Arial"/>
              </a:defRPr>
            </a:pPr>
            <a:r>
              <a:rPr sz="1725" b="1">
                <a:solidFill>
                  <a:srgbClr val="123D38"/>
                </a:solidFill>
                <a:latin typeface="Arial"/>
                <a:ea typeface="Arial"/>
                <a:cs typeface="Arial"/>
              </a:rPr>
              <a:t>Accepted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bb4cd8c2014c37"/>
          <a:stretch xmlns:a="http://schemas.openxmlformats.org/drawingml/2006/main"/>
        </p:blipFill>
        <p:spPr>
          <a:xfrm xmlns:a="http://schemas.openxmlformats.org/drawingml/2006/main">
            <a:off x="4932524" y="1809750"/>
            <a:ext cx="1869752" cy="4162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883EABE-AEFD-444A-BDF6-C1532BAF74B9}"/>
              </a:ext>
            </a:extLst>
          </p:cNvPr>
          <p:cNvSpPr>
            <a:spLocks xmlns:a="http://schemas.openxmlformats.org/drawingml/2006/main" noGrp="1"/>
          </p:cNvSpPr>
          <p:nvPr/>
        </p:nvSpPr>
        <p:spPr>
          <a:xfrm xmlns:a="http://schemas.openxmlformats.org/drawingml/2006/main">
            <a:off x="4772025" y="60102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23D38"/>
                </a:solidFill>
                <a:latin typeface="Arial"/>
                <a:ea typeface="Arial"/>
                <a:cs typeface="Arial"/>
              </a:defRPr>
            </a:pPr>
            <a:r>
              <a:rPr sz="1725" b="1">
                <a:solidFill>
                  <a:srgbClr val="123D38"/>
                </a:solidFill>
                <a:latin typeface="Arial"/>
                <a:ea typeface="Arial"/>
                <a:cs typeface="Arial"/>
              </a:rPr>
              <a:t>Replay rejected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c3d387bd71d49fb"/>
          <a:stretch xmlns:a="http://schemas.openxmlformats.org/drawingml/2006/main"/>
        </p:blipFill>
        <p:spPr>
          <a:xfrm xmlns:a="http://schemas.openxmlformats.org/drawingml/2006/main">
            <a:off x="8075774" y="1809750"/>
            <a:ext cx="1869752" cy="41624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E9CA666-B09D-4EB8-A1B3-B76F62440E35}"/>
              </a:ext>
            </a:extLst>
          </p:cNvPr>
          <p:cNvSpPr>
            <a:spLocks xmlns:a="http://schemas.openxmlformats.org/drawingml/2006/main" noGrp="1"/>
          </p:cNvSpPr>
          <p:nvPr/>
        </p:nvSpPr>
        <p:spPr>
          <a:xfrm xmlns:a="http://schemas.openxmlformats.org/drawingml/2006/main">
            <a:off x="7915275" y="60102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23D38"/>
                </a:solidFill>
                <a:latin typeface="Arial"/>
                <a:ea typeface="Arial"/>
                <a:cs typeface="Arial"/>
              </a:defRPr>
            </a:pPr>
            <a:r>
              <a:rPr sz="1725" b="1">
                <a:solidFill>
                  <a:srgbClr val="123D38"/>
                </a:solidFill>
                <a:latin typeface="Arial"/>
                <a:ea typeface="Arial"/>
                <a:cs typeface="Arial"/>
              </a:rPr>
              <a:t>Tamper rejected</a:t>
            </a:r>
          </a:p>
        </p:txBody>
      </p:sp>
      <p:sp>
        <p:nvSpPr>
          <p:cNvPr id="10" name="">
            <a:extLst xmlns:a="http://schemas.openxmlformats.org/drawingml/2006/main">
              <a:ext uri="{FF2B5EF4-FFF2-40B4-BE49-F238E27FC236}">
                <a16:creationId xmlns:a16="http://schemas.microsoft.com/office/drawing/2014/main" id="{503EB5B2-B964-42DB-8B5E-F7482E3DA764}"/>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cryptographic workflow. Simulated cargo. Real-camera airplane-mode trial remains open.</a:t>
            </a:r>
          </a:p>
        </p:txBody>
      </p:sp>
    </p:spTree>
    <p:extLst>
      <p:ext uri="{BB962C8B-B14F-4D97-AF65-F5344CB8AC3E}">
        <p14:creationId xmlns:p14="http://schemas.microsoft.com/office/powerpoint/2010/main" val="389476838"/>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073A84-7EDE-488C-A0BE-3ED0BD0941AF}"/>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Route risk runs on the phone</a:t>
            </a:r>
          </a:p>
        </p:txBody>
      </p:sp>
      <p:sp>
        <p:nvSpPr>
          <p:cNvPr id="2" name="">
            <a:extLst xmlns:a="http://schemas.openxmlformats.org/drawingml/2006/main">
              <a:ext uri="{FF2B5EF4-FFF2-40B4-BE49-F238E27FC236}">
                <a16:creationId xmlns:a16="http://schemas.microsoft.com/office/drawing/2014/main" id="{90C71247-BBD1-48C5-B5AB-676BEB811AEC}"/>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current model measures synthetic labels only.</a:t>
            </a:r>
          </a:p>
        </p:txBody>
      </p:sp>
      <p:sp>
        <p:nvSpPr>
          <p:cNvPr id="3" name="">
            <a:extLst xmlns:a="http://schemas.openxmlformats.org/drawingml/2006/main">
              <a:ext uri="{FF2B5EF4-FFF2-40B4-BE49-F238E27FC236}">
                <a16:creationId xmlns:a16="http://schemas.microsoft.com/office/drawing/2014/main" id="{A71757C1-ECE3-464C-8F0C-858123A75991}"/>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10</a:t>
            </a:r>
          </a:p>
        </p:txBody>
      </p:sp>
      <p:graphicFrame>
        <p:nvGraphicFramePr>
          <p:cNvPr id="11" name="Chart"/>
          <p:cNvGraphicFramePr/>
          <p:nvPr/>
        </p:nvGraphicFramePr>
        <p:xfrm>
          <a:off xmlns:a="http://schemas.openxmlformats.org/drawingml/2006/main" x="628650" y="2143125"/>
          <a:ext xmlns:a="http://schemas.openxmlformats.org/drawingml/2006/main" cx="6953250" cy="3219450"/>
        </p:xfrm>
        <a:graphic xmlns:a="http://schemas.openxmlformats.org/drawingml/2006/main">
          <a:graphicData uri="http://schemas.openxmlformats.org/drawingml/2006/chart">
            <c:chart xmlns:r="http://schemas.openxmlformats.org/officeDocument/2006/relationships" xmlns:c="http://schemas.openxmlformats.org/drawingml/2006/chart" r:id="R484d255d6103465a"/>
          </a:graphicData>
        </a:graphic>
      </p:graphicFrame>
      <p:sp>
        <p:nvSpPr>
          <p:cNvPr id="5" name="">
            <a:extLst xmlns:a="http://schemas.openxmlformats.org/drawingml/2006/main">
              <a:ext uri="{FF2B5EF4-FFF2-40B4-BE49-F238E27FC236}">
                <a16:creationId xmlns:a16="http://schemas.microsoft.com/office/drawing/2014/main" id="{76CD3DC4-91C5-461F-851F-3F2369228C0D}"/>
              </a:ext>
            </a:extLst>
          </p:cNvPr>
          <p:cNvSpPr>
            <a:spLocks xmlns:a="http://schemas.openxmlformats.org/drawingml/2006/main" noGrp="1"/>
          </p:cNvSpPr>
          <p:nvPr/>
        </p:nvSpPr>
        <p:spPr>
          <a:xfrm xmlns:a="http://schemas.openxmlformats.org/drawingml/2006/main">
            <a:off x="628650" y="56102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23D38"/>
                </a:solidFill>
                <a:latin typeface="Arial"/>
                <a:ea typeface="Arial"/>
                <a:cs typeface="Arial"/>
              </a:defRPr>
            </a:pPr>
            <a:r>
              <a:rPr sz="1725" b="0">
                <a:solidFill>
                  <a:srgbClr val="123D38"/>
                </a:solidFill>
                <a:latin typeface="Arial"/>
                <a:ea typeface="Arial"/>
                <a:cs typeface="Arial"/>
              </a:rPr>
              <a:t>Held-out F1 on 900 synthetic examples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88a6652f9ce4069"/>
          <a:stretch xmlns:a="http://schemas.openxmlformats.org/drawingml/2006/main"/>
        </p:blipFill>
        <p:spPr>
          <a:xfrm xmlns:a="http://schemas.openxmlformats.org/drawingml/2006/main">
            <a:off x="8710638" y="1905000"/>
            <a:ext cx="1895424" cy="42195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68F937-74C5-4745-93E9-3A9DF8991094}"/>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Risk adds an advisory edge cost. It does not declare a confirmed closure. No sensors or live weather feed.</a:t>
            </a:r>
          </a:p>
        </p:txBody>
      </p:sp>
    </p:spTree>
    <p:extLst>
      <p:ext uri="{BB962C8B-B14F-4D97-AF65-F5344CB8AC3E}">
        <p14:creationId xmlns:p14="http://schemas.microsoft.com/office/powerpoint/2010/main" val="992195253"/>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C45456-E665-4B4C-AD90-D068A9CDE6ED}"/>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The customer is a deployment owner</a:t>
            </a:r>
          </a:p>
        </p:txBody>
      </p:sp>
      <p:sp>
        <p:nvSpPr>
          <p:cNvPr id="2" name="">
            <a:extLst xmlns:a="http://schemas.openxmlformats.org/drawingml/2006/main">
              <a:ext uri="{FF2B5EF4-FFF2-40B4-BE49-F238E27FC236}">
                <a16:creationId xmlns:a16="http://schemas.microsoft.com/office/drawing/2014/main" id="{4CC79CBA-E3F9-4E32-81BD-E26AAA38D8F5}"/>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Government and NGO teams are the buyer hypothesis. Households are beneficiaries.</a:t>
            </a:r>
          </a:p>
        </p:txBody>
      </p:sp>
      <p:sp>
        <p:nvSpPr>
          <p:cNvPr id="3" name="">
            <a:extLst xmlns:a="http://schemas.openxmlformats.org/drawingml/2006/main">
              <a:ext uri="{FF2B5EF4-FFF2-40B4-BE49-F238E27FC236}">
                <a16:creationId xmlns:a16="http://schemas.microsoft.com/office/drawing/2014/main" id="{A988088D-D81D-43FC-9330-103C95DC0539}"/>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904EB94-1D5C-4992-B2AB-FA2FCBA43790}"/>
              </a:ext>
            </a:extLst>
          </p:cNvPr>
          <p:cNvSpPr>
            <a:spLocks xmlns:a="http://schemas.openxmlformats.org/drawingml/2006/main" noGrp="1"/>
          </p:cNvSpPr>
          <p:nvPr/>
        </p:nvSpPr>
        <p:spPr>
          <a:xfrm xmlns:a="http://schemas.openxmlformats.org/drawingml/2006/main">
            <a:off x="628650" y="2238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Deployment owner</a:t>
            </a:r>
          </a:p>
        </p:txBody>
      </p:sp>
      <p:sp>
        <p:nvSpPr>
          <p:cNvPr id="5" name="">
            <a:extLst xmlns:a="http://schemas.openxmlformats.org/drawingml/2006/main">
              <a:ext uri="{FF2B5EF4-FFF2-40B4-BE49-F238E27FC236}">
                <a16:creationId xmlns:a16="http://schemas.microsoft.com/office/drawing/2014/main" id="{6062DD04-FB77-4BF3-9587-8BD15C1D0E96}"/>
              </a:ext>
            </a:extLst>
          </p:cNvPr>
          <p:cNvSpPr>
            <a:spLocks xmlns:a="http://schemas.openxmlformats.org/drawingml/2006/main" noGrp="1"/>
          </p:cNvSpPr>
          <p:nvPr/>
        </p:nvSpPr>
        <p:spPr>
          <a:xfrm xmlns:a="http://schemas.openxmlformats.org/drawingml/2006/main">
            <a:off x="628650" y="274320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Approves procedures, provisions identities and keeps the tool ready between emergencies.</a:t>
            </a:r>
          </a:p>
        </p:txBody>
      </p:sp>
      <p:sp>
        <p:nvSpPr>
          <p:cNvPr id="6" name="">
            <a:extLst xmlns:a="http://schemas.openxmlformats.org/drawingml/2006/main">
              <a:ext uri="{FF2B5EF4-FFF2-40B4-BE49-F238E27FC236}">
                <a16:creationId xmlns:a16="http://schemas.microsoft.com/office/drawing/2014/main" id="{D3160610-188A-43E7-B315-2140B17BEB01}"/>
              </a:ext>
            </a:extLst>
          </p:cNvPr>
          <p:cNvSpPr>
            <a:spLocks xmlns:a="http://schemas.openxmlformats.org/drawingml/2006/main" noGrp="1"/>
          </p:cNvSpPr>
          <p:nvPr/>
        </p:nvSpPr>
        <p:spPr>
          <a:xfrm xmlns:a="http://schemas.openxmlformats.org/drawingml/2006/main">
            <a:off x="6429375" y="2238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Field user</a:t>
            </a:r>
          </a:p>
        </p:txBody>
      </p:sp>
      <p:sp>
        <p:nvSpPr>
          <p:cNvPr id="7" name="">
            <a:extLst xmlns:a="http://schemas.openxmlformats.org/drawingml/2006/main">
              <a:ext uri="{FF2B5EF4-FFF2-40B4-BE49-F238E27FC236}">
                <a16:creationId xmlns:a16="http://schemas.microsoft.com/office/drawing/2014/main" id="{965B0B34-9C2D-48A9-AB18-3B887E8E6214}"/>
              </a:ext>
            </a:extLst>
          </p:cNvPr>
          <p:cNvSpPr>
            <a:spLocks xmlns:a="http://schemas.openxmlformats.org/drawingml/2006/main" noGrp="1"/>
          </p:cNvSpPr>
          <p:nvPr/>
        </p:nvSpPr>
        <p:spPr>
          <a:xfrm xmlns:a="http://schemas.openxmlformats.org/drawingml/2006/main">
            <a:off x="6429375" y="274320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Creates requests, carries encrypted messages or signs a delivery receipt.</a:t>
            </a:r>
          </a:p>
        </p:txBody>
      </p:sp>
      <p:sp>
        <p:nvSpPr>
          <p:cNvPr id="8" name="">
            <a:extLst xmlns:a="http://schemas.openxmlformats.org/drawingml/2006/main">
              <a:ext uri="{FF2B5EF4-FFF2-40B4-BE49-F238E27FC236}">
                <a16:creationId xmlns:a16="http://schemas.microsoft.com/office/drawing/2014/main" id="{552997DC-3C1A-4B5E-842A-F22F1862C62D}"/>
              </a:ext>
            </a:extLst>
          </p:cNvPr>
          <p:cNvSpPr>
            <a:spLocks xmlns:a="http://schemas.openxmlformats.org/drawingml/2006/main" noGrp="1"/>
          </p:cNvSpPr>
          <p:nvPr/>
        </p:nvSpPr>
        <p:spPr>
          <a:xfrm xmlns:a="http://schemas.openxmlformats.org/drawingml/2006/main">
            <a:off x="628650" y="48768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216E75"/>
                </a:solidFill>
                <a:latin typeface="Georgia"/>
                <a:ea typeface="Georgia"/>
                <a:cs typeface="Georgia"/>
              </a:defRPr>
            </a:pPr>
            <a:r>
              <a:rPr sz="2625" b="0">
                <a:solidFill>
                  <a:srgbClr val="216E75"/>
                </a:solidFill>
                <a:latin typeface="Georgia"/>
                <a:ea typeface="Georgia"/>
                <a:cs typeface="Georgia"/>
              </a:rPr>
              <a:t>First segment: one sponsor, one health referral chain</a:t>
            </a:r>
          </a:p>
          <a:p xmlns:a="http://schemas.openxmlformats.org/drawingml/2006/main">
            <a:pPr>
              <a:defRPr sz="2625" b="0">
                <a:solidFill>
                  <a:srgbClr val="216E75"/>
                </a:solidFill>
                <a:latin typeface="Georgia"/>
                <a:ea typeface="Georgia"/>
                <a:cs typeface="Georgia"/>
              </a:defRPr>
            </a:pPr>
            <a:r>
              <a:rPr sz="2625" b="0">
                <a:solidFill>
                  <a:srgbClr val="216E75"/>
                </a:solidFill>
                <a:latin typeface="Georgia"/>
                <a:ea typeface="Georgia"/>
                <a:cs typeface="Georgia"/>
              </a:rPr>
              <a:t>and one experienced relief partner.</a:t>
            </a:r>
          </a:p>
        </p:txBody>
      </p:sp>
      <p:sp>
        <p:nvSpPr>
          <p:cNvPr id="9" name="">
            <a:extLst xmlns:a="http://schemas.openxmlformats.org/drawingml/2006/main">
              <a:ext uri="{FF2B5EF4-FFF2-40B4-BE49-F238E27FC236}">
                <a16:creationId xmlns:a16="http://schemas.microsoft.com/office/drawing/2014/main" id="{C51C755C-79FF-4201-ACCA-E16F2CF75F0D}"/>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Customer demand and willingness to pay require primary research. No institutional endorsement is claimed.</a:t>
            </a:r>
          </a:p>
        </p:txBody>
      </p:sp>
    </p:spTree>
    <p:extLst>
      <p:ext uri="{BB962C8B-B14F-4D97-AF65-F5344CB8AC3E}">
        <p14:creationId xmlns:p14="http://schemas.microsoft.com/office/powerpoint/2010/main" val="124034646"/>
      </p:ext>
    </p:extLst>
  </p:cSld>
</p:sld>
</file>

<file path=ppt/slides/slide1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0E93D8-1F68-4241-AA3A-ABDC99569B0E}"/>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Existing tools and the proposed position</a:t>
            </a:r>
          </a:p>
        </p:txBody>
      </p:sp>
      <p:sp>
        <p:nvSpPr>
          <p:cNvPr id="2" name="">
            <a:extLst xmlns:a="http://schemas.openxmlformats.org/drawingml/2006/main">
              <a:ext uri="{FF2B5EF4-FFF2-40B4-BE49-F238E27FC236}">
                <a16:creationId xmlns:a16="http://schemas.microsoft.com/office/drawing/2014/main" id="{0C15A298-F522-4473-8009-77BAFFFC966B}"/>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integration must justify adoption against familiar alternatives.</a:t>
            </a:r>
          </a:p>
        </p:txBody>
      </p:sp>
      <p:sp>
        <p:nvSpPr>
          <p:cNvPr id="3" name="">
            <a:extLst xmlns:a="http://schemas.openxmlformats.org/drawingml/2006/main">
              <a:ext uri="{FF2B5EF4-FFF2-40B4-BE49-F238E27FC236}">
                <a16:creationId xmlns:a16="http://schemas.microsoft.com/office/drawing/2014/main" id="{0C1D94D9-F2AF-4E21-8AC4-10476C4EFE17}"/>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12</a:t>
            </a:r>
          </a:p>
        </p:txBody>
      </p:sp>
      <p:graphicFrame>
        <p:nvGraphicFramePr>
          <p:cNvPr id="9" name=""/>
          <p:cNvGraphicFramePr/>
          <p:nvPr/>
        </p:nvGraphicFramePr>
        <p:xfrm>
          <a:off xmlns:a="http://schemas.openxmlformats.org/drawingml/2006/main" x="609600" y="2019300"/>
          <a:ext xmlns:a="http://schemas.openxmlformats.org/drawingml/2006/main" cx="10972800" cy="3619500"/>
        </p:xfrm>
        <a:graphic xmlns:a="http://schemas.openxmlformats.org/drawingml/2006/main">
          <a:graphicData uri="http://schemas.openxmlformats.org/drawingml/2006/table">
            <a:tbl>
              <a:tblPr/>
              <a:tblGrid>
                <a:gridCol w="2476500"/>
                <a:gridCol w="4638675"/>
                <a:gridCol w="3857625"/>
              </a:tblGrid>
              <a:tr h="603250">
                <a:tc>
                  <a:txBody>
                    <a:bodyPr/>
                    <a:lstStyle/>
                    <a:p>
                      <a:r>
                        <a:rPr sz="1725" b="1">
                          <a:solidFill>
                            <a:srgbClr val="FFFFFF"/>
                          </a:solidFill>
                          <a:latin typeface="Arial"/>
                          <a:ea typeface="Arial"/>
                          <a:cs typeface="Arial"/>
                        </a:rPr>
                        <a:t>Platform</a:t>
                      </a:r>
                    </a:p>
                  </a:txBody>
                  <a:tcPr marL="91440" marR="91440" marT="45720" marB="45720">
                    <a:solidFill>
                      <a:srgbClr val="123D38"/>
                    </a:solidFill>
                  </a:tcPr>
                </a:tc>
                <a:tc>
                  <a:txBody>
                    <a:bodyPr/>
                    <a:lstStyle/>
                    <a:p>
                      <a:r>
                        <a:rPr sz="1725" b="1">
                          <a:solidFill>
                            <a:srgbClr val="FFFFFF"/>
                          </a:solidFill>
                          <a:latin typeface="Arial"/>
                          <a:ea typeface="Arial"/>
                          <a:cs typeface="Arial"/>
                        </a:rPr>
                        <a:t>Documented strength</a:t>
                      </a:r>
                    </a:p>
                  </a:txBody>
                  <a:tcPr marL="91440" marR="91440" marT="45720" marB="45720">
                    <a:solidFill>
                      <a:srgbClr val="123D38"/>
                    </a:solidFill>
                  </a:tcPr>
                </a:tc>
                <a:tc>
                  <a:txBody>
                    <a:bodyPr/>
                    <a:lstStyle/>
                    <a:p>
                      <a:r>
                        <a:rPr sz="1725" b="1">
                          <a:solidFill>
                            <a:srgbClr val="FFFFFF"/>
                          </a:solidFill>
                          <a:latin typeface="Arial"/>
                          <a:ea typeface="Arial"/>
                          <a:cs typeface="Arial"/>
                        </a:rPr>
                        <a:t>Potential relationship</a:t>
                      </a:r>
                    </a:p>
                  </a:txBody>
                  <a:tcPr marL="91440" marR="91440" marT="45720" marB="45720">
                    <a:solidFill>
                      <a:srgbClr val="123D38"/>
                    </a:solidFill>
                  </a:tcPr>
                </a:tc>
              </a:tr>
              <a:tr h="603250">
                <a:tc>
                  <a:txBody>
                    <a:bodyPr/>
                    <a:lstStyle/>
                    <a:p>
                      <a:r>
                        <a:rPr sz="1725" b="0">
                          <a:solidFill>
                            <a:srgbClr val="172E2B"/>
                          </a:solidFill>
                          <a:latin typeface="Arial"/>
                          <a:ea typeface="Arial"/>
                          <a:cs typeface="Arial"/>
                        </a:rPr>
                        <a:t>Sahana Eden</a:t>
                      </a:r>
                    </a:p>
                  </a:txBody>
                  <a:tcPr marL="91440" marR="91440" marT="45720" marB="45720">
                    <a:solidFill>
                      <a:srgbClr val="FFFFFF"/>
                    </a:solidFill>
                  </a:tcPr>
                </a:tc>
                <a:tc>
                  <a:txBody>
                    <a:bodyPr/>
                    <a:lstStyle/>
                    <a:p>
                      <a:r>
                        <a:rPr sz="1725" b="0">
                          <a:solidFill>
                            <a:srgbClr val="172E2B"/>
                          </a:solidFill>
                          <a:latin typeface="Arial"/>
                          <a:ea typeface="Arial"/>
                          <a:cs typeface="Arial"/>
                        </a:rPr>
                        <a:t>Relief inventory and logistics</a:t>
                      </a:r>
                    </a:p>
                  </a:txBody>
                  <a:tcPr marL="91440" marR="91440" marT="45720" marB="45720">
                    <a:solidFill>
                      <a:srgbClr val="FFFFFF"/>
                    </a:solidFill>
                  </a:tcPr>
                </a:tc>
                <a:tc>
                  <a:txBody>
                    <a:bodyPr/>
                    <a:lstStyle/>
                    <a:p>
                      <a:r>
                        <a:rPr sz="1725" b="0">
                          <a:solidFill>
                            <a:srgbClr val="172E2B"/>
                          </a:solidFill>
                          <a:latin typeface="Arial"/>
                          <a:ea typeface="Arial"/>
                          <a:cs typeface="Arial"/>
                        </a:rPr>
                        <a:t>Domain analogue</a:t>
                      </a:r>
                    </a:p>
                  </a:txBody>
                  <a:tcPr marL="91440" marR="91440" marT="45720" marB="45720">
                    <a:solidFill>
                      <a:srgbClr val="FFFFFF"/>
                    </a:solidFill>
                  </a:tcPr>
                </a:tc>
              </a:tr>
              <a:tr h="603250">
                <a:tc>
                  <a:txBody>
                    <a:bodyPr/>
                    <a:lstStyle/>
                    <a:p>
                      <a:r>
                        <a:rPr sz="1725" b="0">
                          <a:solidFill>
                            <a:srgbClr val="172E2B"/>
                          </a:solidFill>
                          <a:latin typeface="Arial"/>
                          <a:ea typeface="Arial"/>
                          <a:cs typeface="Arial"/>
                        </a:rPr>
                        <a:t>KoboCollect</a:t>
                      </a:r>
                    </a:p>
                  </a:txBody>
                  <a:tcPr marL="91440" marR="91440" marT="45720" marB="45720">
                    <a:solidFill>
                      <a:srgbClr val="EEF3EF"/>
                    </a:solidFill>
                  </a:tcPr>
                </a:tc>
                <a:tc>
                  <a:txBody>
                    <a:bodyPr/>
                    <a:lstStyle/>
                    <a:p>
                      <a:r>
                        <a:rPr sz="1725" b="0">
                          <a:solidFill>
                            <a:srgbClr val="172E2B"/>
                          </a:solidFill>
                          <a:latin typeface="Arial"/>
                          <a:ea typeface="Arial"/>
                          <a:cs typeface="Arial"/>
                        </a:rPr>
                        <a:t>Offline assessment forms</a:t>
                      </a:r>
                    </a:p>
                  </a:txBody>
                  <a:tcPr marL="91440" marR="91440" marT="45720" marB="45720">
                    <a:solidFill>
                      <a:srgbClr val="EEF3EF"/>
                    </a:solidFill>
                  </a:tcPr>
                </a:tc>
                <a:tc>
                  <a:txBody>
                    <a:bodyPr/>
                    <a:lstStyle/>
                    <a:p>
                      <a:r>
                        <a:rPr sz="1725" b="0">
                          <a:solidFill>
                            <a:srgbClr val="172E2B"/>
                          </a:solidFill>
                          <a:latin typeface="Arial"/>
                          <a:ea typeface="Arial"/>
                          <a:cs typeface="Arial"/>
                        </a:rPr>
                        <a:t>Assessment input</a:t>
                      </a:r>
                    </a:p>
                  </a:txBody>
                  <a:tcPr marL="91440" marR="91440" marT="45720" marB="45720">
                    <a:solidFill>
                      <a:srgbClr val="EEF3EF"/>
                    </a:solidFill>
                  </a:tcPr>
                </a:tc>
              </a:tr>
              <a:tr h="603250">
                <a:tc>
                  <a:txBody>
                    <a:bodyPr/>
                    <a:lstStyle/>
                    <a:p>
                      <a:r>
                        <a:rPr sz="1725" b="0">
                          <a:solidFill>
                            <a:srgbClr val="172E2B"/>
                          </a:solidFill>
                          <a:latin typeface="Arial"/>
                          <a:ea typeface="Arial"/>
                          <a:cs typeface="Arial"/>
                        </a:rPr>
                        <a:t>Ushahidi</a:t>
                      </a:r>
                    </a:p>
                  </a:txBody>
                  <a:tcPr marL="91440" marR="91440" marT="45720" marB="45720">
                    <a:solidFill>
                      <a:srgbClr val="FFFFFF"/>
                    </a:solidFill>
                  </a:tcPr>
                </a:tc>
                <a:tc>
                  <a:txBody>
                    <a:bodyPr/>
                    <a:lstStyle/>
                    <a:p>
                      <a:r>
                        <a:rPr sz="1725" b="0">
                          <a:solidFill>
                            <a:srgbClr val="172E2B"/>
                          </a:solidFill>
                          <a:latin typeface="Arial"/>
                          <a:ea typeface="Arial"/>
                          <a:cs typeface="Arial"/>
                        </a:rPr>
                        <a:t>Crowdsourced reports and maps</a:t>
                      </a:r>
                    </a:p>
                  </a:txBody>
                  <a:tcPr marL="91440" marR="91440" marT="45720" marB="45720">
                    <a:solidFill>
                      <a:srgbClr val="FFFFFF"/>
                    </a:solidFill>
                  </a:tcPr>
                </a:tc>
                <a:tc>
                  <a:txBody>
                    <a:bodyPr/>
                    <a:lstStyle/>
                    <a:p>
                      <a:r>
                        <a:rPr sz="1725" b="0">
                          <a:solidFill>
                            <a:srgbClr val="172E2B"/>
                          </a:solidFill>
                          <a:latin typeface="Arial"/>
                          <a:ea typeface="Arial"/>
                          <a:cs typeface="Arial"/>
                        </a:rPr>
                        <a:t>Reporting partner</a:t>
                      </a:r>
                    </a:p>
                  </a:txBody>
                  <a:tcPr marL="91440" marR="91440" marT="45720" marB="45720">
                    <a:solidFill>
                      <a:srgbClr val="FFFFFF"/>
                    </a:solidFill>
                  </a:tcPr>
                </a:tc>
              </a:tr>
              <a:tr h="603250">
                <a:tc>
                  <a:txBody>
                    <a:bodyPr/>
                    <a:lstStyle/>
                    <a:p>
                      <a:r>
                        <a:rPr sz="1725" b="0">
                          <a:solidFill>
                            <a:srgbClr val="172E2B"/>
                          </a:solidFill>
                          <a:latin typeface="Arial"/>
                          <a:ea typeface="Arial"/>
                          <a:cs typeface="Arial"/>
                        </a:rPr>
                        <a:t>Briar</a:t>
                      </a:r>
                    </a:p>
                  </a:txBody>
                  <a:tcPr marL="91440" marR="91440" marT="45720" marB="45720">
                    <a:solidFill>
                      <a:srgbClr val="EEF3EF"/>
                    </a:solidFill>
                  </a:tcPr>
                </a:tc>
                <a:tc>
                  <a:txBody>
                    <a:bodyPr/>
                    <a:lstStyle/>
                    <a:p>
                      <a:r>
                        <a:rPr sz="1725" b="0">
                          <a:solidFill>
                            <a:srgbClr val="172E2B"/>
                          </a:solidFill>
                          <a:latin typeface="Arial"/>
                          <a:ea typeface="Arial"/>
                          <a:cs typeface="Arial"/>
                        </a:rPr>
                        <a:t>Encrypted nearby communication</a:t>
                      </a:r>
                    </a:p>
                  </a:txBody>
                  <a:tcPr marL="91440" marR="91440" marT="45720" marB="45720">
                    <a:solidFill>
                      <a:srgbClr val="EEF3EF"/>
                    </a:solidFill>
                  </a:tcPr>
                </a:tc>
                <a:tc>
                  <a:txBody>
                    <a:bodyPr/>
                    <a:lstStyle/>
                    <a:p>
                      <a:r>
                        <a:rPr sz="1725" b="0">
                          <a:solidFill>
                            <a:srgbClr val="172E2B"/>
                          </a:solidFill>
                          <a:latin typeface="Arial"/>
                          <a:ea typeface="Arial"/>
                          <a:cs typeface="Arial"/>
                        </a:rPr>
                        <a:t>Adjacent transport concept</a:t>
                      </a:r>
                    </a:p>
                  </a:txBody>
                  <a:tcPr marL="91440" marR="91440" marT="45720" marB="45720">
                    <a:solidFill>
                      <a:srgbClr val="EEF3EF"/>
                    </a:solidFill>
                  </a:tcPr>
                </a:tc>
              </a:tr>
              <a:tr h="603250">
                <a:tc>
                  <a:txBody>
                    <a:bodyPr/>
                    <a:lstStyle/>
                    <a:p>
                      <a:r>
                        <a:rPr sz="1725" b="0">
                          <a:solidFill>
                            <a:srgbClr val="172E2B"/>
                          </a:solidFill>
                          <a:latin typeface="Arial"/>
                          <a:ea typeface="Arial"/>
                          <a:cs typeface="Arial"/>
                        </a:rPr>
                        <a:t>Meshtastic</a:t>
                      </a:r>
                    </a:p>
                  </a:txBody>
                  <a:tcPr marL="91440" marR="91440" marT="45720" marB="45720">
                    <a:solidFill>
                      <a:srgbClr val="FFFFFF"/>
                    </a:solidFill>
                  </a:tcPr>
                </a:tc>
                <a:tc>
                  <a:txBody>
                    <a:bodyPr/>
                    <a:lstStyle/>
                    <a:p>
                      <a:r>
                        <a:rPr sz="1725" b="0">
                          <a:solidFill>
                            <a:srgbClr val="172E2B"/>
                          </a:solidFill>
                          <a:latin typeface="Arial"/>
                          <a:ea typeface="Arial"/>
                          <a:cs typeface="Arial"/>
                        </a:rPr>
                        <a:t>LoRa mesh messaging</a:t>
                      </a:r>
                    </a:p>
                  </a:txBody>
                  <a:tcPr marL="91440" marR="91440" marT="45720" marB="45720">
                    <a:solidFill>
                      <a:srgbClr val="FFFFFF"/>
                    </a:solidFill>
                  </a:tcPr>
                </a:tc>
                <a:tc>
                  <a:txBody>
                    <a:bodyPr/>
                    <a:lstStyle/>
                    <a:p>
                      <a:r>
                        <a:rPr sz="1725" b="0">
                          <a:solidFill>
                            <a:srgbClr val="172E2B"/>
                          </a:solidFill>
                          <a:latin typeface="Arial"/>
                          <a:ea typeface="Arial"/>
                          <a:cs typeface="Arial"/>
                        </a:rPr>
                        <a:t>Extra radio hardware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D6BE608-7E5E-4375-81AB-8569D60B1269}"/>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Digital Delta tests one integrated path across relay, routing, priority review and signed custody.</a:t>
            </a:r>
          </a:p>
        </p:txBody>
      </p:sp>
    </p:spTree>
    <p:extLst>
      <p:ext uri="{BB962C8B-B14F-4D97-AF65-F5344CB8AC3E}">
        <p14:creationId xmlns:p14="http://schemas.microsoft.com/office/powerpoint/2010/main" val="1751155367"/>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7A6206-933F-4371-83E1-D5F3D843C06B}"/>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A readiness service around the product</a:t>
            </a:r>
          </a:p>
        </p:txBody>
      </p:sp>
      <p:sp>
        <p:nvSpPr>
          <p:cNvPr id="2" name="">
            <a:extLst xmlns:a="http://schemas.openxmlformats.org/drawingml/2006/main">
              <a:ext uri="{FF2B5EF4-FFF2-40B4-BE49-F238E27FC236}">
                <a16:creationId xmlns:a16="http://schemas.microsoft.com/office/drawing/2014/main" id="{294D488C-E583-4FD5-AA6E-7BD6F929F73F}"/>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first commercial offer is a bounded preparedness exercise.</a:t>
            </a:r>
          </a:p>
        </p:txBody>
      </p:sp>
      <p:sp>
        <p:nvSpPr>
          <p:cNvPr id="3" name="">
            <a:extLst xmlns:a="http://schemas.openxmlformats.org/drawingml/2006/main">
              <a:ext uri="{FF2B5EF4-FFF2-40B4-BE49-F238E27FC236}">
                <a16:creationId xmlns:a16="http://schemas.microsoft.com/office/drawing/2014/main" id="{0981E724-254C-49C6-A5D9-3DBA489A5AB4}"/>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1FDFEE76-C3AC-4832-9EDD-118BB7409FE8}"/>
              </a:ext>
            </a:extLst>
          </p:cNvPr>
          <p:cNvSpPr>
            <a:spLocks xmlns:a="http://schemas.openxmlformats.org/drawingml/2006/main" noGrp="1"/>
          </p:cNvSpPr>
          <p:nvPr/>
        </p:nvSpPr>
        <p:spPr>
          <a:xfrm xmlns:a="http://schemas.openxmlformats.org/drawingml/2006/main">
            <a:off x="628650" y="21907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First engagement</a:t>
            </a:r>
          </a:p>
        </p:txBody>
      </p:sp>
      <p:sp>
        <p:nvSpPr>
          <p:cNvPr id="5" name="">
            <a:extLst xmlns:a="http://schemas.openxmlformats.org/drawingml/2006/main">
              <a:ext uri="{FF2B5EF4-FFF2-40B4-BE49-F238E27FC236}">
                <a16:creationId xmlns:a16="http://schemas.microsoft.com/office/drawing/2014/main" id="{B45AACC1-5058-4DE2-82C9-C884A1C89BA5}"/>
              </a:ext>
            </a:extLst>
          </p:cNvPr>
          <p:cNvSpPr>
            <a:spLocks xmlns:a="http://schemas.openxmlformats.org/drawingml/2006/main" noGrp="1"/>
          </p:cNvSpPr>
          <p:nvPr/>
        </p:nvSpPr>
        <p:spPr>
          <a:xfrm xmlns:a="http://schemas.openxmlformats.org/drawingml/2006/main">
            <a:off x="628650" y="2695575"/>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A supervised exercise with configuration, bilingual training and a measured evidence report.</a:t>
            </a:r>
          </a:p>
        </p:txBody>
      </p:sp>
      <p:sp>
        <p:nvSpPr>
          <p:cNvPr id="6" name="">
            <a:extLst xmlns:a="http://schemas.openxmlformats.org/drawingml/2006/main">
              <a:ext uri="{FF2B5EF4-FFF2-40B4-BE49-F238E27FC236}">
                <a16:creationId xmlns:a16="http://schemas.microsoft.com/office/drawing/2014/main" id="{79BF50E7-7F26-4000-9C03-58774849600C}"/>
              </a:ext>
            </a:extLst>
          </p:cNvPr>
          <p:cNvSpPr>
            <a:spLocks xmlns:a="http://schemas.openxmlformats.org/drawingml/2006/main" noGrp="1"/>
          </p:cNvSpPr>
          <p:nvPr/>
        </p:nvSpPr>
        <p:spPr>
          <a:xfrm xmlns:a="http://schemas.openxmlformats.org/drawingml/2006/main">
            <a:off x="6477000" y="21907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Ongoing support</a:t>
            </a:r>
          </a:p>
        </p:txBody>
      </p:sp>
      <p:sp>
        <p:nvSpPr>
          <p:cNvPr id="7" name="">
            <a:extLst xmlns:a="http://schemas.openxmlformats.org/drawingml/2006/main">
              <a:ext uri="{FF2B5EF4-FFF2-40B4-BE49-F238E27FC236}">
                <a16:creationId xmlns:a16="http://schemas.microsoft.com/office/drawing/2014/main" id="{AA2CC7BC-419D-462A-A45D-15DBB5B49B0E}"/>
              </a:ext>
            </a:extLst>
          </p:cNvPr>
          <p:cNvSpPr>
            <a:spLocks xmlns:a="http://schemas.openxmlformats.org/drawingml/2006/main" noGrp="1"/>
          </p:cNvSpPr>
          <p:nvPr/>
        </p:nvSpPr>
        <p:spPr>
          <a:xfrm xmlns:a="http://schemas.openxmlformats.org/drawingml/2006/main">
            <a:off x="6477000" y="2695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Seasonal readiness, map updates, credential administration and maintained releases.</a:t>
            </a:r>
          </a:p>
        </p:txBody>
      </p:sp>
      <p:sp>
        <p:nvSpPr>
          <p:cNvPr id="8" name="">
            <a:extLst xmlns:a="http://schemas.openxmlformats.org/drawingml/2006/main">
              <a:ext uri="{FF2B5EF4-FFF2-40B4-BE49-F238E27FC236}">
                <a16:creationId xmlns:a16="http://schemas.microsoft.com/office/drawing/2014/main" id="{1EF14C9E-52AD-4F65-BEDF-0314F4DBE461}"/>
              </a:ext>
            </a:extLst>
          </p:cNvPr>
          <p:cNvSpPr>
            <a:spLocks xmlns:a="http://schemas.openxmlformats.org/drawingml/2006/main" noGrp="1"/>
          </p:cNvSpPr>
          <p:nvPr/>
        </p:nvSpPr>
        <p:spPr>
          <a:xfrm xmlns:a="http://schemas.openxmlformats.org/drawingml/2006/main">
            <a:off x="628650" y="4953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216E75"/>
                </a:solidFill>
                <a:latin typeface="Arial"/>
                <a:ea typeface="Arial"/>
                <a:cs typeface="Arial"/>
              </a:defRPr>
            </a:pPr>
            <a:r>
              <a:rPr sz="2250" b="0">
                <a:solidFill>
                  <a:srgbClr val="216E75"/>
                </a:solidFill>
                <a:latin typeface="Arial"/>
                <a:ea typeface="Arial"/>
                <a:cs typeface="Arial"/>
              </a:rPr>
              <a:t>Pricing follows delivery cost and institutional procurement.</a:t>
            </a:r>
          </a:p>
          <a:p xmlns:a="http://schemas.openxmlformats.org/drawingml/2006/main">
            <a:pPr>
              <a:defRPr sz="2250" b="0">
                <a:solidFill>
                  <a:srgbClr val="216E75"/>
                </a:solidFill>
                <a:latin typeface="Arial"/>
                <a:ea typeface="Arial"/>
                <a:cs typeface="Arial"/>
              </a:defRPr>
            </a:pPr>
            <a:r>
              <a:rPr sz="2250" b="0">
                <a:solidFill>
                  <a:srgbClr val="216E75"/>
                </a:solidFill>
                <a:latin typeface="Arial"/>
                <a:ea typeface="Arial"/>
                <a:cs typeface="Arial"/>
              </a:rPr>
              <a:t>Sensitive data and emergency requests are not the revenue unit.</a:t>
            </a:r>
          </a:p>
        </p:txBody>
      </p:sp>
      <p:sp>
        <p:nvSpPr>
          <p:cNvPr id="9" name="">
            <a:extLst xmlns:a="http://schemas.openxmlformats.org/drawingml/2006/main">
              <a:ext uri="{FF2B5EF4-FFF2-40B4-BE49-F238E27FC236}">
                <a16:creationId xmlns:a16="http://schemas.microsoft.com/office/drawing/2014/main" id="{B26829CB-E2D1-4731-8CBD-5ABFE270A615}"/>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Commercial proposal. No price, contract or revenue has been validated.</a:t>
            </a:r>
          </a:p>
        </p:txBody>
      </p:sp>
    </p:spTree>
    <p:extLst>
      <p:ext uri="{BB962C8B-B14F-4D97-AF65-F5344CB8AC3E}">
        <p14:creationId xmlns:p14="http://schemas.microsoft.com/office/powerpoint/2010/main" val="381090291"/>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93B509-978E-4674-9858-08C4CBEC548E}"/>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Illustrative pilot budget</a:t>
            </a:r>
          </a:p>
        </p:txBody>
      </p:sp>
      <p:sp>
        <p:nvSpPr>
          <p:cNvPr id="2" name="">
            <a:extLst xmlns:a="http://schemas.openxmlformats.org/drawingml/2006/main">
              <a:ext uri="{FF2B5EF4-FFF2-40B4-BE49-F238E27FC236}">
                <a16:creationId xmlns:a16="http://schemas.microsoft.com/office/drawing/2014/main" id="{D99618B8-BB13-4077-9691-A20C2599F1EA}"/>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One sponsor, 12 weeks and six exercise phones. All figures are planning assumptions.</a:t>
            </a:r>
          </a:p>
        </p:txBody>
      </p:sp>
      <p:sp>
        <p:nvSpPr>
          <p:cNvPr id="3" name="">
            <a:extLst xmlns:a="http://schemas.openxmlformats.org/drawingml/2006/main">
              <a:ext uri="{FF2B5EF4-FFF2-40B4-BE49-F238E27FC236}">
                <a16:creationId xmlns:a16="http://schemas.microsoft.com/office/drawing/2014/main" id="{B137D6A9-0C96-42AC-BAB7-0F8A616080BC}"/>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14</a:t>
            </a:r>
          </a:p>
        </p:txBody>
      </p:sp>
      <p:graphicFrame>
        <p:nvGraphicFramePr>
          <p:cNvPr id="9" name=""/>
          <p:cNvGraphicFramePr/>
          <p:nvPr/>
        </p:nvGraphicFramePr>
        <p:xfrm>
          <a:off xmlns:a="http://schemas.openxmlformats.org/drawingml/2006/main" x="609600" y="1924050"/>
          <a:ext xmlns:a="http://schemas.openxmlformats.org/drawingml/2006/main" cx="10972800" cy="3962400"/>
        </p:xfrm>
        <a:graphic xmlns:a="http://schemas.openxmlformats.org/drawingml/2006/main">
          <a:graphicData uri="http://schemas.openxmlformats.org/drawingml/2006/table">
            <a:tbl>
              <a:tblPr/>
              <a:tblGrid>
                <a:gridCol w="7858125"/>
                <a:gridCol w="3114675"/>
              </a:tblGrid>
              <a:tr h="495300">
                <a:tc>
                  <a:txBody>
                    <a:bodyPr/>
                    <a:lstStyle/>
                    <a:p>
                      <a:r>
                        <a:rPr sz="1725" b="1">
                          <a:solidFill>
                            <a:srgbClr val="FFFFFF"/>
                          </a:solidFill>
                          <a:latin typeface="Arial"/>
                          <a:ea typeface="Arial"/>
                          <a:cs typeface="Arial"/>
                        </a:rPr>
                        <a:t>Work package</a:t>
                      </a:r>
                    </a:p>
                  </a:txBody>
                  <a:tcPr marL="91440" marR="91440" marT="45720" marB="45720">
                    <a:solidFill>
                      <a:srgbClr val="123D38"/>
                    </a:solidFill>
                  </a:tcPr>
                </a:tc>
                <a:tc>
                  <a:txBody>
                    <a:bodyPr/>
                    <a:lstStyle/>
                    <a:p>
                      <a:r>
                        <a:rPr sz="1725" b="1">
                          <a:solidFill>
                            <a:srgbClr val="FFFFFF"/>
                          </a:solidFill>
                          <a:latin typeface="Arial"/>
                          <a:ea typeface="Arial"/>
                          <a:cs typeface="Arial"/>
                        </a:rPr>
                        <a:t>Illustrative BDT</a:t>
                      </a:r>
                    </a:p>
                  </a:txBody>
                  <a:tcPr marL="91440" marR="91440" marT="45720" marB="45720">
                    <a:solidFill>
                      <a:srgbClr val="123D38"/>
                    </a:solidFill>
                  </a:tcPr>
                </a:tc>
              </a:tr>
              <a:tr h="495300">
                <a:tc>
                  <a:txBody>
                    <a:bodyPr/>
                    <a:lstStyle/>
                    <a:p>
                      <a:r>
                        <a:rPr sz="1725" b="0">
                          <a:solidFill>
                            <a:srgbClr val="172E2B"/>
                          </a:solidFill>
                          <a:latin typeface="Arial"/>
                          <a:ea typeface="Arial"/>
                          <a:cs typeface="Arial"/>
                        </a:rPr>
                        <a:t>Workflow, engineering and facilitation</a:t>
                      </a:r>
                    </a:p>
                  </a:txBody>
                  <a:tcPr marL="91440" marR="91440" marT="45720" marB="45720">
                    <a:solidFill>
                      <a:srgbClr val="FFFFFF"/>
                    </a:solidFill>
                  </a:tcPr>
                </a:tc>
                <a:tc>
                  <a:txBody>
                    <a:bodyPr/>
                    <a:lstStyle/>
                    <a:p>
                      <a:r>
                        <a:rPr sz="1725" b="0">
                          <a:solidFill>
                            <a:srgbClr val="172E2B"/>
                          </a:solidFill>
                          <a:latin typeface="Arial"/>
                          <a:ea typeface="Arial"/>
                          <a:cs typeface="Arial"/>
                        </a:rPr>
                        <a:t>248,000</a:t>
                      </a:r>
                    </a:p>
                  </a:txBody>
                  <a:tcPr marL="91440" marR="91440" marT="45720" marB="45720">
                    <a:solidFill>
                      <a:srgbClr val="FFFFFF"/>
                    </a:solidFill>
                  </a:tcPr>
                </a:tc>
              </a:tr>
              <a:tr h="495300">
                <a:tc>
                  <a:txBody>
                    <a:bodyPr/>
                    <a:lstStyle/>
                    <a:p>
                      <a:r>
                        <a:rPr sz="1725" b="0">
                          <a:solidFill>
                            <a:srgbClr val="172E2B"/>
                          </a:solidFill>
                          <a:latin typeface="Arial"/>
                          <a:ea typeface="Arial"/>
                          <a:cs typeface="Arial"/>
                        </a:rPr>
                        <a:t>Independent security review</a:t>
                      </a:r>
                    </a:p>
                  </a:txBody>
                  <a:tcPr marL="91440" marR="91440" marT="45720" marB="45720">
                    <a:solidFill>
                      <a:srgbClr val="EEF3EF"/>
                    </a:solidFill>
                  </a:tcPr>
                </a:tc>
                <a:tc>
                  <a:txBody>
                    <a:bodyPr/>
                    <a:lstStyle/>
                    <a:p>
                      <a:r>
                        <a:rPr sz="1725" b="0">
                          <a:solidFill>
                            <a:srgbClr val="172E2B"/>
                          </a:solidFill>
                          <a:latin typeface="Arial"/>
                          <a:ea typeface="Arial"/>
                          <a:cs typeface="Arial"/>
                        </a:rPr>
                        <a:t>40,000</a:t>
                      </a:r>
                    </a:p>
                  </a:txBody>
                  <a:tcPr marL="91440" marR="91440" marT="45720" marB="45720">
                    <a:solidFill>
                      <a:srgbClr val="EEF3EF"/>
                    </a:solidFill>
                  </a:tcPr>
                </a:tc>
              </a:tr>
              <a:tr h="495300">
                <a:tc>
                  <a:txBody>
                    <a:bodyPr/>
                    <a:lstStyle/>
                    <a:p>
                      <a:r>
                        <a:rPr sz="1725" b="0">
                          <a:solidFill>
                            <a:srgbClr val="172E2B"/>
                          </a:solidFill>
                          <a:latin typeface="Arial"/>
                          <a:ea typeface="Arial"/>
                          <a:cs typeface="Arial"/>
                        </a:rPr>
                        <a:t>Phones and power accessories</a:t>
                      </a:r>
                    </a:p>
                  </a:txBody>
                  <a:tcPr marL="91440" marR="91440" marT="45720" marB="45720">
                    <a:solidFill>
                      <a:srgbClr val="FFFFFF"/>
                    </a:solidFill>
                  </a:tcPr>
                </a:tc>
                <a:tc>
                  <a:txBody>
                    <a:bodyPr/>
                    <a:lstStyle/>
                    <a:p>
                      <a:r>
                        <a:rPr sz="1725" b="0">
                          <a:solidFill>
                            <a:srgbClr val="172E2B"/>
                          </a:solidFill>
                          <a:latin typeface="Arial"/>
                          <a:ea typeface="Arial"/>
                          <a:cs typeface="Arial"/>
                        </a:rPr>
                        <a:t>132,000</a:t>
                      </a:r>
                    </a:p>
                  </a:txBody>
                  <a:tcPr marL="91440" marR="91440" marT="45720" marB="45720">
                    <a:solidFill>
                      <a:srgbClr val="FFFFFF"/>
                    </a:solidFill>
                  </a:tcPr>
                </a:tc>
              </a:tr>
              <a:tr h="495300">
                <a:tc>
                  <a:txBody>
                    <a:bodyPr/>
                    <a:lstStyle/>
                    <a:p>
                      <a:r>
                        <a:rPr sz="1725" b="0">
                          <a:solidFill>
                            <a:srgbClr val="172E2B"/>
                          </a:solidFill>
                          <a:latin typeface="Arial"/>
                          <a:ea typeface="Arial"/>
                          <a:cs typeface="Arial"/>
                        </a:rPr>
                        <a:t>Travel and exercise logistics</a:t>
                      </a:r>
                    </a:p>
                  </a:txBody>
                  <a:tcPr marL="91440" marR="91440" marT="45720" marB="45720">
                    <a:solidFill>
                      <a:srgbClr val="EEF3EF"/>
                    </a:solidFill>
                  </a:tcPr>
                </a:tc>
                <a:tc>
                  <a:txBody>
                    <a:bodyPr/>
                    <a:lstStyle/>
                    <a:p>
                      <a:r>
                        <a:rPr sz="1725" b="0">
                          <a:solidFill>
                            <a:srgbClr val="172E2B"/>
                          </a:solidFill>
                          <a:latin typeface="Arial"/>
                          <a:ea typeface="Arial"/>
                          <a:cs typeface="Arial"/>
                        </a:rPr>
                        <a:t>30,000</a:t>
                      </a:r>
                    </a:p>
                  </a:txBody>
                  <a:tcPr marL="91440" marR="91440" marT="45720" marB="45720">
                    <a:solidFill>
                      <a:srgbClr val="EEF3EF"/>
                    </a:solidFill>
                  </a:tcPr>
                </a:tc>
              </a:tr>
              <a:tr h="495300">
                <a:tc>
                  <a:txBody>
                    <a:bodyPr/>
                    <a:lstStyle/>
                    <a:p>
                      <a:r>
                        <a:rPr sz="1725" b="0">
                          <a:solidFill>
                            <a:srgbClr val="172E2B"/>
                          </a:solidFill>
                          <a:latin typeface="Arial"/>
                          <a:ea typeface="Arial"/>
                          <a:cs typeface="Arial"/>
                        </a:rPr>
                        <a:t>Subtotal</a:t>
                      </a:r>
                    </a:p>
                  </a:txBody>
                  <a:tcPr marL="91440" marR="91440" marT="45720" marB="45720">
                    <a:solidFill>
                      <a:srgbClr val="FFFFFF"/>
                    </a:solidFill>
                  </a:tcPr>
                </a:tc>
                <a:tc>
                  <a:txBody>
                    <a:bodyPr/>
                    <a:lstStyle/>
                    <a:p>
                      <a:r>
                        <a:rPr sz="1725" b="0">
                          <a:solidFill>
                            <a:srgbClr val="172E2B"/>
                          </a:solidFill>
                          <a:latin typeface="Arial"/>
                          <a:ea typeface="Arial"/>
                          <a:cs typeface="Arial"/>
                        </a:rPr>
                        <a:t>450,000</a:t>
                      </a:r>
                    </a:p>
                  </a:txBody>
                  <a:tcPr marL="91440" marR="91440" marT="45720" marB="45720">
                    <a:solidFill>
                      <a:srgbClr val="FFFFFF"/>
                    </a:solidFill>
                  </a:tcPr>
                </a:tc>
              </a:tr>
              <a:tr h="495300">
                <a:tc>
                  <a:txBody>
                    <a:bodyPr/>
                    <a:lstStyle/>
                    <a:p>
                      <a:r>
                        <a:rPr sz="1725" b="0">
                          <a:solidFill>
                            <a:srgbClr val="172E2B"/>
                          </a:solidFill>
                          <a:latin typeface="Arial"/>
                          <a:ea typeface="Arial"/>
                          <a:cs typeface="Arial"/>
                        </a:rPr>
                        <a:t>Contingency at 15%</a:t>
                      </a:r>
                    </a:p>
                  </a:txBody>
                  <a:tcPr marL="91440" marR="91440" marT="45720" marB="45720">
                    <a:solidFill>
                      <a:srgbClr val="EEF3EF"/>
                    </a:solidFill>
                  </a:tcPr>
                </a:tc>
                <a:tc>
                  <a:txBody>
                    <a:bodyPr/>
                    <a:lstStyle/>
                    <a:p>
                      <a:r>
                        <a:rPr sz="1725" b="0">
                          <a:solidFill>
                            <a:srgbClr val="172E2B"/>
                          </a:solidFill>
                          <a:latin typeface="Arial"/>
                          <a:ea typeface="Arial"/>
                          <a:cs typeface="Arial"/>
                        </a:rPr>
                        <a:t>67,500</a:t>
                      </a:r>
                    </a:p>
                  </a:txBody>
                  <a:tcPr marL="91440" marR="91440" marT="45720" marB="45720">
                    <a:solidFill>
                      <a:srgbClr val="EEF3EF"/>
                    </a:solidFill>
                  </a:tcPr>
                </a:tc>
              </a:tr>
              <a:tr h="495300">
                <a:tc>
                  <a:txBody>
                    <a:bodyPr/>
                    <a:lstStyle/>
                    <a:p>
                      <a:r>
                        <a:rPr sz="1725" b="0">
                          <a:solidFill>
                            <a:srgbClr val="172E2B"/>
                          </a:solidFill>
                          <a:latin typeface="Arial"/>
                          <a:ea typeface="Arial"/>
                          <a:cs typeface="Arial"/>
                        </a:rPr>
                        <a:t>Total</a:t>
                      </a:r>
                    </a:p>
                  </a:txBody>
                  <a:tcPr marL="91440" marR="91440" marT="45720" marB="45720">
                    <a:solidFill>
                      <a:srgbClr val="FFFFFF"/>
                    </a:solidFill>
                  </a:tcPr>
                </a:tc>
                <a:tc>
                  <a:txBody>
                    <a:bodyPr/>
                    <a:lstStyle/>
                    <a:p>
                      <a:r>
                        <a:rPr sz="1725" b="0">
                          <a:solidFill>
                            <a:srgbClr val="172E2B"/>
                          </a:solidFill>
                          <a:latin typeface="Arial"/>
                          <a:ea typeface="Arial"/>
                          <a:cs typeface="Arial"/>
                        </a:rPr>
                        <a:t>517,500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7738A7D-55CA-460C-9CEB-896B2BB0915E}"/>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Planning arithmetic only. Existing devices may reduce costs. This is not a funding commitment or supplier quote.</a:t>
            </a:r>
          </a:p>
        </p:txBody>
      </p:sp>
    </p:spTree>
    <p:extLst>
      <p:ext uri="{BB962C8B-B14F-4D97-AF65-F5344CB8AC3E}">
        <p14:creationId xmlns:p14="http://schemas.microsoft.com/office/powerpoint/2010/main" val="836211869"/>
      </p:ext>
    </p:extLst>
  </p:cSld>
</p:sld>
</file>

<file path=ppt/slides/slide1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14E655-55CF-4F62-A604-BAEB1E964BC8}"/>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Evidence today and the next gate</a:t>
            </a:r>
          </a:p>
        </p:txBody>
      </p:sp>
      <p:sp>
        <p:nvSpPr>
          <p:cNvPr id="2" name="">
            <a:extLst xmlns:a="http://schemas.openxmlformats.org/drawingml/2006/main">
              <a:ext uri="{FF2B5EF4-FFF2-40B4-BE49-F238E27FC236}">
                <a16:creationId xmlns:a16="http://schemas.microsoft.com/office/drawing/2014/main" id="{43AE4009-3DDD-4CBA-89E5-D91C0AC7E5FC}"/>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Software implementation is supported. Physical field verification is still ahead.</a:t>
            </a:r>
          </a:p>
        </p:txBody>
      </p:sp>
      <p:sp>
        <p:nvSpPr>
          <p:cNvPr id="3" name="">
            <a:extLst xmlns:a="http://schemas.openxmlformats.org/drawingml/2006/main">
              <a:ext uri="{FF2B5EF4-FFF2-40B4-BE49-F238E27FC236}">
                <a16:creationId xmlns:a16="http://schemas.microsoft.com/office/drawing/2014/main" id="{664CBBD9-5AC4-4428-A54E-4BD788ED6C68}"/>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15</a:t>
            </a:r>
          </a:p>
        </p:txBody>
      </p:sp>
      <p:graphicFrame>
        <p:nvGraphicFramePr>
          <p:cNvPr id="9" name=""/>
          <p:cNvGraphicFramePr/>
          <p:nvPr/>
        </p:nvGraphicFramePr>
        <p:xfrm>
          <a:off xmlns:a="http://schemas.openxmlformats.org/drawingml/2006/main" x="609600" y="1990725"/>
          <a:ext xmlns:a="http://schemas.openxmlformats.org/drawingml/2006/main" cx="10972800" cy="3562350"/>
        </p:xfrm>
        <a:graphic xmlns:a="http://schemas.openxmlformats.org/drawingml/2006/main">
          <a:graphicData uri="http://schemas.openxmlformats.org/drawingml/2006/table">
            <a:tbl>
              <a:tblPr/>
              <a:tblGrid>
                <a:gridCol w="5591175"/>
                <a:gridCol w="5381625"/>
              </a:tblGrid>
              <a:tr h="593725">
                <a:tc>
                  <a:txBody>
                    <a:bodyPr/>
                    <a:lstStyle/>
                    <a:p>
                      <a:r>
                        <a:rPr sz="1725" b="1">
                          <a:solidFill>
                            <a:srgbClr val="FFFFFF"/>
                          </a:solidFill>
                          <a:latin typeface="Arial"/>
                          <a:ea typeface="Arial"/>
                          <a:cs typeface="Arial"/>
                        </a:rPr>
                        <a:t>Recorded software evidence</a:t>
                      </a:r>
                    </a:p>
                  </a:txBody>
                  <a:tcPr marL="91440" marR="91440" marT="45720" marB="45720">
                    <a:solidFill>
                      <a:srgbClr val="123D38"/>
                    </a:solidFill>
                  </a:tcPr>
                </a:tc>
                <a:tc>
                  <a:txBody>
                    <a:bodyPr/>
                    <a:lstStyle/>
                    <a:p>
                      <a:r>
                        <a:rPr sz="1725" b="1">
                          <a:solidFill>
                            <a:srgbClr val="FFFFFF"/>
                          </a:solidFill>
                          <a:latin typeface="Arial"/>
                          <a:ea typeface="Arial"/>
                          <a:cs typeface="Arial"/>
                        </a:rPr>
                        <a:t>What remains open</a:t>
                      </a:r>
                    </a:p>
                  </a:txBody>
                  <a:tcPr marL="91440" marR="91440" marT="45720" marB="45720">
                    <a:solidFill>
                      <a:srgbClr val="123D38"/>
                    </a:solidFill>
                  </a:tcPr>
                </a:tc>
              </a:tr>
              <a:tr h="593725">
                <a:tc>
                  <a:txBody>
                    <a:bodyPr/>
                    <a:lstStyle/>
                    <a:p>
                      <a:r>
                        <a:rPr sz="1725" b="0">
                          <a:solidFill>
                            <a:srgbClr val="172E2B"/>
                          </a:solidFill>
                          <a:latin typeface="Arial"/>
                          <a:ea typeface="Arial"/>
                          <a:cs typeface="Arial"/>
                        </a:rPr>
                        <a:t>60 journeys on each of two Android emulators</a:t>
                      </a:r>
                    </a:p>
                  </a:txBody>
                  <a:tcPr marL="91440" marR="91440" marT="45720" marB="45720">
                    <a:solidFill>
                      <a:srgbClr val="FFFFFF"/>
                    </a:solidFill>
                  </a:tcPr>
                </a:tc>
                <a:tc>
                  <a:txBody>
                    <a:bodyPr/>
                    <a:lstStyle/>
                    <a:p>
                      <a:r>
                        <a:rPr sz="1725" b="0">
                          <a:solidFill>
                            <a:srgbClr val="172E2B"/>
                          </a:solidFill>
                          <a:latin typeface="Arial"/>
                          <a:ea typeface="Arial"/>
                          <a:cs typeface="Arial"/>
                        </a:rPr>
                        <a:t>Three physical-phone relay and restart</a:t>
                      </a:r>
                    </a:p>
                  </a:txBody>
                  <a:tcPr marL="91440" marR="91440" marT="45720" marB="45720">
                    <a:solidFill>
                      <a:srgbClr val="FFFFFF"/>
                    </a:solidFill>
                  </a:tcPr>
                </a:tc>
              </a:tr>
              <a:tr h="593725">
                <a:tc>
                  <a:txBody>
                    <a:bodyPr/>
                    <a:lstStyle/>
                    <a:p>
                      <a:r>
                        <a:rPr sz="1725" b="0">
                          <a:solidFill>
                            <a:srgbClr val="172E2B"/>
                          </a:solidFill>
                          <a:latin typeface="Arial"/>
                          <a:ea typeface="Arial"/>
                          <a:cs typeface="Arial"/>
                        </a:rPr>
                        <a:t>Signed receipt acceptance and rejection</a:t>
                      </a:r>
                    </a:p>
                  </a:txBody>
                  <a:tcPr marL="91440" marR="91440" marT="45720" marB="45720">
                    <a:solidFill>
                      <a:srgbClr val="EEF3EF"/>
                    </a:solidFill>
                  </a:tcPr>
                </a:tc>
                <a:tc>
                  <a:txBody>
                    <a:bodyPr/>
                    <a:lstStyle/>
                    <a:p>
                      <a:r>
                        <a:rPr sz="1725" b="0">
                          <a:solidFill>
                            <a:srgbClr val="172E2B"/>
                          </a:solidFill>
                          <a:latin typeface="Arial"/>
                          <a:ea typeface="Arial"/>
                          <a:cs typeface="Arial"/>
                        </a:rPr>
                        <a:t>Real-camera scanning in airplane mode</a:t>
                      </a:r>
                    </a:p>
                  </a:txBody>
                  <a:tcPr marL="91440" marR="91440" marT="45720" marB="45720">
                    <a:solidFill>
                      <a:srgbClr val="EEF3EF"/>
                    </a:solidFill>
                  </a:tcPr>
                </a:tc>
              </a:tr>
              <a:tr h="593725">
                <a:tc>
                  <a:txBody>
                    <a:bodyPr/>
                    <a:lstStyle/>
                    <a:p>
                      <a:r>
                        <a:rPr sz="1725" b="0">
                          <a:solidFill>
                            <a:srgbClr val="172E2B"/>
                          </a:solidFill>
                          <a:latin typeface="Arial"/>
                          <a:ea typeface="Arial"/>
                          <a:cs typeface="Arial"/>
                        </a:rPr>
                        <a:t>On-device route and synthetic model paths</a:t>
                      </a:r>
                    </a:p>
                  </a:txBody>
                  <a:tcPr marL="91440" marR="91440" marT="45720" marB="45720">
                    <a:solidFill>
                      <a:srgbClr val="FFFFFF"/>
                    </a:solidFill>
                  </a:tcPr>
                </a:tc>
                <a:tc>
                  <a:txBody>
                    <a:bodyPr/>
                    <a:lstStyle/>
                    <a:p>
                      <a:r>
                        <a:rPr sz="1725" b="0">
                          <a:solidFill>
                            <a:srgbClr val="172E2B"/>
                          </a:solidFill>
                          <a:latin typeface="Arial"/>
                          <a:ea typeface="Arial"/>
                          <a:cs typeface="Arial"/>
                        </a:rPr>
                        <a:t>Target-phone battery, memory and latency</a:t>
                      </a:r>
                    </a:p>
                  </a:txBody>
                  <a:tcPr marL="91440" marR="91440" marT="45720" marB="45720">
                    <a:solidFill>
                      <a:srgbClr val="FFFFFF"/>
                    </a:solidFill>
                  </a:tcPr>
                </a:tc>
              </a:tr>
              <a:tr h="593725">
                <a:tc>
                  <a:txBody>
                    <a:bodyPr/>
                    <a:lstStyle/>
                    <a:p>
                      <a:r>
                        <a:rPr sz="1725" b="0">
                          <a:solidFill>
                            <a:srgbClr val="172E2B"/>
                          </a:solidFill>
                          <a:latin typeface="Arial"/>
                          <a:ea typeface="Arial"/>
                          <a:cs typeface="Arial"/>
                        </a:rPr>
                        <a:t>10,000 local streams with durable receipts</a:t>
                      </a:r>
                    </a:p>
                  </a:txBody>
                  <a:tcPr marL="91440" marR="91440" marT="45720" marB="45720">
                    <a:solidFill>
                      <a:srgbClr val="EEF3EF"/>
                    </a:solidFill>
                  </a:tcPr>
                </a:tc>
                <a:tc>
                  <a:txBody>
                    <a:bodyPr/>
                    <a:lstStyle/>
                    <a:p>
                      <a:r>
                        <a:rPr sz="1725" b="0">
                          <a:solidFill>
                            <a:srgbClr val="172E2B"/>
                          </a:solidFill>
                          <a:latin typeface="Arial"/>
                          <a:ea typeface="Arial"/>
                          <a:cs typeface="Arial"/>
                        </a:rPr>
                        <a:t>Physical range and lossy-radio throughput</a:t>
                      </a:r>
                    </a:p>
                  </a:txBody>
                  <a:tcPr marL="91440" marR="91440" marT="45720" marB="45720">
                    <a:solidFill>
                      <a:srgbClr val="EEF3EF"/>
                    </a:solidFill>
                  </a:tcPr>
                </a:tc>
              </a:tr>
              <a:tr h="593725">
                <a:tc>
                  <a:txBody>
                    <a:bodyPr/>
                    <a:lstStyle/>
                    <a:p>
                      <a:r>
                        <a:rPr sz="1725" b="0">
                          <a:solidFill>
                            <a:srgbClr val="172E2B"/>
                          </a:solidFill>
                          <a:latin typeface="Arial"/>
                          <a:ea typeface="Arial"/>
                          <a:cs typeface="Arial"/>
                        </a:rPr>
                        <a:t>Bilingual resources and emulator flows</a:t>
                      </a:r>
                    </a:p>
                  </a:txBody>
                  <a:tcPr marL="91440" marR="91440" marT="45720" marB="45720">
                    <a:solidFill>
                      <a:srgbClr val="FFFFFF"/>
                    </a:solidFill>
                  </a:tcPr>
                </a:tc>
                <a:tc>
                  <a:txBody>
                    <a:bodyPr/>
                    <a:lstStyle/>
                    <a:p>
                      <a:r>
                        <a:rPr sz="1725" b="0">
                          <a:solidFill>
                            <a:srgbClr val="172E2B"/>
                          </a:solidFill>
                          <a:latin typeface="Arial"/>
                          <a:ea typeface="Arial"/>
                          <a:cs typeface="Arial"/>
                        </a:rPr>
                        <a:t>Human accessibility and repeated rehearsal</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0A8649E-DE27-4D97-9F7A-0E314AA3403D}"/>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10,000-stream result: loopback p95 acknowledgement 57.645 seconds. Capacity evidence, not deployment latency.</a:t>
            </a:r>
          </a:p>
        </p:txBody>
      </p:sp>
    </p:spTree>
    <p:extLst>
      <p:ext uri="{BB962C8B-B14F-4D97-AF65-F5344CB8AC3E}">
        <p14:creationId xmlns:p14="http://schemas.microsoft.com/office/powerpoint/2010/main" val="754399766"/>
      </p:ext>
    </p:extLst>
  </p:cSld>
</p:sld>
</file>

<file path=ppt/slides/slide1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A824B2-650E-4E7B-9373-5FA511758359}"/>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A proposed twelve week pilot</a:t>
            </a:r>
          </a:p>
        </p:txBody>
      </p:sp>
      <p:sp>
        <p:nvSpPr>
          <p:cNvPr id="2" name="">
            <a:extLst xmlns:a="http://schemas.openxmlformats.org/drawingml/2006/main">
              <a:ext uri="{FF2B5EF4-FFF2-40B4-BE49-F238E27FC236}">
                <a16:creationId xmlns:a16="http://schemas.microsoft.com/office/drawing/2014/main" id="{C609CA89-A3C2-43D3-9183-A3D3390E218F}"/>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A supervised exercise should earn the next deployment decision.</a:t>
            </a:r>
          </a:p>
        </p:txBody>
      </p:sp>
      <p:sp>
        <p:nvSpPr>
          <p:cNvPr id="3" name="">
            <a:extLst xmlns:a="http://schemas.openxmlformats.org/drawingml/2006/main">
              <a:ext uri="{FF2B5EF4-FFF2-40B4-BE49-F238E27FC236}">
                <a16:creationId xmlns:a16="http://schemas.microsoft.com/office/drawing/2014/main" id="{1D4AA4FA-F1DB-450C-8DCC-1DE880599787}"/>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16</a:t>
            </a:r>
          </a:p>
        </p:txBody>
      </p:sp>
      <p:graphicFrame>
        <p:nvGraphicFramePr>
          <p:cNvPr id="9" name=""/>
          <p:cNvGraphicFramePr/>
          <p:nvPr/>
        </p:nvGraphicFramePr>
        <p:xfrm>
          <a:off xmlns:a="http://schemas.openxmlformats.org/drawingml/2006/main" x="609600" y="2190750"/>
          <a:ext xmlns:a="http://schemas.openxmlformats.org/drawingml/2006/main" cx="10972800" cy="3238500"/>
        </p:xfrm>
        <a:graphic xmlns:a="http://schemas.openxmlformats.org/drawingml/2006/main">
          <a:graphicData uri="http://schemas.openxmlformats.org/drawingml/2006/table">
            <a:tbl>
              <a:tblPr/>
              <a:tblGrid>
                <a:gridCol w="2047875"/>
                <a:gridCol w="4048125"/>
                <a:gridCol w="4876800"/>
              </a:tblGrid>
              <a:tr h="647700">
                <a:tc>
                  <a:txBody>
                    <a:bodyPr/>
                    <a:lstStyle/>
                    <a:p>
                      <a:r>
                        <a:rPr sz="1875" b="1">
                          <a:solidFill>
                            <a:srgbClr val="FFFFFF"/>
                          </a:solidFill>
                          <a:latin typeface="Arial"/>
                          <a:ea typeface="Arial"/>
                          <a:cs typeface="Arial"/>
                        </a:rPr>
                        <a:t>Period</a:t>
                      </a:r>
                    </a:p>
                  </a:txBody>
                  <a:tcPr marL="91440" marR="91440" marT="45720" marB="45720">
                    <a:solidFill>
                      <a:srgbClr val="123D38"/>
                    </a:solidFill>
                  </a:tcPr>
                </a:tc>
                <a:tc>
                  <a:txBody>
                    <a:bodyPr/>
                    <a:lstStyle/>
                    <a:p>
                      <a:r>
                        <a:rPr sz="1875" b="1">
                          <a:solidFill>
                            <a:srgbClr val="FFFFFF"/>
                          </a:solidFill>
                          <a:latin typeface="Arial"/>
                          <a:ea typeface="Arial"/>
                          <a:cs typeface="Arial"/>
                        </a:rPr>
                        <a:t>Work</a:t>
                      </a:r>
                    </a:p>
                  </a:txBody>
                  <a:tcPr marL="91440" marR="91440" marT="45720" marB="45720">
                    <a:solidFill>
                      <a:srgbClr val="123D38"/>
                    </a:solidFill>
                  </a:tcPr>
                </a:tc>
                <a:tc>
                  <a:txBody>
                    <a:bodyPr/>
                    <a:lstStyle/>
                    <a:p>
                      <a:r>
                        <a:rPr sz="1875" b="1">
                          <a:solidFill>
                            <a:srgbClr val="FFFFFF"/>
                          </a:solidFill>
                          <a:latin typeface="Arial"/>
                          <a:ea typeface="Arial"/>
                          <a:cs typeface="Arial"/>
                        </a:rPr>
                        <a:t>Evidence</a:t>
                      </a:r>
                    </a:p>
                  </a:txBody>
                  <a:tcPr marL="91440" marR="91440" marT="45720" marB="45720">
                    <a:solidFill>
                      <a:srgbClr val="123D38"/>
                    </a:solidFill>
                  </a:tcPr>
                </a:tc>
              </a:tr>
              <a:tr h="647700">
                <a:tc>
                  <a:txBody>
                    <a:bodyPr/>
                    <a:lstStyle/>
                    <a:p>
                      <a:r>
                        <a:rPr sz="1875" b="0">
                          <a:solidFill>
                            <a:srgbClr val="172E2B"/>
                          </a:solidFill>
                          <a:latin typeface="Arial"/>
                          <a:ea typeface="Arial"/>
                          <a:cs typeface="Arial"/>
                        </a:rPr>
                        <a:t>Weeks 1–2</a:t>
                      </a:r>
                    </a:p>
                  </a:txBody>
                  <a:tcPr marL="91440" marR="91440" marT="45720" marB="45720">
                    <a:solidFill>
                      <a:srgbClr val="FFFFFF"/>
                    </a:solidFill>
                  </a:tcPr>
                </a:tc>
                <a:tc>
                  <a:txBody>
                    <a:bodyPr/>
                    <a:lstStyle/>
                    <a:p>
                      <a:r>
                        <a:rPr sz="1875" b="0">
                          <a:solidFill>
                            <a:srgbClr val="172E2B"/>
                          </a:solidFill>
                          <a:latin typeface="Arial"/>
                          <a:ea typeface="Arial"/>
                          <a:cs typeface="Arial"/>
                        </a:rPr>
                        <a:t>Sponsor and workflow mapping</a:t>
                      </a:r>
                    </a:p>
                  </a:txBody>
                  <a:tcPr marL="91440" marR="91440" marT="45720" marB="45720">
                    <a:solidFill>
                      <a:srgbClr val="FFFFFF"/>
                    </a:solidFill>
                  </a:tcPr>
                </a:tc>
                <a:tc>
                  <a:txBody>
                    <a:bodyPr/>
                    <a:lstStyle/>
                    <a:p>
                      <a:r>
                        <a:rPr sz="1875" b="0">
                          <a:solidFill>
                            <a:srgbClr val="172E2B"/>
                          </a:solidFill>
                          <a:latin typeface="Arial"/>
                          <a:ea typeface="Arial"/>
                          <a:cs typeface="Arial"/>
                        </a:rPr>
                        <a:t>Owner and agreed acceptance criteria</a:t>
                      </a:r>
                    </a:p>
                  </a:txBody>
                  <a:tcPr marL="91440" marR="91440" marT="45720" marB="45720">
                    <a:solidFill>
                      <a:srgbClr val="FFFFFF"/>
                    </a:solidFill>
                  </a:tcPr>
                </a:tc>
              </a:tr>
              <a:tr h="647700">
                <a:tc>
                  <a:txBody>
                    <a:bodyPr/>
                    <a:lstStyle/>
                    <a:p>
                      <a:r>
                        <a:rPr sz="1875" b="0">
                          <a:solidFill>
                            <a:srgbClr val="172E2B"/>
                          </a:solidFill>
                          <a:latin typeface="Arial"/>
                          <a:ea typeface="Arial"/>
                          <a:cs typeface="Arial"/>
                        </a:rPr>
                        <a:t>Weeks 3–5</a:t>
                      </a:r>
                    </a:p>
                  </a:txBody>
                  <a:tcPr marL="91440" marR="91440" marT="45720" marB="45720">
                    <a:solidFill>
                      <a:srgbClr val="EEF3EF"/>
                    </a:solidFill>
                  </a:tcPr>
                </a:tc>
                <a:tc>
                  <a:txBody>
                    <a:bodyPr/>
                    <a:lstStyle/>
                    <a:p>
                      <a:r>
                        <a:rPr sz="1875" b="0">
                          <a:solidFill>
                            <a:srgbClr val="172E2B"/>
                          </a:solidFill>
                          <a:latin typeface="Arial"/>
                          <a:ea typeface="Arial"/>
                          <a:cs typeface="Arial"/>
                        </a:rPr>
                        <a:t>Physical device testing</a:t>
                      </a:r>
                    </a:p>
                  </a:txBody>
                  <a:tcPr marL="91440" marR="91440" marT="45720" marB="45720">
                    <a:solidFill>
                      <a:srgbClr val="EEF3EF"/>
                    </a:solidFill>
                  </a:tcPr>
                </a:tc>
                <a:tc>
                  <a:txBody>
                    <a:bodyPr/>
                    <a:lstStyle/>
                    <a:p>
                      <a:r>
                        <a:rPr sz="1875" b="0">
                          <a:solidFill>
                            <a:srgbClr val="172E2B"/>
                          </a:solidFill>
                          <a:latin typeface="Arial"/>
                          <a:ea typeface="Arial"/>
                          <a:cs typeface="Arial"/>
                        </a:rPr>
                        <a:t>Relay, QR, recovery and power records</a:t>
                      </a:r>
                    </a:p>
                  </a:txBody>
                  <a:tcPr marL="91440" marR="91440" marT="45720" marB="45720">
                    <a:solidFill>
                      <a:srgbClr val="EEF3EF"/>
                    </a:solidFill>
                  </a:tcPr>
                </a:tc>
              </a:tr>
              <a:tr h="647700">
                <a:tc>
                  <a:txBody>
                    <a:bodyPr/>
                    <a:lstStyle/>
                    <a:p>
                      <a:r>
                        <a:rPr sz="1875" b="0">
                          <a:solidFill>
                            <a:srgbClr val="172E2B"/>
                          </a:solidFill>
                          <a:latin typeface="Arial"/>
                          <a:ea typeface="Arial"/>
                          <a:cs typeface="Arial"/>
                        </a:rPr>
                        <a:t>Weeks 6–8</a:t>
                      </a:r>
                    </a:p>
                  </a:txBody>
                  <a:tcPr marL="91440" marR="91440" marT="45720" marB="45720">
                    <a:solidFill>
                      <a:srgbClr val="FFFFFF"/>
                    </a:solidFill>
                  </a:tcPr>
                </a:tc>
                <a:tc>
                  <a:txBody>
                    <a:bodyPr/>
                    <a:lstStyle/>
                    <a:p>
                      <a:r>
                        <a:rPr sz="1875" b="0">
                          <a:solidFill>
                            <a:srgbClr val="172E2B"/>
                          </a:solidFill>
                          <a:latin typeface="Arial"/>
                          <a:ea typeface="Arial"/>
                          <a:cs typeface="Arial"/>
                        </a:rPr>
                        <a:t>Bilingual participant tasks</a:t>
                      </a:r>
                    </a:p>
                  </a:txBody>
                  <a:tcPr marL="91440" marR="91440" marT="45720" marB="45720">
                    <a:solidFill>
                      <a:srgbClr val="FFFFFF"/>
                    </a:solidFill>
                  </a:tcPr>
                </a:tc>
                <a:tc>
                  <a:txBody>
                    <a:bodyPr/>
                    <a:lstStyle/>
                    <a:p>
                      <a:r>
                        <a:rPr sz="1875" b="0">
                          <a:solidFill>
                            <a:srgbClr val="172E2B"/>
                          </a:solidFill>
                          <a:latin typeface="Arial"/>
                          <a:ea typeface="Arial"/>
                          <a:cs typeface="Arial"/>
                        </a:rPr>
                        <a:t>Task success and critical errors</a:t>
                      </a:r>
                    </a:p>
                  </a:txBody>
                  <a:tcPr marL="91440" marR="91440" marT="45720" marB="45720">
                    <a:solidFill>
                      <a:srgbClr val="FFFFFF"/>
                    </a:solidFill>
                  </a:tcPr>
                </a:tc>
              </a:tr>
              <a:tr h="647700">
                <a:tc>
                  <a:txBody>
                    <a:bodyPr/>
                    <a:lstStyle/>
                    <a:p>
                      <a:r>
                        <a:rPr sz="1875" b="0">
                          <a:solidFill>
                            <a:srgbClr val="172E2B"/>
                          </a:solidFill>
                          <a:latin typeface="Arial"/>
                          <a:ea typeface="Arial"/>
                          <a:cs typeface="Arial"/>
                        </a:rPr>
                        <a:t>Weeks 9–12</a:t>
                      </a:r>
                    </a:p>
                  </a:txBody>
                  <a:tcPr marL="91440" marR="91440" marT="45720" marB="45720">
                    <a:solidFill>
                      <a:srgbClr val="EEF3EF"/>
                    </a:solidFill>
                  </a:tcPr>
                </a:tc>
                <a:tc>
                  <a:txBody>
                    <a:bodyPr/>
                    <a:lstStyle/>
                    <a:p>
                      <a:r>
                        <a:rPr sz="1875" b="0">
                          <a:solidFill>
                            <a:srgbClr val="172E2B"/>
                          </a:solidFill>
                          <a:latin typeface="Arial"/>
                          <a:ea typeface="Arial"/>
                          <a:cs typeface="Arial"/>
                        </a:rPr>
                        <a:t>Supervised shadow exercise</a:t>
                      </a:r>
                    </a:p>
                  </a:txBody>
                  <a:tcPr marL="91440" marR="91440" marT="45720" marB="45720">
                    <a:solidFill>
                      <a:srgbClr val="EEF3EF"/>
                    </a:solidFill>
                  </a:tcPr>
                </a:tc>
                <a:tc>
                  <a:txBody>
                    <a:bodyPr/>
                    <a:lstStyle/>
                    <a:p>
                      <a:r>
                        <a:rPr sz="1875" b="0">
                          <a:solidFill>
                            <a:srgbClr val="172E2B"/>
                          </a:solidFill>
                          <a:latin typeface="Arial"/>
                          <a:ea typeface="Arial"/>
                          <a:cs typeface="Arial"/>
                        </a:rPr>
                        <a:t>Baseline comparison and go or stop review</a:t>
                      </a:r>
                    </a:p>
                  </a:txBody>
                  <a:tcPr marL="91440" marR="91440" marT="45720" marB="45720">
                    <a:solidFill>
                      <a:srgbClr val="EEF3EF"/>
                    </a:solidFill>
                  </a:tcPr>
                </a:tc>
              </a:tr>
            </a:tbl>
          </a:graphicData>
        </a:graphic>
      </p:graphicFrame>
      <p:sp>
        <p:nvSpPr>
          <p:cNvPr id="5" name="">
            <a:extLst xmlns:a="http://schemas.openxmlformats.org/drawingml/2006/main">
              <a:ext uri="{FF2B5EF4-FFF2-40B4-BE49-F238E27FC236}">
                <a16:creationId xmlns:a16="http://schemas.microsoft.com/office/drawing/2014/main" id="{DB7BEE1A-1E60-4434-9E7F-A4B349F03C72}"/>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Proposed schedule. Scale only after device, human and governance gates pass.</a:t>
            </a:r>
          </a:p>
        </p:txBody>
      </p:sp>
    </p:spTree>
    <p:extLst>
      <p:ext uri="{BB962C8B-B14F-4D97-AF65-F5344CB8AC3E}">
        <p14:creationId xmlns:p14="http://schemas.microsoft.com/office/powerpoint/2010/main" val="914097808"/>
      </p:ext>
    </p:extLst>
  </p:cSld>
</p:sld>
</file>

<file path=ppt/slides/slide17.xml><?xml version="1.0" encoding="utf-8"?>
<p:sld xmlns:p="http://schemas.openxmlformats.org/presentationml/2006/main">
  <p:cSld>
    <p:bg>
      <p:bgPr>
        <a:solidFill xmlns:a="http://schemas.openxmlformats.org/drawingml/2006/main">
          <a:srgbClr val="123D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633749-93DC-4D38-B3F3-320F8CEA7400}"/>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The partnership request</a:t>
            </a:r>
          </a:p>
        </p:txBody>
      </p:sp>
      <p:sp>
        <p:nvSpPr>
          <p:cNvPr id="2" name="">
            <a:extLst xmlns:a="http://schemas.openxmlformats.org/drawingml/2006/main">
              <a:ext uri="{FF2B5EF4-FFF2-40B4-BE49-F238E27FC236}">
                <a16:creationId xmlns:a16="http://schemas.microsoft.com/office/drawing/2014/main" id="{19C46A5C-A8C2-483B-A340-3A7E211D49B4}"/>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D5E9E2"/>
                </a:solidFill>
                <a:latin typeface="Arial"/>
                <a:ea typeface="Arial"/>
                <a:cs typeface="Arial"/>
              </a:defRPr>
            </a:pPr>
            <a:r>
              <a:rPr sz="1875" b="0">
                <a:solidFill>
                  <a:srgbClr val="D5E9E2"/>
                </a:solidFill>
                <a:latin typeface="Arial"/>
                <a:ea typeface="Arial"/>
                <a:cs typeface="Arial"/>
              </a:rPr>
              <a:t>One operational owner and one controlled exercise.</a:t>
            </a:r>
          </a:p>
        </p:txBody>
      </p:sp>
      <p:sp>
        <p:nvSpPr>
          <p:cNvPr id="3" name="">
            <a:extLst xmlns:a="http://schemas.openxmlformats.org/drawingml/2006/main">
              <a:ext uri="{FF2B5EF4-FFF2-40B4-BE49-F238E27FC236}">
                <a16:creationId xmlns:a16="http://schemas.microsoft.com/office/drawing/2014/main" id="{9433291F-A6E1-4273-A450-661A51A116F3}"/>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D5E9E2"/>
                </a:solidFill>
                <a:latin typeface="Arial"/>
                <a:ea typeface="Arial"/>
                <a:cs typeface="Arial"/>
              </a:defRPr>
            </a:pPr>
            <a:r>
              <a:rPr sz="1125" b="0">
                <a:solidFill>
                  <a:srgbClr val="D5E9E2"/>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6B686B6-8BF0-4BBC-B70C-2D875DA37439}"/>
              </a:ext>
            </a:extLst>
          </p:cNvPr>
          <p:cNvSpPr>
            <a:spLocks xmlns:a="http://schemas.openxmlformats.org/drawingml/2006/main" noGrp="1"/>
          </p:cNvSpPr>
          <p:nvPr/>
        </p:nvSpPr>
        <p:spPr>
          <a:xfrm xmlns:a="http://schemas.openxmlformats.org/drawingml/2006/main">
            <a:off x="638175" y="2343150"/>
            <a:ext cx="10810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00" b="0">
                <a:solidFill>
                  <a:srgbClr val="FFFFFF"/>
                </a:solidFill>
                <a:latin typeface="Georgia"/>
                <a:ea typeface="Georgia"/>
                <a:cs typeface="Georgia"/>
              </a:defRPr>
            </a:pPr>
            <a:r>
              <a:rPr sz="4200" b="0">
                <a:solidFill>
                  <a:srgbClr val="FFFFFF"/>
                </a:solidFill>
                <a:latin typeface="Georgia"/>
                <a:ea typeface="Georgia"/>
                <a:cs typeface="Georgia"/>
              </a:rPr>
              <a:t>Validate the radios.</a:t>
            </a:r>
          </a:p>
          <a:p xmlns:a="http://schemas.openxmlformats.org/drawingml/2006/main">
            <a:pPr>
              <a:defRPr sz="4200" b="0">
                <a:solidFill>
                  <a:srgbClr val="FFFFFF"/>
                </a:solidFill>
                <a:latin typeface="Georgia"/>
                <a:ea typeface="Georgia"/>
                <a:cs typeface="Georgia"/>
              </a:defRPr>
            </a:pPr>
            <a:r>
              <a:rPr sz="4200" b="0">
                <a:solidFill>
                  <a:srgbClr val="FFFFFF"/>
                </a:solidFill>
                <a:latin typeface="Georgia"/>
                <a:ea typeface="Georgia"/>
                <a:cs typeface="Georgia"/>
              </a:rPr>
              <a:t>Observe the operators.</a:t>
            </a:r>
          </a:p>
          <a:p xmlns:a="http://schemas.openxmlformats.org/drawingml/2006/main">
            <a:pPr>
              <a:defRPr sz="4200" b="0">
                <a:solidFill>
                  <a:srgbClr val="FFFFFF"/>
                </a:solidFill>
                <a:latin typeface="Georgia"/>
                <a:ea typeface="Georgia"/>
                <a:cs typeface="Georgia"/>
              </a:defRPr>
            </a:pPr>
            <a:r>
              <a:rPr sz="4200" b="0">
                <a:solidFill>
                  <a:srgbClr val="FFFFFF"/>
                </a:solidFill>
                <a:latin typeface="Georgia"/>
                <a:ea typeface="Georgia"/>
                <a:cs typeface="Georgia"/>
              </a:rPr>
              <a:t>Compare the delivery record.</a:t>
            </a:r>
          </a:p>
        </p:txBody>
      </p:sp>
      <p:sp>
        <p:nvSpPr>
          <p:cNvPr id="5" name="">
            <a:extLst xmlns:a="http://schemas.openxmlformats.org/drawingml/2006/main">
              <a:ext uri="{FF2B5EF4-FFF2-40B4-BE49-F238E27FC236}">
                <a16:creationId xmlns:a16="http://schemas.microsoft.com/office/drawing/2014/main" id="{5D503ED5-9590-426D-8938-464E331BEEF8}"/>
              </a:ext>
            </a:extLst>
          </p:cNvPr>
          <p:cNvSpPr>
            <a:spLocks xmlns:a="http://schemas.openxmlformats.org/drawingml/2006/main" noGrp="1"/>
          </p:cNvSpPr>
          <p:nvPr/>
        </p:nvSpPr>
        <p:spPr>
          <a:xfrm xmlns:a="http://schemas.openxmlformats.org/drawingml/2006/main">
            <a:off x="638175" y="5229225"/>
            <a:ext cx="1038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D5E9E2"/>
                </a:solidFill>
                <a:latin typeface="Arial"/>
                <a:ea typeface="Arial"/>
                <a:cs typeface="Arial"/>
              </a:defRPr>
            </a:pPr>
            <a:r>
              <a:rPr sz="1950" b="0">
                <a:solidFill>
                  <a:srgbClr val="D5E9E2"/>
                </a:solidFill>
                <a:latin typeface="Arial"/>
                <a:ea typeface="Arial"/>
                <a:cs typeface="Arial"/>
              </a:rPr>
              <a:t>Touhidul Alam Seyam</a:t>
            </a:r>
          </a:p>
          <a:p xmlns:a="http://schemas.openxmlformats.org/drawingml/2006/main">
            <a:pPr>
              <a:defRPr sz="1950" b="0">
                <a:solidFill>
                  <a:srgbClr val="D5E9E2"/>
                </a:solidFill>
                <a:latin typeface="Arial"/>
                <a:ea typeface="Arial"/>
                <a:cs typeface="Arial"/>
              </a:defRPr>
            </a:pPr>
            <a:r>
              <a:rPr sz="1950" b="0">
                <a:solidFill>
                  <a:srgbClr val="D5E9E2"/>
                </a:solidFill>
                <a:latin typeface="Arial"/>
                <a:ea typeface="Arial"/>
                <a:cs typeface="Arial"/>
              </a:rPr>
              <a:t>BGC Trust University Bangladesh</a:t>
            </a:r>
          </a:p>
        </p:txBody>
      </p:sp>
    </p:spTree>
    <p:extLst>
      <p:ext uri="{BB962C8B-B14F-4D97-AF65-F5344CB8AC3E}">
        <p14:creationId xmlns:p14="http://schemas.microsoft.com/office/powerpoint/2010/main" val="1888558935"/>
      </p:ext>
    </p:extLst>
  </p:cSld>
</p:sld>
</file>

<file path=ppt/slides/slide1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24009F-6299-4B92-9A91-5429F0E65653}"/>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Inside a field phone</a:t>
            </a:r>
          </a:p>
        </p:txBody>
      </p:sp>
      <p:sp>
        <p:nvSpPr>
          <p:cNvPr id="2" name="">
            <a:extLst xmlns:a="http://schemas.openxmlformats.org/drawingml/2006/main">
              <a:ext uri="{FF2B5EF4-FFF2-40B4-BE49-F238E27FC236}">
                <a16:creationId xmlns:a16="http://schemas.microsoft.com/office/drawing/2014/main" id="{09260D68-54CB-4BFD-AA6B-EBE94066427C}"/>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5D3F1B6D-0F97-41C8-BF8E-828467699B48}"/>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F4032FB2-DBA6-4BBB-9F83-DD39BC089530}"/>
              </a:ext>
            </a:extLst>
          </p:cNvPr>
          <p:cNvSpPr>
            <a:spLocks xmlns:a="http://schemas.openxmlformats.org/drawingml/2006/main" noGrp="1"/>
          </p:cNvSpPr>
          <p:nvPr/>
        </p:nvSpPr>
        <p:spPr>
          <a:xfrm xmlns:a="http://schemas.openxmlformats.org/drawingml/2006/main">
            <a:off x="2423160" y="1883569"/>
            <a:ext cx="6324600" cy="711518"/>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5" name="">
            <a:extLst xmlns:a="http://schemas.openxmlformats.org/drawingml/2006/main">
              <a:ext uri="{FF2B5EF4-FFF2-40B4-BE49-F238E27FC236}">
                <a16:creationId xmlns:a16="http://schemas.microsoft.com/office/drawing/2014/main" id="{915F68FC-1B65-44BF-B893-ED8EE6415DE4}"/>
              </a:ext>
            </a:extLst>
          </p:cNvPr>
          <p:cNvSpPr>
            <a:spLocks xmlns:a="http://schemas.openxmlformats.org/drawingml/2006/main" noGrp="1"/>
          </p:cNvSpPr>
          <p:nvPr/>
        </p:nvSpPr>
        <p:spPr>
          <a:xfrm xmlns:a="http://schemas.openxmlformats.org/drawingml/2006/main">
            <a:off x="2502218" y="2017967"/>
            <a:ext cx="6166485"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Compose UI and ViewModels</a:t>
            </a:r>
          </a:p>
        </p:txBody>
      </p:sp>
      <p:sp>
        <p:nvSpPr>
          <p:cNvPr id="6" name="">
            <a:extLst xmlns:a="http://schemas.openxmlformats.org/drawingml/2006/main">
              <a:ext uri="{FF2B5EF4-FFF2-40B4-BE49-F238E27FC236}">
                <a16:creationId xmlns:a16="http://schemas.microsoft.com/office/drawing/2014/main" id="{6BB3869B-9501-4C07-90AD-FE9718F46145}"/>
              </a:ext>
            </a:extLst>
          </p:cNvPr>
          <p:cNvSpPr>
            <a:spLocks xmlns:a="http://schemas.openxmlformats.org/drawingml/2006/main" noGrp="1"/>
          </p:cNvSpPr>
          <p:nvPr/>
        </p:nvSpPr>
        <p:spPr>
          <a:xfrm xmlns:a="http://schemas.openxmlformats.org/drawingml/2006/main">
            <a:off x="2502218" y="2310479"/>
            <a:ext cx="6166485" cy="2846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Bundled Bangla and English state</a:t>
            </a:r>
          </a:p>
        </p:txBody>
      </p:sp>
      <p:sp>
        <p:nvSpPr>
          <p:cNvPr id="7" name="">
            <a:extLst xmlns:a="http://schemas.openxmlformats.org/drawingml/2006/main">
              <a:ext uri="{FF2B5EF4-FFF2-40B4-BE49-F238E27FC236}">
                <a16:creationId xmlns:a16="http://schemas.microsoft.com/office/drawing/2014/main" id="{E693FCD8-E1FB-449C-B14B-B9D3FF4221CE}"/>
              </a:ext>
            </a:extLst>
          </p:cNvPr>
          <p:cNvSpPr>
            <a:spLocks xmlns:a="http://schemas.openxmlformats.org/drawingml/2006/main" noGrp="1"/>
          </p:cNvSpPr>
          <p:nvPr/>
        </p:nvSpPr>
        <p:spPr>
          <a:xfrm xmlns:a="http://schemas.openxmlformats.org/drawingml/2006/main">
            <a:off x="2423160" y="3108960"/>
            <a:ext cx="632460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8" name="">
            <a:extLst xmlns:a="http://schemas.openxmlformats.org/drawingml/2006/main">
              <a:ext uri="{FF2B5EF4-FFF2-40B4-BE49-F238E27FC236}">
                <a16:creationId xmlns:a16="http://schemas.microsoft.com/office/drawing/2014/main" id="{92D78DFB-C9AF-410E-8826-E9A1D5F752DE}"/>
              </a:ext>
            </a:extLst>
          </p:cNvPr>
          <p:cNvSpPr>
            <a:spLocks xmlns:a="http://schemas.openxmlformats.org/drawingml/2006/main" noGrp="1"/>
          </p:cNvSpPr>
          <p:nvPr/>
        </p:nvSpPr>
        <p:spPr>
          <a:xfrm xmlns:a="http://schemas.openxmlformats.org/drawingml/2006/main">
            <a:off x="2502218" y="3243358"/>
            <a:ext cx="6166485"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Domain rules and repositories</a:t>
            </a:r>
          </a:p>
        </p:txBody>
      </p:sp>
      <p:sp>
        <p:nvSpPr>
          <p:cNvPr id="9" name="">
            <a:extLst xmlns:a="http://schemas.openxmlformats.org/drawingml/2006/main">
              <a:ext uri="{FF2B5EF4-FFF2-40B4-BE49-F238E27FC236}">
                <a16:creationId xmlns:a16="http://schemas.microsoft.com/office/drawing/2014/main" id="{64BE948A-FCD4-4AD3-BB33-605003D3EA1A}"/>
              </a:ext>
            </a:extLst>
          </p:cNvPr>
          <p:cNvSpPr>
            <a:spLocks xmlns:a="http://schemas.openxmlformats.org/drawingml/2006/main" noGrp="1"/>
          </p:cNvSpPr>
          <p:nvPr/>
        </p:nvSpPr>
        <p:spPr>
          <a:xfrm xmlns:a="http://schemas.openxmlformats.org/drawingml/2006/main">
            <a:off x="2502218" y="3535871"/>
            <a:ext cx="6166485" cy="3636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Authorization   Conflicts   Routing   Triage   Custody</a:t>
            </a:r>
          </a:p>
        </p:txBody>
      </p:sp>
      <p:sp>
        <p:nvSpPr>
          <p:cNvPr id="10" name="">
            <a:extLst xmlns:a="http://schemas.openxmlformats.org/drawingml/2006/main">
              <a:ext uri="{FF2B5EF4-FFF2-40B4-BE49-F238E27FC236}">
                <a16:creationId xmlns:a16="http://schemas.microsoft.com/office/drawing/2014/main" id="{C463530C-E166-4CCE-981C-7C1D5CEC2332}"/>
              </a:ext>
            </a:extLst>
          </p:cNvPr>
          <p:cNvSpPr>
            <a:spLocks xmlns:a="http://schemas.openxmlformats.org/drawingml/2006/main" noGrp="1"/>
          </p:cNvSpPr>
          <p:nvPr/>
        </p:nvSpPr>
        <p:spPr>
          <a:xfrm xmlns:a="http://schemas.openxmlformats.org/drawingml/2006/main">
            <a:off x="1158240" y="4611053"/>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1" name="">
            <a:extLst xmlns:a="http://schemas.openxmlformats.org/drawingml/2006/main">
              <a:ext uri="{FF2B5EF4-FFF2-40B4-BE49-F238E27FC236}">
                <a16:creationId xmlns:a16="http://schemas.microsoft.com/office/drawing/2014/main" id="{BE37614B-0E9D-4C1E-9090-84637E86E732}"/>
              </a:ext>
            </a:extLst>
          </p:cNvPr>
          <p:cNvSpPr>
            <a:spLocks xmlns:a="http://schemas.openxmlformats.org/drawingml/2006/main" noGrp="1"/>
          </p:cNvSpPr>
          <p:nvPr/>
        </p:nvSpPr>
        <p:spPr>
          <a:xfrm xmlns:a="http://schemas.openxmlformats.org/drawingml/2006/main">
            <a:off x="1237298" y="4745450"/>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Room and DataStore</a:t>
            </a:r>
          </a:p>
        </p:txBody>
      </p:sp>
      <p:sp>
        <p:nvSpPr>
          <p:cNvPr id="12" name="">
            <a:extLst xmlns:a="http://schemas.openxmlformats.org/drawingml/2006/main">
              <a:ext uri="{FF2B5EF4-FFF2-40B4-BE49-F238E27FC236}">
                <a16:creationId xmlns:a16="http://schemas.microsoft.com/office/drawing/2014/main" id="{A64007AD-335B-4F2A-96B8-AEA87AB59FDE}"/>
              </a:ext>
            </a:extLst>
          </p:cNvPr>
          <p:cNvSpPr>
            <a:spLocks xmlns:a="http://schemas.openxmlformats.org/drawingml/2006/main" noGrp="1"/>
          </p:cNvSpPr>
          <p:nvPr/>
        </p:nvSpPr>
        <p:spPr>
          <a:xfrm xmlns:a="http://schemas.openxmlformats.org/drawingml/2006/main">
            <a:off x="1237298" y="5037963"/>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Events and durable queues</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Profile and language</a:t>
            </a:r>
          </a:p>
        </p:txBody>
      </p:sp>
      <p:sp>
        <p:nvSpPr>
          <p:cNvPr id="13" name="">
            <a:extLst xmlns:a="http://schemas.openxmlformats.org/drawingml/2006/main">
              <a:ext uri="{FF2B5EF4-FFF2-40B4-BE49-F238E27FC236}">
                <a16:creationId xmlns:a16="http://schemas.microsoft.com/office/drawing/2014/main" id="{4D49AB06-1B97-4DAA-87E5-6FA39A161D3C}"/>
              </a:ext>
            </a:extLst>
          </p:cNvPr>
          <p:cNvSpPr>
            <a:spLocks xmlns:a="http://schemas.openxmlformats.org/drawingml/2006/main" noGrp="1"/>
          </p:cNvSpPr>
          <p:nvPr/>
        </p:nvSpPr>
        <p:spPr>
          <a:xfrm xmlns:a="http://schemas.openxmlformats.org/drawingml/2006/main">
            <a:off x="4281011" y="4611053"/>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4" name="">
            <a:extLst xmlns:a="http://schemas.openxmlformats.org/drawingml/2006/main">
              <a:ext uri="{FF2B5EF4-FFF2-40B4-BE49-F238E27FC236}">
                <a16:creationId xmlns:a16="http://schemas.microsoft.com/office/drawing/2014/main" id="{562A980D-E4F2-4CEF-8F7C-AEB36503E9F5}"/>
              </a:ext>
            </a:extLst>
          </p:cNvPr>
          <p:cNvSpPr>
            <a:spLocks xmlns:a="http://schemas.openxmlformats.org/drawingml/2006/main" noGrp="1"/>
          </p:cNvSpPr>
          <p:nvPr/>
        </p:nvSpPr>
        <p:spPr>
          <a:xfrm xmlns:a="http://schemas.openxmlformats.org/drawingml/2006/main">
            <a:off x="4360069" y="4745450"/>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Keystore and ONNX</a:t>
            </a:r>
          </a:p>
        </p:txBody>
      </p:sp>
      <p:sp>
        <p:nvSpPr>
          <p:cNvPr id="15" name="">
            <a:extLst xmlns:a="http://schemas.openxmlformats.org/drawingml/2006/main">
              <a:ext uri="{FF2B5EF4-FFF2-40B4-BE49-F238E27FC236}">
                <a16:creationId xmlns:a16="http://schemas.microsoft.com/office/drawing/2014/main" id="{3889A02A-900E-478D-9CE6-399F3344753D}"/>
              </a:ext>
            </a:extLst>
          </p:cNvPr>
          <p:cNvSpPr>
            <a:spLocks xmlns:a="http://schemas.openxmlformats.org/drawingml/2006/main" noGrp="1"/>
          </p:cNvSpPr>
          <p:nvPr/>
        </p:nvSpPr>
        <p:spPr>
          <a:xfrm xmlns:a="http://schemas.openxmlformats.org/drawingml/2006/main">
            <a:off x="4360069" y="5037963"/>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Protected private keys</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Bundled risk inference</a:t>
            </a:r>
          </a:p>
        </p:txBody>
      </p:sp>
      <p:sp>
        <p:nvSpPr>
          <p:cNvPr id="16" name="">
            <a:extLst xmlns:a="http://schemas.openxmlformats.org/drawingml/2006/main">
              <a:ext uri="{FF2B5EF4-FFF2-40B4-BE49-F238E27FC236}">
                <a16:creationId xmlns:a16="http://schemas.microsoft.com/office/drawing/2014/main" id="{1A6DDD63-2FAC-4643-99E1-82599D783FDE}"/>
              </a:ext>
            </a:extLst>
          </p:cNvPr>
          <p:cNvSpPr>
            <a:spLocks xmlns:a="http://schemas.openxmlformats.org/drawingml/2006/main" noGrp="1"/>
          </p:cNvSpPr>
          <p:nvPr/>
        </p:nvSpPr>
        <p:spPr>
          <a:xfrm xmlns:a="http://schemas.openxmlformats.org/drawingml/2006/main">
            <a:off x="7403783" y="4611053"/>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7" name="">
            <a:extLst xmlns:a="http://schemas.openxmlformats.org/drawingml/2006/main">
              <a:ext uri="{FF2B5EF4-FFF2-40B4-BE49-F238E27FC236}">
                <a16:creationId xmlns:a16="http://schemas.microsoft.com/office/drawing/2014/main" id="{8794E7B6-6F9B-4C75-83AF-7407DD53EC08}"/>
              </a:ext>
            </a:extLst>
          </p:cNvPr>
          <p:cNvSpPr>
            <a:spLocks xmlns:a="http://schemas.openxmlformats.org/drawingml/2006/main" noGrp="1"/>
          </p:cNvSpPr>
          <p:nvPr/>
        </p:nvSpPr>
        <p:spPr>
          <a:xfrm xmlns:a="http://schemas.openxmlformats.org/drawingml/2006/main">
            <a:off x="7482840" y="4745450"/>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Nearby service</a:t>
            </a:r>
          </a:p>
        </p:txBody>
      </p:sp>
      <p:sp>
        <p:nvSpPr>
          <p:cNvPr id="18" name="">
            <a:extLst xmlns:a="http://schemas.openxmlformats.org/drawingml/2006/main">
              <a:ext uri="{FF2B5EF4-FFF2-40B4-BE49-F238E27FC236}">
                <a16:creationId xmlns:a16="http://schemas.microsoft.com/office/drawing/2014/main" id="{FB69DAF2-0B6B-422E-9B27-E2B02CA7C33C}"/>
              </a:ext>
            </a:extLst>
          </p:cNvPr>
          <p:cNvSpPr>
            <a:spLocks xmlns:a="http://schemas.openxmlformats.org/drawingml/2006/main" noGrp="1"/>
          </p:cNvSpPr>
          <p:nvPr/>
        </p:nvSpPr>
        <p:spPr>
          <a:xfrm xmlns:a="http://schemas.openxmlformats.org/drawingml/2006/main">
            <a:off x="7482840" y="5037963"/>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Foreground active relay</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Deferred maintenance separately</a:t>
            </a:r>
          </a:p>
        </p:txBody>
      </p:sp>
      <p:cxnSp>
        <p:nvCxnSpPr>
          <p:cNvPr id="42" name=""/>
          <p:cNvCxnSpPr>
            <a:stCxn xmlns:a="http://schemas.openxmlformats.org/drawingml/2006/main" id="4" idx="2"/>
            <a:endCxn xmlns:a="http://schemas.openxmlformats.org/drawingml/2006/main" id="7" idx="0"/>
          </p:cNvCxnSpPr>
          <p:nvPr/>
        </p:nvCxnSpPr>
        <p:spPr>
          <a:xfrm xmlns:a="http://schemas.openxmlformats.org/drawingml/2006/main">
            <a:off x="5585460" y="2595087"/>
            <a:ext cx="0" cy="513873"/>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cxnSp>
        <p:nvCxnSpPr>
          <p:cNvPr id="43" name=""/>
          <p:cNvCxnSpPr>
            <a:stCxn xmlns:a="http://schemas.openxmlformats.org/drawingml/2006/main" id="7" idx="2"/>
            <a:endCxn xmlns:a="http://schemas.openxmlformats.org/drawingml/2006/main" id="10" idx="0"/>
          </p:cNvCxnSpPr>
          <p:nvPr/>
        </p:nvCxnSpPr>
        <p:spPr>
          <a:xfrm xmlns:a="http://schemas.openxmlformats.org/drawingml/2006/main" flipH="1">
            <a:off x="2462689" y="3899535"/>
            <a:ext cx="3122771" cy="711518"/>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44" name=""/>
          <p:cNvCxnSpPr>
            <a:stCxn xmlns:a="http://schemas.openxmlformats.org/drawingml/2006/main" id="7" idx="2"/>
            <a:endCxn xmlns:a="http://schemas.openxmlformats.org/drawingml/2006/main" id="13" idx="0"/>
          </p:cNvCxnSpPr>
          <p:nvPr/>
        </p:nvCxnSpPr>
        <p:spPr>
          <a:xfrm xmlns:a="http://schemas.openxmlformats.org/drawingml/2006/main">
            <a:off x="5585460" y="3899535"/>
            <a:ext cx="0" cy="711518"/>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cxnSp>
        <p:nvCxnSpPr>
          <p:cNvPr id="45" name=""/>
          <p:cNvCxnSpPr>
            <a:stCxn xmlns:a="http://schemas.openxmlformats.org/drawingml/2006/main" id="7" idx="2"/>
            <a:endCxn xmlns:a="http://schemas.openxmlformats.org/drawingml/2006/main" id="16" idx="0"/>
          </p:cNvCxnSpPr>
          <p:nvPr/>
        </p:nvCxnSpPr>
        <p:spPr>
          <a:xfrm xmlns:a="http://schemas.openxmlformats.org/drawingml/2006/main">
            <a:off x="5585460" y="3899535"/>
            <a:ext cx="3122772" cy="711518"/>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sp>
        <p:nvSpPr>
          <p:cNvPr id="23" name="">
            <a:extLst xmlns:a="http://schemas.openxmlformats.org/drawingml/2006/main">
              <a:ext uri="{FF2B5EF4-FFF2-40B4-BE49-F238E27FC236}">
                <a16:creationId xmlns:a16="http://schemas.microsoft.com/office/drawing/2014/main" id="{5B4D505C-3D3B-4AFD-ADD6-E8DAE0786597}"/>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Editable explanatory diagram derived from the repository. Simulated inputs remain distinct from confirmed facts.</a:t>
            </a:r>
          </a:p>
        </p:txBody>
      </p:sp>
    </p:spTree>
    <p:extLst>
      <p:ext uri="{BB962C8B-B14F-4D97-AF65-F5344CB8AC3E}">
        <p14:creationId xmlns:p14="http://schemas.microsoft.com/office/powerpoint/2010/main" val="1023947255"/>
      </p:ext>
    </p:extLst>
  </p:cSld>
</p:sld>
</file>

<file path=ppt/slides/slide1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46377F-661B-4927-A792-5A6628B59DC7}"/>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Encrypted message lifecycle</a:t>
            </a:r>
          </a:p>
        </p:txBody>
      </p:sp>
      <p:sp>
        <p:nvSpPr>
          <p:cNvPr id="2" name="">
            <a:extLst xmlns:a="http://schemas.openxmlformats.org/drawingml/2006/main">
              <a:ext uri="{FF2B5EF4-FFF2-40B4-BE49-F238E27FC236}">
                <a16:creationId xmlns:a16="http://schemas.microsoft.com/office/drawing/2014/main" id="{D876133F-74AB-4896-9885-DF01BC473541}"/>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71D0B824-D433-4786-A6FA-73FA9155C6C4}"/>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B3DFEBF6-DB51-4DD8-A748-47CAEA762F11}"/>
              </a:ext>
            </a:extLst>
          </p:cNvPr>
          <p:cNvSpPr>
            <a:spLocks xmlns:a="http://schemas.openxmlformats.org/drawingml/2006/main" noGrp="1"/>
          </p:cNvSpPr>
          <p:nvPr/>
        </p:nvSpPr>
        <p:spPr>
          <a:xfrm xmlns:a="http://schemas.openxmlformats.org/drawingml/2006/main">
            <a:off x="1158240" y="2318385"/>
            <a:ext cx="2608898" cy="1423035"/>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5" name="">
            <a:extLst xmlns:a="http://schemas.openxmlformats.org/drawingml/2006/main">
              <a:ext uri="{FF2B5EF4-FFF2-40B4-BE49-F238E27FC236}">
                <a16:creationId xmlns:a16="http://schemas.microsoft.com/office/drawing/2014/main" id="{BC7DC6C3-EC78-4E67-BAB6-54855D4CCE6D}"/>
              </a:ext>
            </a:extLst>
          </p:cNvPr>
          <p:cNvSpPr>
            <a:spLocks xmlns:a="http://schemas.openxmlformats.org/drawingml/2006/main" noGrp="1"/>
          </p:cNvSpPr>
          <p:nvPr/>
        </p:nvSpPr>
        <p:spPr>
          <a:xfrm xmlns:a="http://schemas.openxmlformats.org/drawingml/2006/main">
            <a:off x="1237298" y="2452783"/>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Sender</a:t>
            </a:r>
          </a:p>
        </p:txBody>
      </p:sp>
      <p:sp>
        <p:nvSpPr>
          <p:cNvPr id="6" name="">
            <a:extLst xmlns:a="http://schemas.openxmlformats.org/drawingml/2006/main">
              <a:ext uri="{FF2B5EF4-FFF2-40B4-BE49-F238E27FC236}">
                <a16:creationId xmlns:a16="http://schemas.microsoft.com/office/drawing/2014/main" id="{C30E0FBC-C47C-46F8-96B9-C7088DC62EDC}"/>
              </a:ext>
            </a:extLst>
          </p:cNvPr>
          <p:cNvSpPr>
            <a:spLocks xmlns:a="http://schemas.openxmlformats.org/drawingml/2006/main" noGrp="1"/>
          </p:cNvSpPr>
          <p:nvPr/>
        </p:nvSpPr>
        <p:spPr>
          <a:xfrm xmlns:a="http://schemas.openxmlformats.org/drawingml/2006/main">
            <a:off x="1237298" y="2745296"/>
            <a:ext cx="2450783" cy="99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Protobuf event</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Recipient encryption</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Atomic outbox write</a:t>
            </a:r>
          </a:p>
        </p:txBody>
      </p:sp>
      <p:sp>
        <p:nvSpPr>
          <p:cNvPr id="7" name="">
            <a:extLst xmlns:a="http://schemas.openxmlformats.org/drawingml/2006/main">
              <a:ext uri="{FF2B5EF4-FFF2-40B4-BE49-F238E27FC236}">
                <a16:creationId xmlns:a16="http://schemas.microsoft.com/office/drawing/2014/main" id="{254558E7-95E6-4E30-96AE-BCA3890B3926}"/>
              </a:ext>
            </a:extLst>
          </p:cNvPr>
          <p:cNvSpPr>
            <a:spLocks xmlns:a="http://schemas.openxmlformats.org/drawingml/2006/main" noGrp="1"/>
          </p:cNvSpPr>
          <p:nvPr/>
        </p:nvSpPr>
        <p:spPr>
          <a:xfrm xmlns:a="http://schemas.openxmlformats.org/drawingml/2006/main">
            <a:off x="4281011" y="2318385"/>
            <a:ext cx="2608898" cy="1423035"/>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8" name="">
            <a:extLst xmlns:a="http://schemas.openxmlformats.org/drawingml/2006/main">
              <a:ext uri="{FF2B5EF4-FFF2-40B4-BE49-F238E27FC236}">
                <a16:creationId xmlns:a16="http://schemas.microsoft.com/office/drawing/2014/main" id="{D5C2B64B-5DB5-4391-838A-880C9859052D}"/>
              </a:ext>
            </a:extLst>
          </p:cNvPr>
          <p:cNvSpPr>
            <a:spLocks xmlns:a="http://schemas.openxmlformats.org/drawingml/2006/main" noGrp="1"/>
          </p:cNvSpPr>
          <p:nvPr/>
        </p:nvSpPr>
        <p:spPr>
          <a:xfrm xmlns:a="http://schemas.openxmlformats.org/drawingml/2006/main">
            <a:off x="4360069" y="2452783"/>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Trusted relay</a:t>
            </a:r>
          </a:p>
        </p:txBody>
      </p:sp>
      <p:sp>
        <p:nvSpPr>
          <p:cNvPr id="9" name="">
            <a:extLst xmlns:a="http://schemas.openxmlformats.org/drawingml/2006/main">
              <a:ext uri="{FF2B5EF4-FFF2-40B4-BE49-F238E27FC236}">
                <a16:creationId xmlns:a16="http://schemas.microsoft.com/office/drawing/2014/main" id="{387C2CF3-5EFA-48D2-AC84-C580ED0A5814}"/>
              </a:ext>
            </a:extLst>
          </p:cNvPr>
          <p:cNvSpPr>
            <a:spLocks xmlns:a="http://schemas.openxmlformats.org/drawingml/2006/main" noGrp="1"/>
          </p:cNvSpPr>
          <p:nvPr/>
        </p:nvSpPr>
        <p:spPr>
          <a:xfrm xmlns:a="http://schemas.openxmlformats.org/drawingml/2006/main">
            <a:off x="4360069" y="2745296"/>
            <a:ext cx="2450783" cy="99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Validate envelope</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Store before acknowledgement</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Forward later</a:t>
            </a:r>
          </a:p>
        </p:txBody>
      </p:sp>
      <p:sp>
        <p:nvSpPr>
          <p:cNvPr id="10" name="">
            <a:extLst xmlns:a="http://schemas.openxmlformats.org/drawingml/2006/main">
              <a:ext uri="{FF2B5EF4-FFF2-40B4-BE49-F238E27FC236}">
                <a16:creationId xmlns:a16="http://schemas.microsoft.com/office/drawing/2014/main" id="{B39BF72C-6D5D-4F4A-A2F9-043CABE23FD6}"/>
              </a:ext>
            </a:extLst>
          </p:cNvPr>
          <p:cNvSpPr>
            <a:spLocks xmlns:a="http://schemas.openxmlformats.org/drawingml/2006/main" noGrp="1"/>
          </p:cNvSpPr>
          <p:nvPr/>
        </p:nvSpPr>
        <p:spPr>
          <a:xfrm xmlns:a="http://schemas.openxmlformats.org/drawingml/2006/main">
            <a:off x="7403783" y="2318385"/>
            <a:ext cx="2608898" cy="1423035"/>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1" name="">
            <a:extLst xmlns:a="http://schemas.openxmlformats.org/drawingml/2006/main">
              <a:ext uri="{FF2B5EF4-FFF2-40B4-BE49-F238E27FC236}">
                <a16:creationId xmlns:a16="http://schemas.microsoft.com/office/drawing/2014/main" id="{A33AA697-35BB-4EC1-854C-3925A8AE7162}"/>
              </a:ext>
            </a:extLst>
          </p:cNvPr>
          <p:cNvSpPr>
            <a:spLocks xmlns:a="http://schemas.openxmlformats.org/drawingml/2006/main" noGrp="1"/>
          </p:cNvSpPr>
          <p:nvPr/>
        </p:nvSpPr>
        <p:spPr>
          <a:xfrm xmlns:a="http://schemas.openxmlformats.org/drawingml/2006/main">
            <a:off x="7482840" y="2452783"/>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Recipient</a:t>
            </a:r>
          </a:p>
        </p:txBody>
      </p:sp>
      <p:sp>
        <p:nvSpPr>
          <p:cNvPr id="12" name="">
            <a:extLst xmlns:a="http://schemas.openxmlformats.org/drawingml/2006/main">
              <a:ext uri="{FF2B5EF4-FFF2-40B4-BE49-F238E27FC236}">
                <a16:creationId xmlns:a16="http://schemas.microsoft.com/office/drawing/2014/main" id="{D51B1495-5167-4047-B500-FC00ED7C666C}"/>
              </a:ext>
            </a:extLst>
          </p:cNvPr>
          <p:cNvSpPr>
            <a:spLocks xmlns:a="http://schemas.openxmlformats.org/drawingml/2006/main" noGrp="1"/>
          </p:cNvSpPr>
          <p:nvPr/>
        </p:nvSpPr>
        <p:spPr>
          <a:xfrm xmlns:a="http://schemas.openxmlformats.org/drawingml/2006/main">
            <a:off x="7482840" y="2745296"/>
            <a:ext cx="2450783" cy="99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Decrypt and verify</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Deduplicate and apply</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Rebuild local state</a:t>
            </a:r>
          </a:p>
        </p:txBody>
      </p:sp>
      <p:sp>
        <p:nvSpPr>
          <p:cNvPr id="13" name="">
            <a:extLst xmlns:a="http://schemas.openxmlformats.org/drawingml/2006/main">
              <a:ext uri="{FF2B5EF4-FFF2-40B4-BE49-F238E27FC236}">
                <a16:creationId xmlns:a16="http://schemas.microsoft.com/office/drawing/2014/main" id="{6B784910-EA4A-422C-A5B8-B077F368D748}"/>
              </a:ext>
            </a:extLst>
          </p:cNvPr>
          <p:cNvSpPr>
            <a:spLocks xmlns:a="http://schemas.openxmlformats.org/drawingml/2006/main" noGrp="1"/>
          </p:cNvSpPr>
          <p:nvPr/>
        </p:nvSpPr>
        <p:spPr>
          <a:xfrm xmlns:a="http://schemas.openxmlformats.org/drawingml/2006/main">
            <a:off x="2106930" y="4769168"/>
            <a:ext cx="6957060" cy="830104"/>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4" name="">
            <a:extLst xmlns:a="http://schemas.openxmlformats.org/drawingml/2006/main">
              <a:ext uri="{FF2B5EF4-FFF2-40B4-BE49-F238E27FC236}">
                <a16:creationId xmlns:a16="http://schemas.microsoft.com/office/drawing/2014/main" id="{D940490E-5595-449A-B481-6BB92C6B6EC0}"/>
              </a:ext>
            </a:extLst>
          </p:cNvPr>
          <p:cNvSpPr>
            <a:spLocks xmlns:a="http://schemas.openxmlformats.org/drawingml/2006/main" noGrp="1"/>
          </p:cNvSpPr>
          <p:nvPr/>
        </p:nvSpPr>
        <p:spPr>
          <a:xfrm xmlns:a="http://schemas.openxmlformats.org/drawingml/2006/main">
            <a:off x="2185988" y="4903565"/>
            <a:ext cx="6798945"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Signed acknowledgements</a:t>
            </a:r>
          </a:p>
        </p:txBody>
      </p:sp>
      <p:sp>
        <p:nvSpPr>
          <p:cNvPr id="15" name="">
            <a:extLst xmlns:a="http://schemas.openxmlformats.org/drawingml/2006/main">
              <a:ext uri="{FF2B5EF4-FFF2-40B4-BE49-F238E27FC236}">
                <a16:creationId xmlns:a16="http://schemas.microsoft.com/office/drawing/2014/main" id="{41F5B350-34F6-49C7-B550-AF9326975881}"/>
              </a:ext>
            </a:extLst>
          </p:cNvPr>
          <p:cNvSpPr>
            <a:spLocks xmlns:a="http://schemas.openxmlformats.org/drawingml/2006/main" noGrp="1"/>
          </p:cNvSpPr>
          <p:nvPr/>
        </p:nvSpPr>
        <p:spPr>
          <a:xfrm xmlns:a="http://schemas.openxmlformats.org/drawingml/2006/main">
            <a:off x="2185988" y="5196078"/>
            <a:ext cx="6798945" cy="4031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Durable receipt confirms storage   Domain acceptance remains separate</a:t>
            </a:r>
          </a:p>
        </p:txBody>
      </p:sp>
      <p:cxnSp>
        <p:nvCxnSpPr>
          <p:cNvPr id="35" name=""/>
          <p:cNvCxnSpPr>
            <a:stCxn xmlns:a="http://schemas.openxmlformats.org/drawingml/2006/main" id="4" idx="3"/>
            <a:endCxn xmlns:a="http://schemas.openxmlformats.org/drawingml/2006/main" id="7" idx="1"/>
          </p:cNvCxnSpPr>
          <p:nvPr/>
        </p:nvCxnSpPr>
        <p:spPr>
          <a:xfrm xmlns:a="http://schemas.openxmlformats.org/drawingml/2006/main">
            <a:off x="3767138" y="3029903"/>
            <a:ext cx="513873" cy="0"/>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cxnSp>
        <p:nvCxnSpPr>
          <p:cNvPr id="36" name=""/>
          <p:cNvCxnSpPr>
            <a:stCxn xmlns:a="http://schemas.openxmlformats.org/drawingml/2006/main" id="7" idx="3"/>
            <a:endCxn xmlns:a="http://schemas.openxmlformats.org/drawingml/2006/main" id="10" idx="1"/>
          </p:cNvCxnSpPr>
          <p:nvPr/>
        </p:nvCxnSpPr>
        <p:spPr>
          <a:xfrm xmlns:a="http://schemas.openxmlformats.org/drawingml/2006/main">
            <a:off x="6889909" y="3029903"/>
            <a:ext cx="513874" cy="0"/>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sp>
        <p:nvSpPr>
          <p:cNvPr id="18" name="">
            <a:extLst xmlns:a="http://schemas.openxmlformats.org/drawingml/2006/main">
              <a:ext uri="{FF2B5EF4-FFF2-40B4-BE49-F238E27FC236}">
                <a16:creationId xmlns:a16="http://schemas.microsoft.com/office/drawing/2014/main" id="{9F0FC6E5-6385-4337-A2B8-2E5D3E6A06FD}"/>
              </a:ext>
            </a:extLst>
          </p:cNvPr>
          <p:cNvSpPr>
            <a:spLocks xmlns:a="http://schemas.openxmlformats.org/drawingml/2006/main" noGrp="1"/>
          </p:cNvSpPr>
          <p:nvPr/>
        </p:nvSpPr>
        <p:spPr>
          <a:xfrm xmlns:a="http://schemas.openxmlformats.org/drawingml/2006/main">
            <a:off x="1237298" y="4294823"/>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1" b="0">
                <a:solidFill>
                  <a:srgbClr val="216E75"/>
                </a:solidFill>
                <a:latin typeface="Arial"/>
                <a:ea typeface="Arial"/>
                <a:cs typeface="Arial"/>
              </a:defRPr>
            </a:pPr>
            <a:r>
              <a:rPr sz="1121" b="0">
                <a:solidFill>
                  <a:srgbClr val="216E75"/>
                </a:solidFill>
                <a:latin typeface="Arial"/>
                <a:ea typeface="Arial"/>
                <a:cs typeface="Arial"/>
              </a:rPr>
              <a:t>Expiry, hop limits and message IDs bound retries and duplicate effects</a:t>
            </a:r>
          </a:p>
        </p:txBody>
      </p:sp>
      <p:sp>
        <p:nvSpPr>
          <p:cNvPr id="19" name="">
            <a:extLst xmlns:a="http://schemas.openxmlformats.org/drawingml/2006/main">
              <a:ext uri="{FF2B5EF4-FFF2-40B4-BE49-F238E27FC236}">
                <a16:creationId xmlns:a16="http://schemas.microsoft.com/office/drawing/2014/main" id="{14B60D5C-062E-42E1-B190-85EC4592E068}"/>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Editable explanatory diagram derived from the repository. Simulated inputs remain distinct from confirmed facts.</a:t>
            </a:r>
          </a:p>
        </p:txBody>
      </p:sp>
    </p:spTree>
    <p:extLst>
      <p:ext uri="{BB962C8B-B14F-4D97-AF65-F5344CB8AC3E}">
        <p14:creationId xmlns:p14="http://schemas.microsoft.com/office/powerpoint/2010/main" val="1366698297"/>
      </p:ext>
    </p:extLst>
  </p:cSld>
</p:sld>
</file>

<file path=ppt/slides/slide2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C769EB-ECFC-4638-8A84-835439813D64}"/>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Conflict-aware event records</a:t>
            </a:r>
          </a:p>
        </p:txBody>
      </p:sp>
      <p:sp>
        <p:nvSpPr>
          <p:cNvPr id="2" name="">
            <a:extLst xmlns:a="http://schemas.openxmlformats.org/drawingml/2006/main">
              <a:ext uri="{FF2B5EF4-FFF2-40B4-BE49-F238E27FC236}">
                <a16:creationId xmlns:a16="http://schemas.microsoft.com/office/drawing/2014/main" id="{748E3198-14C8-4AEA-8E9F-E988CE1A46D2}"/>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F677EBF6-766F-4A45-97C0-EA861234A77E}"/>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9C82E5DF-2BAC-462E-9155-7FBB9BC27E0F}"/>
              </a:ext>
            </a:extLst>
          </p:cNvPr>
          <p:cNvSpPr>
            <a:spLocks xmlns:a="http://schemas.openxmlformats.org/drawingml/2006/main" noGrp="1"/>
          </p:cNvSpPr>
          <p:nvPr/>
        </p:nvSpPr>
        <p:spPr>
          <a:xfrm xmlns:a="http://schemas.openxmlformats.org/drawingml/2006/main">
            <a:off x="1158240" y="2120741"/>
            <a:ext cx="2608898" cy="988219"/>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5" name="">
            <a:extLst xmlns:a="http://schemas.openxmlformats.org/drawingml/2006/main">
              <a:ext uri="{FF2B5EF4-FFF2-40B4-BE49-F238E27FC236}">
                <a16:creationId xmlns:a16="http://schemas.microsoft.com/office/drawing/2014/main" id="{AE3D1929-000F-46AF-AC89-D9F850A4BEF0}"/>
              </a:ext>
            </a:extLst>
          </p:cNvPr>
          <p:cNvSpPr>
            <a:spLocks xmlns:a="http://schemas.openxmlformats.org/drawingml/2006/main" noGrp="1"/>
          </p:cNvSpPr>
          <p:nvPr/>
        </p:nvSpPr>
        <p:spPr>
          <a:xfrm xmlns:a="http://schemas.openxmlformats.org/drawingml/2006/main">
            <a:off x="1237298" y="2255139"/>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Device A event</a:t>
            </a:r>
          </a:p>
        </p:txBody>
      </p:sp>
      <p:sp>
        <p:nvSpPr>
          <p:cNvPr id="6" name="">
            <a:extLst xmlns:a="http://schemas.openxmlformats.org/drawingml/2006/main">
              <a:ext uri="{FF2B5EF4-FFF2-40B4-BE49-F238E27FC236}">
                <a16:creationId xmlns:a16="http://schemas.microsoft.com/office/drawing/2014/main" id="{E628E64B-200E-41BE-A3F0-B63A683C8825}"/>
              </a:ext>
            </a:extLst>
          </p:cNvPr>
          <p:cNvSpPr>
            <a:spLocks xmlns:a="http://schemas.openxmlformats.org/drawingml/2006/main" noGrp="1"/>
          </p:cNvSpPr>
          <p:nvPr/>
        </p:nvSpPr>
        <p:spPr>
          <a:xfrm xmlns:a="http://schemas.openxmlformats.org/drawingml/2006/main">
            <a:off x="1237298" y="2547652"/>
            <a:ext cx="2450783" cy="5613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Vector clock and stable ID</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Offline local edit</a:t>
            </a:r>
          </a:p>
        </p:txBody>
      </p:sp>
      <p:sp>
        <p:nvSpPr>
          <p:cNvPr id="7" name="">
            <a:extLst xmlns:a="http://schemas.openxmlformats.org/drawingml/2006/main">
              <a:ext uri="{FF2B5EF4-FFF2-40B4-BE49-F238E27FC236}">
                <a16:creationId xmlns:a16="http://schemas.microsoft.com/office/drawing/2014/main" id="{75A27F22-5677-4669-A509-638CCCC8F3C1}"/>
              </a:ext>
            </a:extLst>
          </p:cNvPr>
          <p:cNvSpPr>
            <a:spLocks xmlns:a="http://schemas.openxmlformats.org/drawingml/2006/main" noGrp="1"/>
          </p:cNvSpPr>
          <p:nvPr/>
        </p:nvSpPr>
        <p:spPr>
          <a:xfrm xmlns:a="http://schemas.openxmlformats.org/drawingml/2006/main">
            <a:off x="7403783" y="2120741"/>
            <a:ext cx="2608898" cy="988219"/>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8" name="">
            <a:extLst xmlns:a="http://schemas.openxmlformats.org/drawingml/2006/main">
              <a:ext uri="{FF2B5EF4-FFF2-40B4-BE49-F238E27FC236}">
                <a16:creationId xmlns:a16="http://schemas.microsoft.com/office/drawing/2014/main" id="{6FC60F7E-F81A-4917-AB1C-616EAE715BC2}"/>
              </a:ext>
            </a:extLst>
          </p:cNvPr>
          <p:cNvSpPr>
            <a:spLocks xmlns:a="http://schemas.openxmlformats.org/drawingml/2006/main" noGrp="1"/>
          </p:cNvSpPr>
          <p:nvPr/>
        </p:nvSpPr>
        <p:spPr>
          <a:xfrm xmlns:a="http://schemas.openxmlformats.org/drawingml/2006/main">
            <a:off x="7482840" y="2255139"/>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Device B event</a:t>
            </a:r>
          </a:p>
        </p:txBody>
      </p:sp>
      <p:sp>
        <p:nvSpPr>
          <p:cNvPr id="9" name="">
            <a:extLst xmlns:a="http://schemas.openxmlformats.org/drawingml/2006/main">
              <a:ext uri="{FF2B5EF4-FFF2-40B4-BE49-F238E27FC236}">
                <a16:creationId xmlns:a16="http://schemas.microsoft.com/office/drawing/2014/main" id="{841F0EFD-FE77-4F92-ABA7-96F8EAFC725E}"/>
              </a:ext>
            </a:extLst>
          </p:cNvPr>
          <p:cNvSpPr>
            <a:spLocks xmlns:a="http://schemas.openxmlformats.org/drawingml/2006/main" noGrp="1"/>
          </p:cNvSpPr>
          <p:nvPr/>
        </p:nvSpPr>
        <p:spPr>
          <a:xfrm xmlns:a="http://schemas.openxmlformats.org/drawingml/2006/main">
            <a:off x="7482840" y="2547652"/>
            <a:ext cx="2450783" cy="5613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Concurrent local edit</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May arrive in either order</a:t>
            </a:r>
          </a:p>
        </p:txBody>
      </p:sp>
      <p:sp>
        <p:nvSpPr>
          <p:cNvPr id="10" name="">
            <a:extLst xmlns:a="http://schemas.openxmlformats.org/drawingml/2006/main">
              <a:ext uri="{FF2B5EF4-FFF2-40B4-BE49-F238E27FC236}">
                <a16:creationId xmlns:a16="http://schemas.microsoft.com/office/drawing/2014/main" id="{EC09AA97-68EF-4B88-81B9-92CEB017CBD4}"/>
              </a:ext>
            </a:extLst>
          </p:cNvPr>
          <p:cNvSpPr>
            <a:spLocks xmlns:a="http://schemas.openxmlformats.org/drawingml/2006/main" noGrp="1"/>
          </p:cNvSpPr>
          <p:nvPr/>
        </p:nvSpPr>
        <p:spPr>
          <a:xfrm xmlns:a="http://schemas.openxmlformats.org/drawingml/2006/main">
            <a:off x="4281011" y="3464719"/>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1" name="">
            <a:extLst xmlns:a="http://schemas.openxmlformats.org/drawingml/2006/main">
              <a:ext uri="{FF2B5EF4-FFF2-40B4-BE49-F238E27FC236}">
                <a16:creationId xmlns:a16="http://schemas.microsoft.com/office/drawing/2014/main" id="{41727C52-2F01-45E9-9114-A768E8B4B7F1}"/>
              </a:ext>
            </a:extLst>
          </p:cNvPr>
          <p:cNvSpPr>
            <a:spLocks xmlns:a="http://schemas.openxmlformats.org/drawingml/2006/main" noGrp="1"/>
          </p:cNvSpPr>
          <p:nvPr/>
        </p:nvSpPr>
        <p:spPr>
          <a:xfrm xmlns:a="http://schemas.openxmlformats.org/drawingml/2006/main">
            <a:off x="4360069" y="3599117"/>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Merge policy</a:t>
            </a:r>
          </a:p>
        </p:txBody>
      </p:sp>
      <p:sp>
        <p:nvSpPr>
          <p:cNvPr id="12" name="">
            <a:extLst xmlns:a="http://schemas.openxmlformats.org/drawingml/2006/main">
              <a:ext uri="{FF2B5EF4-FFF2-40B4-BE49-F238E27FC236}">
                <a16:creationId xmlns:a16="http://schemas.microsoft.com/office/drawing/2014/main" id="{EDDDB3DE-C917-49E6-879C-02FBACCD65B6}"/>
              </a:ext>
            </a:extLst>
          </p:cNvPr>
          <p:cNvSpPr>
            <a:spLocks xmlns:a="http://schemas.openxmlformats.org/drawingml/2006/main" noGrp="1"/>
          </p:cNvSpPr>
          <p:nvPr/>
        </p:nvSpPr>
        <p:spPr>
          <a:xfrm xmlns:a="http://schemas.openxmlformats.org/drawingml/2006/main">
            <a:off x="4360069" y="3891629"/>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Safe types merge</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Unsafe fields need review</a:t>
            </a:r>
          </a:p>
        </p:txBody>
      </p:sp>
      <p:sp>
        <p:nvSpPr>
          <p:cNvPr id="13" name="">
            <a:extLst xmlns:a="http://schemas.openxmlformats.org/drawingml/2006/main">
              <a:ext uri="{FF2B5EF4-FFF2-40B4-BE49-F238E27FC236}">
                <a16:creationId xmlns:a16="http://schemas.microsoft.com/office/drawing/2014/main" id="{DFC8E9F6-14E4-4EE9-B964-25C2CD75904B}"/>
              </a:ext>
            </a:extLst>
          </p:cNvPr>
          <p:cNvSpPr>
            <a:spLocks xmlns:a="http://schemas.openxmlformats.org/drawingml/2006/main" noGrp="1"/>
          </p:cNvSpPr>
          <p:nvPr/>
        </p:nvSpPr>
        <p:spPr>
          <a:xfrm xmlns:a="http://schemas.openxmlformats.org/drawingml/2006/main">
            <a:off x="4281011" y="5006340"/>
            <a:ext cx="2608898"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4" name="">
            <a:extLst xmlns:a="http://schemas.openxmlformats.org/drawingml/2006/main">
              <a:ext uri="{FF2B5EF4-FFF2-40B4-BE49-F238E27FC236}">
                <a16:creationId xmlns:a16="http://schemas.microsoft.com/office/drawing/2014/main" id="{C66BB353-6DB8-41AE-AF8C-7D772541CE83}"/>
              </a:ext>
            </a:extLst>
          </p:cNvPr>
          <p:cNvSpPr>
            <a:spLocks xmlns:a="http://schemas.openxmlformats.org/drawingml/2006/main" noGrp="1"/>
          </p:cNvSpPr>
          <p:nvPr/>
        </p:nvSpPr>
        <p:spPr>
          <a:xfrm xmlns:a="http://schemas.openxmlformats.org/drawingml/2006/main">
            <a:off x="4360069" y="5140738"/>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Accepted projection</a:t>
            </a:r>
          </a:p>
        </p:txBody>
      </p:sp>
      <p:sp>
        <p:nvSpPr>
          <p:cNvPr id="15" name="">
            <a:extLst xmlns:a="http://schemas.openxmlformats.org/drawingml/2006/main">
              <a:ext uri="{FF2B5EF4-FFF2-40B4-BE49-F238E27FC236}">
                <a16:creationId xmlns:a16="http://schemas.microsoft.com/office/drawing/2014/main" id="{3164272D-EFDC-4E71-AC32-4E6D9E471383}"/>
              </a:ext>
            </a:extLst>
          </p:cNvPr>
          <p:cNvSpPr>
            <a:spLocks xmlns:a="http://schemas.openxmlformats.org/drawingml/2006/main" noGrp="1"/>
          </p:cNvSpPr>
          <p:nvPr/>
        </p:nvSpPr>
        <p:spPr>
          <a:xfrm xmlns:a="http://schemas.openxmlformats.org/drawingml/2006/main">
            <a:off x="4360069" y="5433251"/>
            <a:ext cx="2450783" cy="3636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Policy version and hash</a:t>
            </a:r>
          </a:p>
        </p:txBody>
      </p:sp>
      <p:cxnSp>
        <p:nvCxnSpPr>
          <p:cNvPr id="35" name=""/>
          <p:cNvCxnSpPr>
            <a:stCxn xmlns:a="http://schemas.openxmlformats.org/drawingml/2006/main" id="4" idx="2"/>
            <a:endCxn xmlns:a="http://schemas.openxmlformats.org/drawingml/2006/main" id="10" idx="0"/>
          </p:cNvCxnSpPr>
          <p:nvPr/>
        </p:nvCxnSpPr>
        <p:spPr>
          <a:xfrm xmlns:a="http://schemas.openxmlformats.org/drawingml/2006/main">
            <a:off x="2462689" y="3108960"/>
            <a:ext cx="3122771" cy="355759"/>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36" name=""/>
          <p:cNvCxnSpPr>
            <a:stCxn xmlns:a="http://schemas.openxmlformats.org/drawingml/2006/main" id="7" idx="2"/>
            <a:endCxn xmlns:a="http://schemas.openxmlformats.org/drawingml/2006/main" id="10" idx="0"/>
          </p:cNvCxnSpPr>
          <p:nvPr/>
        </p:nvCxnSpPr>
        <p:spPr>
          <a:xfrm xmlns:a="http://schemas.openxmlformats.org/drawingml/2006/main" flipH="1">
            <a:off x="5585460" y="3108960"/>
            <a:ext cx="3122772" cy="355759"/>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37" name=""/>
          <p:cNvCxnSpPr>
            <a:stCxn xmlns:a="http://schemas.openxmlformats.org/drawingml/2006/main" id="10" idx="2"/>
            <a:endCxn xmlns:a="http://schemas.openxmlformats.org/drawingml/2006/main" id="13" idx="0"/>
          </p:cNvCxnSpPr>
          <p:nvPr/>
        </p:nvCxnSpPr>
        <p:spPr>
          <a:xfrm xmlns:a="http://schemas.openxmlformats.org/drawingml/2006/main">
            <a:off x="5585460" y="4492466"/>
            <a:ext cx="0" cy="513874"/>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sp>
        <p:nvSpPr>
          <p:cNvPr id="19" name="">
            <a:extLst xmlns:a="http://schemas.openxmlformats.org/drawingml/2006/main">
              <a:ext uri="{FF2B5EF4-FFF2-40B4-BE49-F238E27FC236}">
                <a16:creationId xmlns:a16="http://schemas.microsoft.com/office/drawing/2014/main" id="{EF2F6A60-095E-47BC-9CCB-C83DC516AF9A}"/>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Editable explanatory diagram derived from the repository. Simulated inputs remain distinct from confirmed facts.</a:t>
            </a:r>
          </a:p>
        </p:txBody>
      </p:sp>
    </p:spTree>
    <p:extLst>
      <p:ext uri="{BB962C8B-B14F-4D97-AF65-F5344CB8AC3E}">
        <p14:creationId xmlns:p14="http://schemas.microsoft.com/office/powerpoint/2010/main" val="646822037"/>
      </p:ext>
    </p:extLst>
  </p:cSld>
</p:sld>
</file>

<file path=ppt/slides/slide2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67802E-C490-4293-9091-FED5344BCDF3}"/>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Routing risk and human confirmation</a:t>
            </a:r>
          </a:p>
        </p:txBody>
      </p:sp>
      <p:sp>
        <p:nvSpPr>
          <p:cNvPr id="2" name="">
            <a:extLst xmlns:a="http://schemas.openxmlformats.org/drawingml/2006/main">
              <a:ext uri="{FF2B5EF4-FFF2-40B4-BE49-F238E27FC236}">
                <a16:creationId xmlns:a16="http://schemas.microsoft.com/office/drawing/2014/main" id="{70BA73FE-7ED1-4762-82C5-CD33A200A297}"/>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Technical appendix</a:t>
            </a:r>
          </a:p>
        </p:txBody>
      </p:sp>
      <p:sp>
        <p:nvSpPr>
          <p:cNvPr id="3" name="">
            <a:extLst xmlns:a="http://schemas.openxmlformats.org/drawingml/2006/main">
              <a:ext uri="{FF2B5EF4-FFF2-40B4-BE49-F238E27FC236}">
                <a16:creationId xmlns:a16="http://schemas.microsoft.com/office/drawing/2014/main" id="{6A1DE1AA-80C1-4D98-B196-94A5B881B077}"/>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DCC6CDF8-1B68-49D2-8F79-0D6C80A96448}"/>
              </a:ext>
            </a:extLst>
          </p:cNvPr>
          <p:cNvSpPr>
            <a:spLocks xmlns:a="http://schemas.openxmlformats.org/drawingml/2006/main" noGrp="1"/>
          </p:cNvSpPr>
          <p:nvPr/>
        </p:nvSpPr>
        <p:spPr>
          <a:xfrm xmlns:a="http://schemas.openxmlformats.org/drawingml/2006/main">
            <a:off x="1158240" y="2002155"/>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5" name="">
            <a:extLst xmlns:a="http://schemas.openxmlformats.org/drawingml/2006/main">
              <a:ext uri="{FF2B5EF4-FFF2-40B4-BE49-F238E27FC236}">
                <a16:creationId xmlns:a16="http://schemas.microsoft.com/office/drawing/2014/main" id="{32AA275B-8F4B-46F7-A3CB-1972AF9433BC}"/>
              </a:ext>
            </a:extLst>
          </p:cNvPr>
          <p:cNvSpPr>
            <a:spLocks xmlns:a="http://schemas.openxmlformats.org/drawingml/2006/main" noGrp="1"/>
          </p:cNvSpPr>
          <p:nvPr/>
        </p:nvSpPr>
        <p:spPr>
          <a:xfrm xmlns:a="http://schemas.openxmlformats.org/drawingml/2006/main">
            <a:off x="1237298" y="2136553"/>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Confirmed edge failure</a:t>
            </a:r>
          </a:p>
        </p:txBody>
      </p:sp>
      <p:sp>
        <p:nvSpPr>
          <p:cNvPr id="6" name="">
            <a:extLst xmlns:a="http://schemas.openxmlformats.org/drawingml/2006/main">
              <a:ext uri="{FF2B5EF4-FFF2-40B4-BE49-F238E27FC236}">
                <a16:creationId xmlns:a16="http://schemas.microsoft.com/office/drawing/2014/main" id="{437E8B99-3046-4DD7-8E91-E3C6E913B862}"/>
              </a:ext>
            </a:extLst>
          </p:cNvPr>
          <p:cNvSpPr>
            <a:spLocks xmlns:a="http://schemas.openxmlformats.org/drawingml/2006/main" noGrp="1"/>
          </p:cNvSpPr>
          <p:nvPr/>
        </p:nvSpPr>
        <p:spPr>
          <a:xfrm xmlns:a="http://schemas.openxmlformats.org/drawingml/2006/main">
            <a:off x="1237298" y="2429066"/>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Remove unavailable edge</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Respect vehicle mode</a:t>
            </a:r>
          </a:p>
        </p:txBody>
      </p:sp>
      <p:sp>
        <p:nvSpPr>
          <p:cNvPr id="7" name="">
            <a:extLst xmlns:a="http://schemas.openxmlformats.org/drawingml/2006/main">
              <a:ext uri="{FF2B5EF4-FFF2-40B4-BE49-F238E27FC236}">
                <a16:creationId xmlns:a16="http://schemas.microsoft.com/office/drawing/2014/main" id="{B1E5118F-297F-4FA0-AEC7-13F7E2763485}"/>
              </a:ext>
            </a:extLst>
          </p:cNvPr>
          <p:cNvSpPr>
            <a:spLocks xmlns:a="http://schemas.openxmlformats.org/drawingml/2006/main" noGrp="1"/>
          </p:cNvSpPr>
          <p:nvPr/>
        </p:nvSpPr>
        <p:spPr>
          <a:xfrm xmlns:a="http://schemas.openxmlformats.org/drawingml/2006/main">
            <a:off x="7403783" y="2002155"/>
            <a:ext cx="2608898" cy="1027747"/>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8" name="">
            <a:extLst xmlns:a="http://schemas.openxmlformats.org/drawingml/2006/main">
              <a:ext uri="{FF2B5EF4-FFF2-40B4-BE49-F238E27FC236}">
                <a16:creationId xmlns:a16="http://schemas.microsoft.com/office/drawing/2014/main" id="{42CA7D10-5352-40CE-A2BC-899A86331249}"/>
              </a:ext>
            </a:extLst>
          </p:cNvPr>
          <p:cNvSpPr>
            <a:spLocks xmlns:a="http://schemas.openxmlformats.org/drawingml/2006/main" noGrp="1"/>
          </p:cNvSpPr>
          <p:nvPr/>
        </p:nvSpPr>
        <p:spPr>
          <a:xfrm xmlns:a="http://schemas.openxmlformats.org/drawingml/2006/main">
            <a:off x="7482840" y="2136553"/>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Simulated model risk</a:t>
            </a:r>
          </a:p>
        </p:txBody>
      </p:sp>
      <p:sp>
        <p:nvSpPr>
          <p:cNvPr id="9" name="">
            <a:extLst xmlns:a="http://schemas.openxmlformats.org/drawingml/2006/main">
              <a:ext uri="{FF2B5EF4-FFF2-40B4-BE49-F238E27FC236}">
                <a16:creationId xmlns:a16="http://schemas.microsoft.com/office/drawing/2014/main" id="{2D9502EA-0A17-4B18-970F-2DF576519613}"/>
              </a:ext>
            </a:extLst>
          </p:cNvPr>
          <p:cNvSpPr>
            <a:spLocks xmlns:a="http://schemas.openxmlformats.org/drawingml/2006/main" noGrp="1"/>
          </p:cNvSpPr>
          <p:nvPr/>
        </p:nvSpPr>
        <p:spPr>
          <a:xfrm xmlns:a="http://schemas.openxmlformats.org/drawingml/2006/main">
            <a:off x="7482840" y="2429066"/>
            <a:ext cx="2450783" cy="6008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Add advisory cost</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Do not claim closure</a:t>
            </a:r>
          </a:p>
        </p:txBody>
      </p:sp>
      <p:sp>
        <p:nvSpPr>
          <p:cNvPr id="10" name="">
            <a:extLst xmlns:a="http://schemas.openxmlformats.org/drawingml/2006/main">
              <a:ext uri="{FF2B5EF4-FFF2-40B4-BE49-F238E27FC236}">
                <a16:creationId xmlns:a16="http://schemas.microsoft.com/office/drawing/2014/main" id="{F7A3E53B-7B14-40FE-8FFA-E9B06E61907A}"/>
              </a:ext>
            </a:extLst>
          </p:cNvPr>
          <p:cNvSpPr>
            <a:spLocks xmlns:a="http://schemas.openxmlformats.org/drawingml/2006/main" noGrp="1"/>
          </p:cNvSpPr>
          <p:nvPr/>
        </p:nvSpPr>
        <p:spPr>
          <a:xfrm xmlns:a="http://schemas.openxmlformats.org/drawingml/2006/main">
            <a:off x="4281011" y="3464719"/>
            <a:ext cx="2608898" cy="909161"/>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1" name="">
            <a:extLst xmlns:a="http://schemas.openxmlformats.org/drawingml/2006/main">
              <a:ext uri="{FF2B5EF4-FFF2-40B4-BE49-F238E27FC236}">
                <a16:creationId xmlns:a16="http://schemas.microsoft.com/office/drawing/2014/main" id="{E0AB91E6-4E6B-40FA-B111-06A68148F73E}"/>
              </a:ext>
            </a:extLst>
          </p:cNvPr>
          <p:cNvSpPr>
            <a:spLocks xmlns:a="http://schemas.openxmlformats.org/drawingml/2006/main" noGrp="1"/>
          </p:cNvSpPr>
          <p:nvPr/>
        </p:nvSpPr>
        <p:spPr>
          <a:xfrm xmlns:a="http://schemas.openxmlformats.org/drawingml/2006/main">
            <a:off x="4360069" y="3599117"/>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On-phone route search</a:t>
            </a:r>
          </a:p>
        </p:txBody>
      </p:sp>
      <p:sp>
        <p:nvSpPr>
          <p:cNvPr id="12" name="">
            <a:extLst xmlns:a="http://schemas.openxmlformats.org/drawingml/2006/main">
              <a:ext uri="{FF2B5EF4-FFF2-40B4-BE49-F238E27FC236}">
                <a16:creationId xmlns:a16="http://schemas.microsoft.com/office/drawing/2014/main" id="{948B8DE2-E673-40D2-9F0B-D7582B36C8FF}"/>
              </a:ext>
            </a:extLst>
          </p:cNvPr>
          <p:cNvSpPr>
            <a:spLocks xmlns:a="http://schemas.openxmlformats.org/drawingml/2006/main" noGrp="1"/>
          </p:cNvSpPr>
          <p:nvPr/>
        </p:nvSpPr>
        <p:spPr>
          <a:xfrm xmlns:a="http://schemas.openxmlformats.org/drawingml/2006/main">
            <a:off x="4360069" y="3891629"/>
            <a:ext cx="2450783" cy="482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Deterministic path and ETA</a:t>
            </a:r>
          </a:p>
        </p:txBody>
      </p:sp>
      <p:sp>
        <p:nvSpPr>
          <p:cNvPr id="13" name="">
            <a:extLst xmlns:a="http://schemas.openxmlformats.org/drawingml/2006/main">
              <a:ext uri="{FF2B5EF4-FFF2-40B4-BE49-F238E27FC236}">
                <a16:creationId xmlns:a16="http://schemas.microsoft.com/office/drawing/2014/main" id="{F274C148-3445-4B6B-B51C-CDDED167D120}"/>
              </a:ext>
            </a:extLst>
          </p:cNvPr>
          <p:cNvSpPr>
            <a:spLocks xmlns:a="http://schemas.openxmlformats.org/drawingml/2006/main" noGrp="1"/>
          </p:cNvSpPr>
          <p:nvPr/>
        </p:nvSpPr>
        <p:spPr>
          <a:xfrm xmlns:a="http://schemas.openxmlformats.org/drawingml/2006/main">
            <a:off x="1158240" y="4966811"/>
            <a:ext cx="2608898" cy="909161"/>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4" name="">
            <a:extLst xmlns:a="http://schemas.openxmlformats.org/drawingml/2006/main">
              <a:ext uri="{FF2B5EF4-FFF2-40B4-BE49-F238E27FC236}">
                <a16:creationId xmlns:a16="http://schemas.microsoft.com/office/drawing/2014/main" id="{F9F6DA24-26AF-4B7D-B52E-2865EDA68859}"/>
              </a:ext>
            </a:extLst>
          </p:cNvPr>
          <p:cNvSpPr>
            <a:spLocks xmlns:a="http://schemas.openxmlformats.org/drawingml/2006/main" noGrp="1"/>
          </p:cNvSpPr>
          <p:nvPr/>
        </p:nvSpPr>
        <p:spPr>
          <a:xfrm xmlns:a="http://schemas.openxmlformats.org/drawingml/2006/main">
            <a:off x="1237298" y="5101209"/>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Priority proposal</a:t>
            </a:r>
          </a:p>
        </p:txBody>
      </p:sp>
      <p:sp>
        <p:nvSpPr>
          <p:cNvPr id="15" name="">
            <a:extLst xmlns:a="http://schemas.openxmlformats.org/drawingml/2006/main">
              <a:ext uri="{FF2B5EF4-FFF2-40B4-BE49-F238E27FC236}">
                <a16:creationId xmlns:a16="http://schemas.microsoft.com/office/drawing/2014/main" id="{734760D3-FE47-44A3-B80B-28DD6C546124}"/>
              </a:ext>
            </a:extLst>
          </p:cNvPr>
          <p:cNvSpPr>
            <a:spLocks xmlns:a="http://schemas.openxmlformats.org/drawingml/2006/main" noGrp="1"/>
          </p:cNvSpPr>
          <p:nvPr/>
        </p:nvSpPr>
        <p:spPr>
          <a:xfrm xmlns:a="http://schemas.openxmlformats.org/drawingml/2006/main">
            <a:off x="1237298" y="5393722"/>
            <a:ext cx="2450783" cy="482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SLA and slowdown</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Safe drop and fresh estimate</a:t>
            </a:r>
          </a:p>
        </p:txBody>
      </p:sp>
      <p:sp>
        <p:nvSpPr>
          <p:cNvPr id="16" name="">
            <a:extLst xmlns:a="http://schemas.openxmlformats.org/drawingml/2006/main">
              <a:ext uri="{FF2B5EF4-FFF2-40B4-BE49-F238E27FC236}">
                <a16:creationId xmlns:a16="http://schemas.microsoft.com/office/drawing/2014/main" id="{33FEFE60-68B0-451A-BE50-3ECC508B2B73}"/>
              </a:ext>
            </a:extLst>
          </p:cNvPr>
          <p:cNvSpPr>
            <a:spLocks xmlns:a="http://schemas.openxmlformats.org/drawingml/2006/main" noGrp="1"/>
          </p:cNvSpPr>
          <p:nvPr/>
        </p:nvSpPr>
        <p:spPr>
          <a:xfrm xmlns:a="http://schemas.openxmlformats.org/drawingml/2006/main">
            <a:off x="7403783" y="4966811"/>
            <a:ext cx="2608898" cy="909161"/>
          </a:xfrm>
          <a:prstGeom xmlns:a="http://schemas.openxmlformats.org/drawingml/2006/main" prst="rect">
            <a:avLst/>
          </a:prstGeom>
          <a:solidFill xmlns:a="http://schemas.openxmlformats.org/drawingml/2006/main">
            <a:srgbClr val="FFFFFF"/>
          </a:solidFill>
          <a:ln xmlns:a="http://schemas.openxmlformats.org/drawingml/2006/main" w="14288">
            <a:solidFill>
              <a:srgbClr val="9DB5AE"/>
            </a:solidFill>
          </a:ln>
        </p:spPr>
      </p:sp>
      <p:sp>
        <p:nvSpPr>
          <p:cNvPr id="17" name="">
            <a:extLst xmlns:a="http://schemas.openxmlformats.org/drawingml/2006/main">
              <a:ext uri="{FF2B5EF4-FFF2-40B4-BE49-F238E27FC236}">
                <a16:creationId xmlns:a16="http://schemas.microsoft.com/office/drawing/2014/main" id="{553A7DD3-013C-47E5-95F9-FAA5A5CEFF4A}"/>
              </a:ext>
            </a:extLst>
          </p:cNvPr>
          <p:cNvSpPr>
            <a:spLocks xmlns:a="http://schemas.openxmlformats.org/drawingml/2006/main" noGrp="1"/>
          </p:cNvSpPr>
          <p:nvPr/>
        </p:nvSpPr>
        <p:spPr>
          <a:xfrm xmlns:a="http://schemas.openxmlformats.org/drawingml/2006/main">
            <a:off x="7482840" y="5101209"/>
            <a:ext cx="2450783" cy="26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32" b="1">
                <a:solidFill>
                  <a:srgbClr val="123D38"/>
                </a:solidFill>
                <a:latin typeface="Arial"/>
                <a:ea typeface="Arial"/>
                <a:cs typeface="Arial"/>
              </a:defRPr>
            </a:pPr>
            <a:r>
              <a:rPr sz="1432" b="1">
                <a:solidFill>
                  <a:srgbClr val="123D38"/>
                </a:solidFill>
                <a:latin typeface="Arial"/>
                <a:ea typeface="Arial"/>
                <a:cs typeface="Arial"/>
              </a:rPr>
              <a:t>Human confirmation</a:t>
            </a:r>
          </a:p>
        </p:txBody>
      </p:sp>
      <p:sp>
        <p:nvSpPr>
          <p:cNvPr id="18" name="">
            <a:extLst xmlns:a="http://schemas.openxmlformats.org/drawingml/2006/main">
              <a:ext uri="{FF2B5EF4-FFF2-40B4-BE49-F238E27FC236}">
                <a16:creationId xmlns:a16="http://schemas.microsoft.com/office/drawing/2014/main" id="{87BCDFD2-4E23-48F1-B9AD-D100E048A2C5}"/>
              </a:ext>
            </a:extLst>
          </p:cNvPr>
          <p:cNvSpPr>
            <a:spLocks xmlns:a="http://schemas.openxmlformats.org/drawingml/2006/main" noGrp="1"/>
          </p:cNvSpPr>
          <p:nvPr/>
        </p:nvSpPr>
        <p:spPr>
          <a:xfrm xmlns:a="http://schemas.openxmlformats.org/drawingml/2006/main">
            <a:off x="7482840" y="5393722"/>
            <a:ext cx="2450783" cy="482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Record reason and identity</a:t>
            </a:r>
          </a:p>
          <a:p xmlns:a="http://schemas.openxmlformats.org/drawingml/2006/main">
            <a:pPr>
              <a:defRPr sz="1245" b="0">
                <a:solidFill>
                  <a:srgbClr val="172E2B"/>
                </a:solidFill>
                <a:latin typeface="Arial"/>
                <a:ea typeface="Arial"/>
                <a:cs typeface="Arial"/>
              </a:defRPr>
            </a:pPr>
            <a:r>
              <a:rPr sz="1245" b="0">
                <a:solidFill>
                  <a:srgbClr val="172E2B"/>
                </a:solidFill>
                <a:latin typeface="Arial"/>
                <a:ea typeface="Arial"/>
                <a:cs typeface="Arial"/>
              </a:rPr>
              <a:t>Commit assignment event</a:t>
            </a:r>
          </a:p>
        </p:txBody>
      </p:sp>
      <p:cxnSp>
        <p:nvCxnSpPr>
          <p:cNvPr id="42" name=""/>
          <p:cNvCxnSpPr>
            <a:stCxn xmlns:a="http://schemas.openxmlformats.org/drawingml/2006/main" id="4" idx="2"/>
            <a:endCxn xmlns:a="http://schemas.openxmlformats.org/drawingml/2006/main" id="10" idx="0"/>
          </p:cNvCxnSpPr>
          <p:nvPr/>
        </p:nvCxnSpPr>
        <p:spPr>
          <a:xfrm xmlns:a="http://schemas.openxmlformats.org/drawingml/2006/main">
            <a:off x="2462689" y="3029902"/>
            <a:ext cx="3122771" cy="434817"/>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43" name=""/>
          <p:cNvCxnSpPr>
            <a:stCxn xmlns:a="http://schemas.openxmlformats.org/drawingml/2006/main" id="7" idx="2"/>
            <a:endCxn xmlns:a="http://schemas.openxmlformats.org/drawingml/2006/main" id="10" idx="0"/>
          </p:cNvCxnSpPr>
          <p:nvPr/>
        </p:nvCxnSpPr>
        <p:spPr>
          <a:xfrm xmlns:a="http://schemas.openxmlformats.org/drawingml/2006/main" flipH="1">
            <a:off x="5585460" y="3029902"/>
            <a:ext cx="3122772" cy="434817"/>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44" name=""/>
          <p:cNvCxnSpPr>
            <a:stCxn xmlns:a="http://schemas.openxmlformats.org/drawingml/2006/main" id="10" idx="2"/>
            <a:endCxn xmlns:a="http://schemas.openxmlformats.org/drawingml/2006/main" id="13" idx="0"/>
          </p:cNvCxnSpPr>
          <p:nvPr/>
        </p:nvCxnSpPr>
        <p:spPr>
          <a:xfrm xmlns:a="http://schemas.openxmlformats.org/drawingml/2006/main" flipH="1">
            <a:off x="2462689" y="4373880"/>
            <a:ext cx="3122771" cy="592931"/>
          </a:xfrm>
          <a:prstGeom xmlns:a="http://schemas.openxmlformats.org/drawingml/2006/main" prst="bentConnector4">
            <a:avLst>
              <a:gd name="adj1" fmla="val 0"/>
              <a:gd name="adj2" fmla="val 50000"/>
            </a:avLst>
          </a:prstGeom>
          <a:ln xmlns:a="http://schemas.openxmlformats.org/drawingml/2006/main" w="19050">
            <a:solidFill>
              <a:srgbClr val="216E75"/>
            </a:solidFill>
            <a:prstDash val="solid"/>
            <a:tailEnd type="arrow" w="med" len="med"/>
          </a:ln>
        </p:spPr>
      </p:cxnSp>
      <p:cxnSp>
        <p:nvCxnSpPr>
          <p:cNvPr id="45" name=""/>
          <p:cNvCxnSpPr>
            <a:stCxn xmlns:a="http://schemas.openxmlformats.org/drawingml/2006/main" id="13" idx="3"/>
            <a:endCxn xmlns:a="http://schemas.openxmlformats.org/drawingml/2006/main" id="16" idx="1"/>
          </p:cNvCxnSpPr>
          <p:nvPr/>
        </p:nvCxnSpPr>
        <p:spPr>
          <a:xfrm xmlns:a="http://schemas.openxmlformats.org/drawingml/2006/main">
            <a:off x="3767138" y="5421392"/>
            <a:ext cx="3636645" cy="0"/>
          </a:xfrm>
          <a:prstGeom xmlns:a="http://schemas.openxmlformats.org/drawingml/2006/main" prst="straightConnector1">
            <a:avLst/>
          </a:prstGeom>
          <a:ln xmlns:a="http://schemas.openxmlformats.org/drawingml/2006/main" w="19050">
            <a:solidFill>
              <a:srgbClr val="216E75"/>
            </a:solidFill>
            <a:prstDash val="solid"/>
            <a:tailEnd type="arrow" w="med" len="med"/>
          </a:ln>
        </p:spPr>
      </p:cxnSp>
      <p:sp>
        <p:nvSpPr>
          <p:cNvPr id="23" name="">
            <a:extLst xmlns:a="http://schemas.openxmlformats.org/drawingml/2006/main">
              <a:ext uri="{FF2B5EF4-FFF2-40B4-BE49-F238E27FC236}">
                <a16:creationId xmlns:a16="http://schemas.microsoft.com/office/drawing/2014/main" id="{F9EB6068-5736-452A-A4C2-8D74527A2AE5}"/>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Editable explanatory diagram derived from the repository. Simulated inputs remain distinct from confirmed facts.</a:t>
            </a:r>
          </a:p>
        </p:txBody>
      </p:sp>
    </p:spTree>
    <p:extLst>
      <p:ext uri="{BB962C8B-B14F-4D97-AF65-F5344CB8AC3E}">
        <p14:creationId xmlns:p14="http://schemas.microsoft.com/office/powerpoint/2010/main" val="1237171323"/>
      </p:ext>
    </p:extLst>
  </p:cSld>
</p:sld>
</file>

<file path=ppt/slides/slide2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D69C77-0266-4E6F-9A1D-17D377894B93}"/>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Priority preemption</a:t>
            </a:r>
          </a:p>
        </p:txBody>
      </p:sp>
      <p:sp>
        <p:nvSpPr>
          <p:cNvPr id="2" name="">
            <a:extLst xmlns:a="http://schemas.openxmlformats.org/drawingml/2006/main">
              <a:ext uri="{FF2B5EF4-FFF2-40B4-BE49-F238E27FC236}">
                <a16:creationId xmlns:a16="http://schemas.microsoft.com/office/drawing/2014/main" id="{ED08DE28-D092-4327-819B-B73A80452E77}"/>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A coordinator confirms a proposal based on a fresh estimate.</a:t>
            </a:r>
          </a:p>
        </p:txBody>
      </p:sp>
      <p:sp>
        <p:nvSpPr>
          <p:cNvPr id="3" name="">
            <a:extLst xmlns:a="http://schemas.openxmlformats.org/drawingml/2006/main">
              <a:ext uri="{FF2B5EF4-FFF2-40B4-BE49-F238E27FC236}">
                <a16:creationId xmlns:a16="http://schemas.microsoft.com/office/drawing/2014/main" id="{8E46E3AA-A7D7-4261-B3D7-196B7CBE3247}"/>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D0CC2D8A-89AA-4933-83D4-538DFCE40A5E}"/>
              </a:ext>
            </a:extLst>
          </p:cNvPr>
          <p:cNvSpPr>
            <a:spLocks xmlns:a="http://schemas.openxmlformats.org/drawingml/2006/main" noGrp="1"/>
          </p:cNvSpPr>
          <p:nvPr/>
        </p:nvSpPr>
        <p:spPr>
          <a:xfrm xmlns:a="http://schemas.openxmlformats.org/drawingml/2006/main">
            <a:off x="628650" y="22574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Decision inputs</a:t>
            </a:r>
          </a:p>
        </p:txBody>
      </p:sp>
      <p:sp>
        <p:nvSpPr>
          <p:cNvPr id="5" name="">
            <a:extLst xmlns:a="http://schemas.openxmlformats.org/drawingml/2006/main">
              <a:ext uri="{FF2B5EF4-FFF2-40B4-BE49-F238E27FC236}">
                <a16:creationId xmlns:a16="http://schemas.microsoft.com/office/drawing/2014/main" id="{A9518782-F3B9-4492-8A78-7B39FF255803}"/>
              </a:ext>
            </a:extLst>
          </p:cNvPr>
          <p:cNvSpPr>
            <a:spLocks xmlns:a="http://schemas.openxmlformats.org/drawingml/2006/main" noGrp="1"/>
          </p:cNvSpPr>
          <p:nvPr/>
        </p:nvSpPr>
        <p:spPr>
          <a:xfrm xmlns:a="http://schemas.openxmlformats.org/drawingml/2006/main">
            <a:off x="628650" y="276225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SLA, route ETA, slowdown scenario, safe waypoint and estimate age.</a:t>
            </a:r>
          </a:p>
        </p:txBody>
      </p:sp>
      <p:sp>
        <p:nvSpPr>
          <p:cNvPr id="6" name="">
            <a:extLst xmlns:a="http://schemas.openxmlformats.org/drawingml/2006/main">
              <a:ext uri="{FF2B5EF4-FFF2-40B4-BE49-F238E27FC236}">
                <a16:creationId xmlns:a16="http://schemas.microsoft.com/office/drawing/2014/main" id="{E48865C1-F34F-49A2-8652-575E0E5322B8}"/>
              </a:ext>
            </a:extLst>
          </p:cNvPr>
          <p:cNvSpPr>
            <a:spLocks xmlns:a="http://schemas.openxmlformats.org/drawingml/2006/main" noGrp="1"/>
          </p:cNvSpPr>
          <p:nvPr/>
        </p:nvSpPr>
        <p:spPr>
          <a:xfrm xmlns:a="http://schemas.openxmlformats.org/drawingml/2006/main">
            <a:off x="628650" y="41529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Audit output</a:t>
            </a:r>
          </a:p>
        </p:txBody>
      </p:sp>
      <p:sp>
        <p:nvSpPr>
          <p:cNvPr id="7" name="">
            <a:extLst xmlns:a="http://schemas.openxmlformats.org/drawingml/2006/main">
              <a:ext uri="{FF2B5EF4-FFF2-40B4-BE49-F238E27FC236}">
                <a16:creationId xmlns:a16="http://schemas.microsoft.com/office/drawing/2014/main" id="{2A10F9BC-59A8-4D59-BFF8-84133DBD6878}"/>
              </a:ext>
            </a:extLst>
          </p:cNvPr>
          <p:cNvSpPr>
            <a:spLocks xmlns:a="http://schemas.openxmlformats.org/drawingml/2006/main" noGrp="1"/>
          </p:cNvSpPr>
          <p:nvPr/>
        </p:nvSpPr>
        <p:spPr>
          <a:xfrm xmlns:a="http://schemas.openxmlformats.org/drawingml/2006/main">
            <a:off x="628650" y="465772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Confirmer, policy, affected cargo, waypoint and reason.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e4925a3a1844c82"/>
          <a:stretch xmlns:a="http://schemas.openxmlformats.org/drawingml/2006/main"/>
        </p:blipFill>
        <p:spPr>
          <a:xfrm xmlns:a="http://schemas.openxmlformats.org/drawingml/2006/main">
            <a:off x="6635190" y="1857375"/>
            <a:ext cx="1912471" cy="42672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201e4eaddaf4fec"/>
          <a:stretch xmlns:a="http://schemas.openxmlformats.org/drawingml/2006/main"/>
        </p:blipFill>
        <p:spPr>
          <a:xfrm xmlns:a="http://schemas.openxmlformats.org/drawingml/2006/main">
            <a:off x="9159315" y="1857375"/>
            <a:ext cx="1912471" cy="426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B60280A-80B2-4F13-8419-2BE9FFEA6147}"/>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Cargo and vehicle states are simulated. Authorization remains a human responsibility.</a:t>
            </a:r>
          </a:p>
        </p:txBody>
      </p:sp>
    </p:spTree>
    <p:extLst>
      <p:ext uri="{BB962C8B-B14F-4D97-AF65-F5344CB8AC3E}">
        <p14:creationId xmlns:p14="http://schemas.microsoft.com/office/powerpoint/2010/main" val="1357945982"/>
      </p:ext>
    </p:extLst>
  </p:cSld>
</p:sld>
</file>

<file path=ppt/slides/slide2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C4BC66-110E-4D53-9845-D9CEA15DAE25}"/>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Hybrid fleet handoff</a:t>
            </a:r>
          </a:p>
        </p:txBody>
      </p:sp>
      <p:sp>
        <p:nvSpPr>
          <p:cNvPr id="2" name="">
            <a:extLst xmlns:a="http://schemas.openxmlformats.org/drawingml/2006/main">
              <a:ext uri="{FF2B5EF4-FFF2-40B4-BE49-F238E27FC236}">
                <a16:creationId xmlns:a16="http://schemas.microsoft.com/office/drawing/2014/main" id="{74B156FD-ACE4-40F7-BBE6-C3F92692C173}"/>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A simulated delay changes the rendezvous.</a:t>
            </a:r>
          </a:p>
        </p:txBody>
      </p:sp>
      <p:sp>
        <p:nvSpPr>
          <p:cNvPr id="3" name="">
            <a:extLst xmlns:a="http://schemas.openxmlformats.org/drawingml/2006/main">
              <a:ext uri="{FF2B5EF4-FFF2-40B4-BE49-F238E27FC236}">
                <a16:creationId xmlns:a16="http://schemas.microsoft.com/office/drawing/2014/main" id="{7F08227E-B82E-46CB-B925-CDE955249955}"/>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2A15DCAA-D05B-4948-8C0E-A8366265E51C}"/>
              </a:ext>
            </a:extLst>
          </p:cNvPr>
          <p:cNvSpPr>
            <a:spLocks xmlns:a="http://schemas.openxmlformats.org/drawingml/2006/main" noGrp="1"/>
          </p:cNvSpPr>
          <p:nvPr/>
        </p:nvSpPr>
        <p:spPr>
          <a:xfrm xmlns:a="http://schemas.openxmlformats.org/drawingml/2006/main">
            <a:off x="628650" y="233362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216E75"/>
                </a:solidFill>
                <a:latin typeface="Georgia"/>
                <a:ea typeface="Georgia"/>
                <a:cs typeface="Georgia"/>
              </a:defRPr>
            </a:pPr>
            <a:r>
              <a:rPr sz="3450" b="0">
                <a:solidFill>
                  <a:srgbClr val="216E75"/>
                </a:solidFill>
                <a:latin typeface="Georgia"/>
                <a:ea typeface="Georgia"/>
                <a:cs typeface="Georgia"/>
              </a:rPr>
              <a:t>18 minute delay</a:t>
            </a:r>
          </a:p>
        </p:txBody>
      </p:sp>
      <p:sp>
        <p:nvSpPr>
          <p:cNvPr id="5" name="">
            <a:extLst xmlns:a="http://schemas.openxmlformats.org/drawingml/2006/main">
              <a:ext uri="{FF2B5EF4-FFF2-40B4-BE49-F238E27FC236}">
                <a16:creationId xmlns:a16="http://schemas.microsoft.com/office/drawing/2014/main" id="{2DFD48E8-453D-4EE4-A85D-778828662717}"/>
              </a:ext>
            </a:extLst>
          </p:cNvPr>
          <p:cNvSpPr>
            <a:spLocks xmlns:a="http://schemas.openxmlformats.org/drawingml/2006/main" noGrp="1"/>
          </p:cNvSpPr>
          <p:nvPr/>
        </p:nvSpPr>
        <p:spPr>
          <a:xfrm xmlns:a="http://schemas.openxmlformats.org/drawingml/2006/main">
            <a:off x="628650" y="328612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0">
                <a:solidFill>
                  <a:srgbClr val="123D38"/>
                </a:solidFill>
                <a:latin typeface="Georgia"/>
                <a:ea typeface="Georgia"/>
                <a:cs typeface="Georgia"/>
              </a:defRPr>
            </a:pPr>
            <a:r>
              <a:rPr sz="3150" b="0">
                <a:solidFill>
                  <a:srgbClr val="123D38"/>
                </a:solidFill>
                <a:latin typeface="Georgia"/>
                <a:ea typeface="Georgia"/>
                <a:cs typeface="Georgia"/>
              </a:rPr>
              <a:t>R3 replans to R2</a:t>
            </a:r>
          </a:p>
        </p:txBody>
      </p:sp>
      <p:sp>
        <p:nvSpPr>
          <p:cNvPr id="6" name="">
            <a:extLst xmlns:a="http://schemas.openxmlformats.org/drawingml/2006/main">
              <a:ext uri="{FF2B5EF4-FFF2-40B4-BE49-F238E27FC236}">
                <a16:creationId xmlns:a16="http://schemas.microsoft.com/office/drawing/2014/main" id="{09917766-3D80-4E63-A2BC-0294BFC024EA}"/>
              </a:ext>
            </a:extLst>
          </p:cNvPr>
          <p:cNvSpPr>
            <a:spLocks xmlns:a="http://schemas.openxmlformats.org/drawingml/2006/main" noGrp="1"/>
          </p:cNvSpPr>
          <p:nvPr/>
        </p:nvSpPr>
        <p:spPr>
          <a:xfrm xmlns:a="http://schemas.openxmlformats.org/drawingml/2006/main">
            <a:off x="628650" y="4314825"/>
            <a:ext cx="5286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Battery reserve and signed custody</a:t>
            </a:r>
          </a:p>
          <a:p xmlns:a="http://schemas.openxmlformats.org/drawingml/2006/main">
            <a:pPr>
              <a:defRPr sz="2100" b="0">
                <a:solidFill>
                  <a:srgbClr val="172E2B"/>
                </a:solidFill>
                <a:latin typeface="Arial"/>
                <a:ea typeface="Arial"/>
                <a:cs typeface="Arial"/>
              </a:defRPr>
            </a:pPr>
            <a:r>
              <a:rPr sz="2100" b="0">
                <a:solidFill>
                  <a:srgbClr val="172E2B"/>
                </a:solidFill>
                <a:latin typeface="Arial"/>
                <a:ea typeface="Arial"/>
                <a:cs typeface="Arial"/>
              </a:rPr>
              <a:t>remain part of the plan.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81bdd20657f4908"/>
          <a:stretch xmlns:a="http://schemas.openxmlformats.org/drawingml/2006/main"/>
        </p:blipFill>
        <p:spPr>
          <a:xfrm xmlns:a="http://schemas.openxmlformats.org/drawingml/2006/main">
            <a:off x="6635683" y="1876425"/>
            <a:ext cx="1921008" cy="42862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a314defb1864adf"/>
          <a:stretch xmlns:a="http://schemas.openxmlformats.org/drawingml/2006/main"/>
        </p:blipFill>
        <p:spPr>
          <a:xfrm xmlns:a="http://schemas.openxmlformats.org/drawingml/2006/main">
            <a:off x="9195725" y="1876425"/>
            <a:ext cx="1925374"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758F4E6-1D48-46FD-8FF0-F2BA322C46B5}"/>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All vehicles and telemetry are simulated. No physical drone is controlled.</a:t>
            </a:r>
          </a:p>
        </p:txBody>
      </p:sp>
    </p:spTree>
    <p:extLst>
      <p:ext uri="{BB962C8B-B14F-4D97-AF65-F5344CB8AC3E}">
        <p14:creationId xmlns:p14="http://schemas.microsoft.com/office/powerpoint/2010/main" val="782813807"/>
      </p:ext>
    </p:extLst>
  </p:cSld>
</p:sld>
</file>

<file path=ppt/slides/slide2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A7E93A-67EF-4A51-867A-644BB2278AAA}"/>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Offline geographic maps</a:t>
            </a:r>
          </a:p>
        </p:txBody>
      </p:sp>
      <p:sp>
        <p:nvSpPr>
          <p:cNvPr id="2" name="">
            <a:extLst xmlns:a="http://schemas.openxmlformats.org/drawingml/2006/main">
              <a:ext uri="{FF2B5EF4-FFF2-40B4-BE49-F238E27FC236}">
                <a16:creationId xmlns:a16="http://schemas.microsoft.com/office/drawing/2014/main" id="{B04899C9-5F26-4C33-91E7-DF1154A2D61E}"/>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Geography and mission overlays have separate provenance.</a:t>
            </a:r>
          </a:p>
        </p:txBody>
      </p:sp>
      <p:sp>
        <p:nvSpPr>
          <p:cNvPr id="3" name="">
            <a:extLst xmlns:a="http://schemas.openxmlformats.org/drawingml/2006/main">
              <a:ext uri="{FF2B5EF4-FFF2-40B4-BE49-F238E27FC236}">
                <a16:creationId xmlns:a16="http://schemas.microsoft.com/office/drawing/2014/main" id="{7E83BC0A-0800-4BE9-AA70-3C496E12F026}"/>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FB0E1EBD-2EF8-4B82-9381-A9807AAED960}"/>
              </a:ext>
            </a:extLst>
          </p:cNvPr>
          <p:cNvSpPr>
            <a:spLocks xmlns:a="http://schemas.openxmlformats.org/drawingml/2006/main" noGrp="1"/>
          </p:cNvSpPr>
          <p:nvPr/>
        </p:nvSpPr>
        <p:spPr>
          <a:xfrm xmlns:a="http://schemas.openxmlformats.org/drawingml/2006/main">
            <a:off x="628650" y="2647950"/>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23D38"/>
                </a:solidFill>
                <a:latin typeface="Arial"/>
                <a:ea typeface="Arial"/>
                <a:cs typeface="Arial"/>
              </a:defRPr>
            </a:pPr>
            <a:r>
              <a:rPr sz="2325" b="0">
                <a:solidFill>
                  <a:srgbClr val="123D38"/>
                </a:solidFill>
                <a:latin typeface="Arial"/>
                <a:ea typeface="Arial"/>
                <a:cs typeface="Arial"/>
              </a:rPr>
              <a:t>Reviewed local extract</a:t>
            </a:r>
          </a:p>
          <a:p xmlns:a="http://schemas.openxmlformats.org/drawingml/2006/main">
            <a:pPr>
              <a:defRPr sz="2325" b="0">
                <a:solidFill>
                  <a:srgbClr val="123D38"/>
                </a:solidFill>
                <a:latin typeface="Arial"/>
                <a:ea typeface="Arial"/>
                <a:cs typeface="Arial"/>
              </a:defRPr>
            </a:pPr>
            <a:r>
              <a:rPr sz="2325" b="0">
                <a:solidFill>
                  <a:srgbClr val="123D38"/>
                </a:solidFill>
                <a:latin typeface="Arial"/>
                <a:ea typeface="Arial"/>
                <a:cs typeface="Arial"/>
              </a:rPr>
              <a:t>Checksum verification</a:t>
            </a:r>
          </a:p>
          <a:p xmlns:a="http://schemas.openxmlformats.org/drawingml/2006/main">
            <a:pPr>
              <a:defRPr sz="2325" b="0">
                <a:solidFill>
                  <a:srgbClr val="123D38"/>
                </a:solidFill>
                <a:latin typeface="Arial"/>
                <a:ea typeface="Arial"/>
                <a:cs typeface="Arial"/>
              </a:defRPr>
            </a:pPr>
            <a:r>
              <a:rPr sz="2325" b="0">
                <a:solidFill>
                  <a:srgbClr val="123D38"/>
                </a:solidFill>
                <a:latin typeface="Arial"/>
                <a:ea typeface="Arial"/>
                <a:cs typeface="Arial"/>
              </a:rPr>
              <a:t>Visible OSM attribution</a:t>
            </a:r>
          </a:p>
          <a:p xmlns:a="http://schemas.openxmlformats.org/drawingml/2006/main">
            <a:pPr>
              <a:defRPr sz="2325" b="0">
                <a:solidFill>
                  <a:srgbClr val="123D38"/>
                </a:solidFill>
                <a:latin typeface="Arial"/>
                <a:ea typeface="Arial"/>
                <a:cs typeface="Arial"/>
              </a:defRPr>
            </a:pPr>
            <a:r>
              <a:rPr sz="2325" b="0">
                <a:solidFill>
                  <a:srgbClr val="123D38"/>
                </a:solidFill>
                <a:latin typeface="Arial"/>
                <a:ea typeface="Arial"/>
                <a:cs typeface="Arial"/>
              </a:rPr>
              <a:t>Separate simulated overlays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8d3f672b9f4e4f"/>
          <a:stretch xmlns:a="http://schemas.openxmlformats.org/drawingml/2006/main"/>
        </p:blipFill>
        <p:spPr>
          <a:xfrm xmlns:a="http://schemas.openxmlformats.org/drawingml/2006/main">
            <a:off x="6635683" y="1876425"/>
            <a:ext cx="1921008" cy="42862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6c7e788f58a4086"/>
          <a:stretch xmlns:a="http://schemas.openxmlformats.org/drawingml/2006/main"/>
        </p:blipFill>
        <p:spPr>
          <a:xfrm xmlns:a="http://schemas.openxmlformats.org/drawingml/2006/main">
            <a:off x="9197908" y="1876425"/>
            <a:ext cx="1921008"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04B93D-CBF9-42A8-ABA2-B4636F55BF8E}"/>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OpenStreetMap contributors. Bundled geography does not guarantee current route safety.</a:t>
            </a:r>
          </a:p>
        </p:txBody>
      </p:sp>
    </p:spTree>
    <p:extLst>
      <p:ext uri="{BB962C8B-B14F-4D97-AF65-F5344CB8AC3E}">
        <p14:creationId xmlns:p14="http://schemas.microsoft.com/office/powerpoint/2010/main" val="1488041037"/>
      </p:ext>
    </p:extLst>
  </p:cSld>
</p:sld>
</file>

<file path=ppt/slides/slide2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16D72D-81BA-44CD-AB41-1E4DF06591F8}"/>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Observer disconnect recovery</a:t>
            </a:r>
          </a:p>
        </p:txBody>
      </p:sp>
      <p:sp>
        <p:nvSpPr>
          <p:cNvPr id="2" name="">
            <a:extLst xmlns:a="http://schemas.openxmlformats.org/drawingml/2006/main">
              <a:ext uri="{FF2B5EF4-FFF2-40B4-BE49-F238E27FC236}">
                <a16:creationId xmlns:a16="http://schemas.microsoft.com/office/drawing/2014/main" id="{5464C54C-7161-465B-8908-97E7C6749879}"/>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Product appendix. The local event log can replay a missed interval.</a:t>
            </a:r>
          </a:p>
        </p:txBody>
      </p:sp>
      <p:sp>
        <p:nvSpPr>
          <p:cNvPr id="3" name="">
            <a:extLst xmlns:a="http://schemas.openxmlformats.org/drawingml/2006/main">
              <a:ext uri="{FF2B5EF4-FFF2-40B4-BE49-F238E27FC236}">
                <a16:creationId xmlns:a16="http://schemas.microsoft.com/office/drawing/2014/main" id="{E4AAD6FA-3549-44DD-9961-0663E6B7A757}"/>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2509153abe34628"/>
          <a:stretch xmlns:a="http://schemas.openxmlformats.org/drawingml/2006/main"/>
        </p:blipFill>
        <p:spPr>
          <a:xfrm xmlns:a="http://schemas.openxmlformats.org/drawingml/2006/main">
            <a:off x="619125" y="1972986"/>
            <a:ext cx="7381875" cy="41502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BB0019-AA4C-48F6-9DA1-F4BB2749EA4C}"/>
              </a:ext>
            </a:extLst>
          </p:cNvPr>
          <p:cNvSpPr>
            <a:spLocks xmlns:a="http://schemas.openxmlformats.org/drawingml/2006/main" noGrp="1"/>
          </p:cNvSpPr>
          <p:nvPr/>
        </p:nvSpPr>
        <p:spPr>
          <a:xfrm xmlns:a="http://schemas.openxmlformats.org/drawingml/2006/main">
            <a:off x="8477250" y="225742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23D38"/>
                </a:solidFill>
                <a:latin typeface="Georgia"/>
                <a:ea typeface="Georgia"/>
                <a:cs typeface="Georgia"/>
              </a:defRPr>
            </a:pPr>
            <a:r>
              <a:rPr sz="2550" b="0">
                <a:solidFill>
                  <a:srgbClr val="123D38"/>
                </a:solidFill>
                <a:latin typeface="Georgia"/>
                <a:ea typeface="Georgia"/>
                <a:cs typeface="Georgia"/>
              </a:rPr>
              <a:t>Sequence 7</a:t>
            </a:r>
          </a:p>
        </p:txBody>
      </p:sp>
      <p:sp>
        <p:nvSpPr>
          <p:cNvPr id="6" name="">
            <a:extLst xmlns:a="http://schemas.openxmlformats.org/drawingml/2006/main">
              <a:ext uri="{FF2B5EF4-FFF2-40B4-BE49-F238E27FC236}">
                <a16:creationId xmlns:a16="http://schemas.microsoft.com/office/drawing/2014/main" id="{00ABC8DF-5674-4822-BD07-C8EB72CA9FD1}"/>
              </a:ext>
            </a:extLst>
          </p:cNvPr>
          <p:cNvSpPr>
            <a:spLocks xmlns:a="http://schemas.openxmlformats.org/drawingml/2006/main" noGrp="1"/>
          </p:cNvSpPr>
          <p:nvPr/>
        </p:nvSpPr>
        <p:spPr>
          <a:xfrm xmlns:a="http://schemas.openxmlformats.org/drawingml/2006/main">
            <a:off x="8477250" y="2790825"/>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Projector disconnects</a:t>
            </a:r>
          </a:p>
        </p:txBody>
      </p:sp>
      <p:sp>
        <p:nvSpPr>
          <p:cNvPr id="7" name="">
            <a:extLst xmlns:a="http://schemas.openxmlformats.org/drawingml/2006/main">
              <a:ext uri="{FF2B5EF4-FFF2-40B4-BE49-F238E27FC236}">
                <a16:creationId xmlns:a16="http://schemas.microsoft.com/office/drawing/2014/main" id="{347F2540-C3B7-44D4-8E39-9BDA758B1B83}"/>
              </a:ext>
            </a:extLst>
          </p:cNvPr>
          <p:cNvSpPr>
            <a:spLocks xmlns:a="http://schemas.openxmlformats.org/drawingml/2006/main" noGrp="1"/>
          </p:cNvSpPr>
          <p:nvPr/>
        </p:nvSpPr>
        <p:spPr>
          <a:xfrm xmlns:a="http://schemas.openxmlformats.org/drawingml/2006/main">
            <a:off x="8477250" y="391477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23D38"/>
                </a:solidFill>
                <a:latin typeface="Georgia"/>
                <a:ea typeface="Georgia"/>
                <a:cs typeface="Georgia"/>
              </a:defRPr>
            </a:pPr>
            <a:r>
              <a:rPr sz="2550" b="0">
                <a:solidFill>
                  <a:srgbClr val="123D38"/>
                </a:solidFill>
                <a:latin typeface="Georgia"/>
                <a:ea typeface="Georgia"/>
                <a:cs typeface="Georgia"/>
              </a:rPr>
              <a:t>Events 8 to 14</a:t>
            </a:r>
          </a:p>
        </p:txBody>
      </p:sp>
      <p:sp>
        <p:nvSpPr>
          <p:cNvPr id="8" name="">
            <a:extLst xmlns:a="http://schemas.openxmlformats.org/drawingml/2006/main">
              <a:ext uri="{FF2B5EF4-FFF2-40B4-BE49-F238E27FC236}">
                <a16:creationId xmlns:a16="http://schemas.microsoft.com/office/drawing/2014/main" id="{1D3D9BA0-F1A8-447F-91EA-3C1BB3E53F3D}"/>
              </a:ext>
            </a:extLst>
          </p:cNvPr>
          <p:cNvSpPr>
            <a:spLocks xmlns:a="http://schemas.openxmlformats.org/drawingml/2006/main" noGrp="1"/>
          </p:cNvSpPr>
          <p:nvPr/>
        </p:nvSpPr>
        <p:spPr>
          <a:xfrm xmlns:a="http://schemas.openxmlformats.org/drawingml/2006/main">
            <a:off x="8477250" y="4457700"/>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2B"/>
                </a:solidFill>
                <a:latin typeface="Arial"/>
                <a:ea typeface="Arial"/>
                <a:cs typeface="Arial"/>
              </a:defRPr>
            </a:pPr>
            <a:r>
              <a:rPr sz="1875" b="0">
                <a:solidFill>
                  <a:srgbClr val="172E2B"/>
                </a:solidFill>
                <a:latin typeface="Arial"/>
                <a:ea typeface="Arial"/>
                <a:cs typeface="Arial"/>
              </a:rPr>
              <a:t>Replay after reconnection</a:t>
            </a:r>
          </a:p>
        </p:txBody>
      </p:sp>
      <p:sp>
        <p:nvSpPr>
          <p:cNvPr id="9" name="">
            <a:extLst xmlns:a="http://schemas.openxmlformats.org/drawingml/2006/main">
              <a:ext uri="{FF2B5EF4-FFF2-40B4-BE49-F238E27FC236}">
                <a16:creationId xmlns:a16="http://schemas.microsoft.com/office/drawing/2014/main" id="{6DDB546A-BAA1-44D8-9B9B-C6ABB516A16A}"/>
              </a:ext>
            </a:extLst>
          </p:cNvPr>
          <p:cNvSpPr>
            <a:spLocks xmlns:a="http://schemas.openxmlformats.org/drawingml/2006/main" noGrp="1"/>
          </p:cNvSpPr>
          <p:nvPr/>
        </p:nvSpPr>
        <p:spPr>
          <a:xfrm xmlns:a="http://schemas.openxmlformats.org/drawingml/2006/main">
            <a:off x="609600" y="62674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76B6D"/>
                </a:solidFill>
                <a:latin typeface="Arial"/>
                <a:ea typeface="Arial"/>
                <a:cs typeface="Arial"/>
              </a:defRPr>
            </a:pPr>
            <a:r>
              <a:rPr sz="1200" b="0">
                <a:solidFill>
                  <a:srgbClr val="576B6D"/>
                </a:solidFill>
                <a:latin typeface="Arial"/>
                <a:ea typeface="Arial"/>
                <a:cs typeface="Arial"/>
              </a:rPr>
              <a:t>Actual local observer test. Physical field continuity with the laptop off remains a separate gate.</a:t>
            </a:r>
          </a:p>
        </p:txBody>
      </p:sp>
    </p:spTree>
    <p:extLst>
      <p:ext uri="{BB962C8B-B14F-4D97-AF65-F5344CB8AC3E}">
        <p14:creationId xmlns:p14="http://schemas.microsoft.com/office/powerpoint/2010/main" val="1852458544"/>
      </p:ext>
    </p:extLst>
  </p:cSld>
</p:sld>
</file>

<file path=ppt/slides/slide2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9043C4-8787-4519-8053-EED80CB30DC2}"/>
              </a:ext>
            </a:extLst>
          </p:cNvPr>
          <p:cNvSpPr>
            <a:spLocks xmlns:a="http://schemas.openxmlformats.org/drawingml/2006/main" noGrp="1"/>
          </p:cNvSpPr>
          <p:nvPr/>
        </p:nvSpPr>
        <p:spPr>
          <a:xfrm xmlns:a="http://schemas.openxmlformats.org/drawingml/2006/main">
            <a:off x="609600" y="428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0">
                <a:solidFill>
                  <a:srgbClr val="172E2B"/>
                </a:solidFill>
                <a:latin typeface="Georgia"/>
                <a:ea typeface="Georgia"/>
                <a:cs typeface="Georgia"/>
              </a:defRPr>
            </a:pPr>
            <a:r>
              <a:rPr sz="3450" b="0">
                <a:solidFill>
                  <a:srgbClr val="172E2B"/>
                </a:solidFill>
                <a:latin typeface="Georgia"/>
                <a:ea typeface="Georgia"/>
                <a:cs typeface="Georgia"/>
              </a:rPr>
              <a:t>Sources and evidence</a:t>
            </a:r>
          </a:p>
        </p:txBody>
      </p:sp>
      <p:sp>
        <p:nvSpPr>
          <p:cNvPr id="2" name="">
            <a:extLst xmlns:a="http://schemas.openxmlformats.org/drawingml/2006/main">
              <a:ext uri="{FF2B5EF4-FFF2-40B4-BE49-F238E27FC236}">
                <a16:creationId xmlns:a16="http://schemas.microsoft.com/office/drawing/2014/main" id="{2784C693-9C52-4E6B-BEE8-9511B08EED0A}"/>
              </a:ext>
            </a:extLst>
          </p:cNvPr>
          <p:cNvSpPr>
            <a:spLocks xmlns:a="http://schemas.openxmlformats.org/drawingml/2006/main" noGrp="1"/>
          </p:cNvSpPr>
          <p:nvPr/>
        </p:nvSpPr>
        <p:spPr>
          <a:xfrm xmlns:a="http://schemas.openxmlformats.org/drawingml/2006/main">
            <a:off x="628650" y="122872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16E75"/>
                </a:solidFill>
                <a:latin typeface="Arial"/>
                <a:ea typeface="Arial"/>
                <a:cs typeface="Arial"/>
              </a:defRPr>
            </a:pPr>
            <a:r>
              <a:rPr sz="1875" b="0">
                <a:solidFill>
                  <a:srgbClr val="216E75"/>
                </a:solidFill>
                <a:latin typeface="Arial"/>
                <a:ea typeface="Arial"/>
                <a:cs typeface="Arial"/>
              </a:rPr>
              <a:t>The full report includes the reference register and implementation boundaries.</a:t>
            </a:r>
          </a:p>
        </p:txBody>
      </p:sp>
      <p:sp>
        <p:nvSpPr>
          <p:cNvPr id="3" name="">
            <a:extLst xmlns:a="http://schemas.openxmlformats.org/drawingml/2006/main">
              <a:ext uri="{FF2B5EF4-FFF2-40B4-BE49-F238E27FC236}">
                <a16:creationId xmlns:a16="http://schemas.microsoft.com/office/drawing/2014/main" id="{6DC0713A-B57E-47D4-A59F-3041896D9C45}"/>
              </a:ext>
            </a:extLst>
          </p:cNvPr>
          <p:cNvSpPr>
            <a:spLocks xmlns:a="http://schemas.openxmlformats.org/drawingml/2006/main" noGrp="1"/>
          </p:cNvSpPr>
          <p:nvPr/>
        </p:nvSpPr>
        <p:spPr>
          <a:xfrm xmlns:a="http://schemas.openxmlformats.org/drawingml/2006/main">
            <a:off x="11239500" y="64389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76B6D"/>
                </a:solidFill>
                <a:latin typeface="Arial"/>
                <a:ea typeface="Arial"/>
                <a:cs typeface="Arial"/>
              </a:defRPr>
            </a:pPr>
            <a:r>
              <a:rPr sz="1125" b="0">
                <a:solidFill>
                  <a:srgbClr val="576B6D"/>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937E17CA-FA9B-4B0C-BF88-24BC95424EDB}"/>
              </a:ext>
            </a:extLst>
          </p:cNvPr>
          <p:cNvSpPr>
            <a:spLocks xmlns:a="http://schemas.openxmlformats.org/drawingml/2006/main" noGrp="1"/>
          </p:cNvSpPr>
          <p:nvPr/>
        </p:nvSpPr>
        <p:spPr>
          <a:xfrm xmlns:a="http://schemas.openxmlformats.org/drawingml/2006/main">
            <a:off x="628650" y="2190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Problem and market</a:t>
            </a:r>
          </a:p>
        </p:txBody>
      </p:sp>
      <p:sp>
        <p:nvSpPr>
          <p:cNvPr id="5" name="">
            <a:extLst xmlns:a="http://schemas.openxmlformats.org/drawingml/2006/main">
              <a:ext uri="{FF2B5EF4-FFF2-40B4-BE49-F238E27FC236}">
                <a16:creationId xmlns:a16="http://schemas.microsoft.com/office/drawing/2014/main" id="{8E4C3B5F-11A8-4D9E-8A79-14532268708D}"/>
              </a:ext>
            </a:extLst>
          </p:cNvPr>
          <p:cNvSpPr>
            <a:spLocks xmlns:a="http://schemas.openxmlformats.org/drawingml/2006/main" noGrp="1"/>
          </p:cNvSpPr>
          <p:nvPr/>
        </p:nvSpPr>
        <p:spPr>
          <a:xfrm xmlns:a="http://schemas.openxmlformats.org/drawingml/2006/main">
            <a:off x="628650" y="269557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UN Bangladesh 2022 response plan</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NAWG June 2024 assessment</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World Bank May 2025 financing</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Bangladesh Innovation Fair</a:t>
            </a:r>
          </a:p>
        </p:txBody>
      </p:sp>
      <p:sp>
        <p:nvSpPr>
          <p:cNvPr id="6" name="">
            <a:extLst xmlns:a="http://schemas.openxmlformats.org/drawingml/2006/main">
              <a:ext uri="{FF2B5EF4-FFF2-40B4-BE49-F238E27FC236}">
                <a16:creationId xmlns:a16="http://schemas.microsoft.com/office/drawing/2014/main" id="{6655DEF4-3861-486C-A3A6-73755E2158C3}"/>
              </a:ext>
            </a:extLst>
          </p:cNvPr>
          <p:cNvSpPr>
            <a:spLocks xmlns:a="http://schemas.openxmlformats.org/drawingml/2006/main" noGrp="1"/>
          </p:cNvSpPr>
          <p:nvPr/>
        </p:nvSpPr>
        <p:spPr>
          <a:xfrm xmlns:a="http://schemas.openxmlformats.org/drawingml/2006/main">
            <a:off x="6477000" y="2190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Platform comparison</a:t>
            </a:r>
          </a:p>
        </p:txBody>
      </p:sp>
      <p:sp>
        <p:nvSpPr>
          <p:cNvPr id="7" name="">
            <a:extLst xmlns:a="http://schemas.openxmlformats.org/drawingml/2006/main">
              <a:ext uri="{FF2B5EF4-FFF2-40B4-BE49-F238E27FC236}">
                <a16:creationId xmlns:a16="http://schemas.microsoft.com/office/drawing/2014/main" id="{87CCF4E0-362B-4E35-876D-1331B405E6F5}"/>
              </a:ext>
            </a:extLst>
          </p:cNvPr>
          <p:cNvSpPr>
            <a:spLocks xmlns:a="http://schemas.openxmlformats.org/drawingml/2006/main" noGrp="1"/>
          </p:cNvSpPr>
          <p:nvPr/>
        </p:nvSpPr>
        <p:spPr>
          <a:xfrm xmlns:a="http://schemas.openxmlformats.org/drawingml/2006/main">
            <a:off x="6477000" y="269557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Sahana Eden, KoboToolbox, Ushahidi,</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Briar and Meshtastic official materials</a:t>
            </a:r>
          </a:p>
        </p:txBody>
      </p:sp>
      <p:sp>
        <p:nvSpPr>
          <p:cNvPr id="8" name="">
            <a:extLst xmlns:a="http://schemas.openxmlformats.org/drawingml/2006/main">
              <a:ext uri="{FF2B5EF4-FFF2-40B4-BE49-F238E27FC236}">
                <a16:creationId xmlns:a16="http://schemas.microsoft.com/office/drawing/2014/main" id="{9833E1BC-A610-460A-997D-1263A6826311}"/>
              </a:ext>
            </a:extLst>
          </p:cNvPr>
          <p:cNvSpPr>
            <a:spLocks xmlns:a="http://schemas.openxmlformats.org/drawingml/2006/main" noGrp="1"/>
          </p:cNvSpPr>
          <p:nvPr/>
        </p:nvSpPr>
        <p:spPr>
          <a:xfrm xmlns:a="http://schemas.openxmlformats.org/drawingml/2006/main">
            <a:off x="628650" y="4314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Implementation evidence</a:t>
            </a:r>
          </a:p>
        </p:txBody>
      </p:sp>
      <p:sp>
        <p:nvSpPr>
          <p:cNvPr id="9" name="">
            <a:extLst xmlns:a="http://schemas.openxmlformats.org/drawingml/2006/main">
              <a:ext uri="{FF2B5EF4-FFF2-40B4-BE49-F238E27FC236}">
                <a16:creationId xmlns:a16="http://schemas.microsoft.com/office/drawing/2014/main" id="{C323341A-FD4D-4C8E-9D1C-10251F6EFA76}"/>
              </a:ext>
            </a:extLst>
          </p:cNvPr>
          <p:cNvSpPr>
            <a:spLocks xmlns:a="http://schemas.openxmlformats.org/drawingml/2006/main" noGrp="1"/>
          </p:cNvSpPr>
          <p:nvPr/>
        </p:nvSpPr>
        <p:spPr>
          <a:xfrm xmlns:a="http://schemas.openxmlformats.org/drawingml/2006/main">
            <a:off x="628650" y="4819650"/>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Repository architecture and testing docs</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Final local gate dated 4 September 2026</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Route model card and load report</a:t>
            </a:r>
          </a:p>
        </p:txBody>
      </p:sp>
      <p:sp>
        <p:nvSpPr>
          <p:cNvPr id="10" name="">
            <a:extLst xmlns:a="http://schemas.openxmlformats.org/drawingml/2006/main">
              <a:ext uri="{FF2B5EF4-FFF2-40B4-BE49-F238E27FC236}">
                <a16:creationId xmlns:a16="http://schemas.microsoft.com/office/drawing/2014/main" id="{DEA25BD1-338F-46F8-A356-89A0A254BCEA}"/>
              </a:ext>
            </a:extLst>
          </p:cNvPr>
          <p:cNvSpPr>
            <a:spLocks xmlns:a="http://schemas.openxmlformats.org/drawingml/2006/main" noGrp="1"/>
          </p:cNvSpPr>
          <p:nvPr/>
        </p:nvSpPr>
        <p:spPr>
          <a:xfrm xmlns:a="http://schemas.openxmlformats.org/drawingml/2006/main">
            <a:off x="6477000" y="43148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23D38"/>
                </a:solidFill>
                <a:latin typeface="Arial"/>
                <a:ea typeface="Arial"/>
                <a:cs typeface="Arial"/>
              </a:defRPr>
            </a:pPr>
            <a:r>
              <a:rPr sz="2175" b="1">
                <a:solidFill>
                  <a:srgbClr val="123D38"/>
                </a:solidFill>
                <a:latin typeface="Arial"/>
                <a:ea typeface="Arial"/>
                <a:cs typeface="Arial"/>
              </a:rPr>
              <a:t>Source links</a:t>
            </a:r>
          </a:p>
        </p:txBody>
      </p:sp>
      <p:sp>
        <p:nvSpPr>
          <p:cNvPr id="11" name="">
            <a:extLst xmlns:a="http://schemas.openxmlformats.org/drawingml/2006/main">
              <a:ext uri="{FF2B5EF4-FFF2-40B4-BE49-F238E27FC236}">
                <a16:creationId xmlns:a16="http://schemas.microsoft.com/office/drawing/2014/main" id="{ED18AED0-62E6-4C34-8FA8-0227A399C848}"/>
              </a:ext>
            </a:extLst>
          </p:cNvPr>
          <p:cNvSpPr>
            <a:spLocks xmlns:a="http://schemas.openxmlformats.org/drawingml/2006/main" noGrp="1"/>
          </p:cNvSpPr>
          <p:nvPr/>
        </p:nvSpPr>
        <p:spPr>
          <a:xfrm xmlns:a="http://schemas.openxmlformats.org/drawingml/2006/main">
            <a:off x="6477000" y="481965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Relevant links and evidence paths are</a:t>
            </a:r>
          </a:p>
          <a:p xmlns:a="http://schemas.openxmlformats.org/drawingml/2006/main">
            <a:pPr>
              <a:defRPr sz="1950" b="0">
                <a:solidFill>
                  <a:srgbClr val="172E2B"/>
                </a:solidFill>
                <a:latin typeface="Arial"/>
                <a:ea typeface="Arial"/>
                <a:cs typeface="Arial"/>
              </a:defRPr>
            </a:pPr>
            <a:r>
              <a:rPr sz="1950" b="0">
                <a:solidFill>
                  <a:srgbClr val="172E2B"/>
                </a:solidFill>
                <a:latin typeface="Arial"/>
                <a:ea typeface="Arial"/>
                <a:cs typeface="Arial"/>
              </a:rPr>
              <a:t>in each slide’s speaker notes.</a:t>
            </a:r>
          </a:p>
        </p:txBody>
      </p:sp>
    </p:spTree>
    <p:extLst>
      <p:ext uri="{BB962C8B-B14F-4D97-AF65-F5344CB8AC3E}">
        <p14:creationId xmlns:p14="http://schemas.microsoft.com/office/powerpoint/2010/main" val="37150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2026-09-04T14:43:16.3950000Z</dcterms:created>
  <dcterms:modified xsi:type="dcterms:W3CDTF">2026-09-04T14:43:16.3950000Z</dcterms:modified>
</coreProperties>
</file>